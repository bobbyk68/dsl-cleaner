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Today's session is the first of three knowledge transfer sessions covering ILMS.
Rather than jumping straight into Eclipse or walking line-by-line through the Java code, I want to start with the business context and the architecture. Once the purpose of ILMS is clear, the codebase becomes much easier to understand.
We'll spend the final part of the session looking at the high-level project structure. The detailed implementation walkthrough will come in the next KT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set expectations up front. This is a three-day KT series, not a single one-hour dump of information.
Today is the big-picture session. We will cover why ILMS exists, how it fits into CDS, how it evolved from batch processing to real-time APIs, and the main business flows.
At the end I will show the code structure so you know where everything lives. In the next sessions we can slow down and go into the implementation details component by component.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proposed structure for the session.
The important point is that we will not spend the full hour in the code. That would be too much information to digest in one session, especially if you are seeing ILMS for the first time.
I will start with the domain and architecture, then use the final 15 minutes to show where the key code areas are located.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look at the implementation, it is worth explaining why ILMS exists.
Some imports and exports require a government-issued licence. The licence itself is not owned by CDS. It comes from an issuing authority, such as DBT or RPA.
CDS still needs access to that licence data while declarations are being processed. ILMS provides that local capability within CDS. It stores the licence data, validates it, manages reservations, and supports usage reporting back to the issuing authority.
A simple way of thinking about ILMS is that it is the central licence repository for CDS.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terms that tend to cause confusion when people first look at ILMS.
The most important one is licence versus authorisation. In the DMS world, some of the services and operations use the word authorisation. In the licensing domain, we are generally talking about licences. The terms are closely related in this context, but it is easy to get confused if you switch between DMS and ILMS documentation.
The other key thing is that ILMS is not isolated. It sits in the middle of DMS, MQ, EIS, MDTP, the Licence UI and the issuing authority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model was much more batch and file based.
Issuing authorities produced files containing licence updates. Those updates were processed periodically. Usage information was also sent back later as files.
This worked, but it had the limitations you would expect from batch processing. Data was not always current, feedback was not immediate, and operational problems were discovered later rather than at the point of submission.
This background is important because it explains why CDSP-2129 introduced the real-time API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main story of the system.
ILMS did not appear as a fully formed real-time API platform. It evolved.
First there was the CHIEF era and batch file exchange. Then ILMS became the local licence store used by CDS. During dual running, both CHIEF and CDS had to be supported. CDSP-2129 then introduced the real-time API model for licence updates and licence usage.
Later, once CHIEF was decommissioned, CDSP-10889 removed some of the dual-running behaviour and stopped aligning internal electronic licensing across CDS and CHIEF.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probably the most important diagram in the presentation.
On the outside we have the issuing authority systems, such as DBT and RPA. Data reaches HMRC through integration services. Inside the CDS boundary, ILMS sits alongside DMS, Licence UI, Auth Service and MQ.
The key point is that ILMS is the central service for internal electronic licences. It stores licence data, validates requests and supports the declaration journey.
I would not try to explain every box on the diagram. I would focus on the major data flows: licence updates coming in, DMS interactions during declaration processing, and usage information going back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 quick reference for the major components.
ILMS is the system we are focusing on, but it only makes sense in context. DMS is where declarations are processed and where the need to validate or reserve a licence arises. Licence UI provides operational maintenance capability. MQ and integration services provide the communication paths.
This is also useful when debugging, because an issue may not always be inside ILMS itself. It could be in the caller, MQ, integration, reference data, or the issuing authority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many operations in ILMS, but I would group them into three main business flows.
The first is licence update: licence data arrives from the issuing authority, is validated, and then stored.
The second is licence usage: once a licence has been consumed by a declaration, usage is reported back to the issuing authority.
The third is reservation and confirmation: during declaration processing, DMS needs to reserve licence usage, confirm it, update it, or release it.
If you understand these three flows, most of ILMS becomes much easier to reason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incoming licence update flow.
The business purpose is straightforward: an issuing authority needs to send licence details to HMRC. ILMS receives the data, validates it, stores it if it is valid, and responds synchronously.
The important thing is that failures are returned immediately. If the payload fails format validation or business validation, the issuing authority receives a rejection response with details of the failure.
This is one of the main improvements over the old batch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processing pipeline in simple terms.
The controller receives the request. The request then moves through validation before being persisted. I would separate format validation from business validation in the explanation. Format validation checks whether the request is structurally valid. Business validation checks whether the licence makes sense according to the licensing rules.
The important principle is that invalid data should not reach the repository layer and be stored. The rejection response should also be helpful enough for the caller to understand what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major flow is licence usage.
When a declaration has used a licence, HMRC has a responsibility to notify the issuing authority. This is not a request for permission. It is a notification of what has taken place.
The issuing authority can validate the usage and respond with accepted or rejected. If the response is rejected, the process needs to handle that outcome. In some cases the flow may require manual handling, depending on the reason for rejection.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Usage is not generated randomly. It is usually triggered by a business event.
The most common path is where a declaration is submitted with licence usage, the licence details are validated, the declaration is accepted and later finalised. At that point usage can be confirmed and sent back to the issuing authority.
There are also more operational scenarios, such as usage amendments, where an officer may adjust usage through the Licence UI.
When presenting this, I would focus on the business trigger first and then point out that the implementation follows that lifecycle.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flow is the interaction with DMS during declaration processing.
DMS needs to know whether a licence is available and whether the trader can use it. ILMS is responsible for checking the licence data and returning the relevant information.
The reservation operations are important because they protect licence quantities during the declaration lifecycle. A reservation can be created, updated, deleted or confirmed, depending on where the declaration is in the process.
This is the part of the system where the terms licence and authorisation often overlap.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design points I would explicitly call out.
A natural risk in this kind of service is that validation becomes one very large service method with many if statements. The validation interface helps avoid that.
Each business rule can be implemented as a small validator with a common contract. That makes the code easier to test, easier to extend and easier for new developers to understand.
I would not overstate this as a huge framework. I would simply explain it as a deliberate design decision to keep validation modular.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useful example of where the business rule is more important than the implementation detail.
Some DIT licence data used an internal permitted trader identifier rather than the EORI that DMS expected. The business requirement was that only the permitted trader should be able to use the licence.
That means ILMS and the surrounding services needed a way to bridge the gap between RPTID and EORI so that the correct trader could be validated.
I would keep this slide brief unless someone asks about ownership validation, but it is worth having because it explains one of the more subtle domain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answers the question: what interfaces exist around ILMS?
There are REST APIs, there are UI-driven REST calls, there are JMS or MQ interactions with other CDS components, and there are file-transfer based flows in the older model.
I would present this as a catalogue rather than as a complete technical specification. The point is to show the audience the categories of integration. During the code walkthrough, we can then point to the controllers, MQ listeners, message producers, configuration and repository areas that support these interfaces.
Where exact queue or operation names are important, I would confirm those from the code and configuration rather than relying only on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deliberately marked as something to confirm from the code and configuration.
From the architecture, we know MQ is part of the interaction between DMS, ILMS and related services. We should identify the inbound listeners, the outbound senders, the message models, and the queue configuration.
For the audience, the useful thing is not just the queue names. It is knowing where to look when a message does not arrive, when a response is not sent, or when an error path is triggered.
In the code walkthrough, I would show the listener package, the configuration file, the message model classes and the error handling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I would introduce the code walkthrough.
I would say: I am not going to go line-by-line today because there is too much to absorb in one sitting. Instead, I want to show where the responsibilities live in the codebase.
Start with the entry points: controllers, SOAP endpoints or MQ listeners. Then move to the service or facade layer. Then show the validation package, because that is where many of the business rules live. After that, show repositories and persistence. Finally, show integration and configuration.
That gives everyone a map of the codebase without overwhelming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gives a simple debugging and code-reading mental model.
When a request arrives, identify the entry point first. Then trace to the service. The service will usually orchestrate validation, repository calls and mapping. Finally the response is built and returned or sent onward.
This same model works whether the entry point is a REST API, SOAP endpoint or MQ listener.
For a new team, this is more useful than jumping around the codebase without a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I would use to make the handover practical.
When people inherit a system, they need to know where to start when something fails.
For validation failures, start with the payload and the rule that failed. For licence not found issues, check the reference, date range, status and trader. For usage problems, check whether the trigger actually fired and whether the outbound call or message was sent.
For MQ issues, look at listeners, senders, queue configuration and error queues. For unexpected data, think about migration, reference data and RPTID to EORI mapping.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gives the audience a document map.
The runbook is useful for operational knowledge. The service design is useful for architecture and context. CDSP-2129 explains the API-led evolution. CDSP-10889 explains why some of the dual-running logic changed after CHIEF was decommissioned.
I would emphasise that for exact endpoint names, queue names and behaviour, the code and configuration are the source of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would use this slide to close the loop.
Today was about architecture and orientation. The next sessions can go into detailed implementation component by component.
That means we do not need to answer every implementation question today. If something requires a code deep-dive, we can capture it and cover it in the next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natural point to pause and take questions.
I would say: before we move into the code orientation, are there any questions on the architecture, business flows or terminology?
If there are detailed implementation questions, capture them and say we can cover them during the next session or during the code walkthrough if time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1051560"/>
            <a:ext cx="10881360" cy="594360"/>
          </a:xfrm>
          <a:prstGeom prst="rect">
            <a:avLst/>
          </a:prstGeom>
          <a:noFill/>
          <a:ln/>
        </p:spPr>
        <p:txBody>
          <a:bodyPr wrap="square" lIns="0" tIns="0" rIns="0" bIns="0" rtlCol="0" anchor="ctr"/>
          <a:lstStyle/>
          <a:p>
            <a:pPr indent="0" marL="0">
              <a:buNone/>
            </a:pPr>
            <a:r>
              <a:rPr lang="en-US" sz="3400" b="1" dirty="0">
                <a:solidFill>
                  <a:srgbClr val="003366"/>
                </a:solidFill>
              </a:rPr>
              <a:t>ILMS Knowledge Transfer</a:t>
            </a:r>
            <a:endParaRPr lang="en-US" sz="3400" dirty="0"/>
          </a:p>
        </p:txBody>
      </p:sp>
      <p:sp>
        <p:nvSpPr>
          <p:cNvPr id="3" name="Text 1"/>
          <p:cNvSpPr/>
          <p:nvPr/>
        </p:nvSpPr>
        <p:spPr>
          <a:xfrm>
            <a:off x="685800" y="1737360"/>
            <a:ext cx="10789920" cy="320040"/>
          </a:xfrm>
          <a:prstGeom prst="rect">
            <a:avLst/>
          </a:prstGeom>
          <a:noFill/>
          <a:ln/>
        </p:spPr>
        <p:txBody>
          <a:bodyPr wrap="square" lIns="0" tIns="0" rIns="0" bIns="0" rtlCol="0" anchor="ctr"/>
          <a:lstStyle/>
          <a:p>
            <a:pPr indent="0" marL="0">
              <a:buNone/>
            </a:pPr>
            <a:r>
              <a:rPr lang="en-US" sz="1800" dirty="0">
                <a:solidFill>
                  <a:srgbClr val="333333"/>
                </a:solidFill>
              </a:rPr>
              <a:t>Internal Licence Management Service</a:t>
            </a:r>
            <a:endParaRPr lang="en-US" sz="1800" dirty="0"/>
          </a:p>
        </p:txBody>
      </p:sp>
      <p:sp>
        <p:nvSpPr>
          <p:cNvPr id="4" name="Shape 2"/>
          <p:cNvSpPr/>
          <p:nvPr/>
        </p:nvSpPr>
        <p:spPr>
          <a:xfrm>
            <a:off x="685800" y="2240280"/>
            <a:ext cx="10789920" cy="0"/>
          </a:xfrm>
          <a:prstGeom prst="line">
            <a:avLst/>
          </a:prstGeom>
          <a:noFill/>
          <a:ln w="25400">
            <a:solidFill>
              <a:srgbClr val="1F5E99"/>
            </a:solidFill>
            <a:prstDash val="solid"/>
          </a:ln>
        </p:spPr>
      </p:sp>
      <p:sp>
        <p:nvSpPr>
          <p:cNvPr id="5" name="Text 3"/>
          <p:cNvSpPr/>
          <p:nvPr/>
        </p:nvSpPr>
        <p:spPr>
          <a:xfrm>
            <a:off x="685800" y="2514600"/>
            <a:ext cx="10789920" cy="329184"/>
          </a:xfrm>
          <a:prstGeom prst="rect">
            <a:avLst/>
          </a:prstGeom>
          <a:noFill/>
          <a:ln/>
        </p:spPr>
        <p:txBody>
          <a:bodyPr wrap="square" lIns="0" tIns="0" rIns="0" bIns="0" rtlCol="0" anchor="ctr"/>
          <a:lstStyle/>
          <a:p>
            <a:pPr indent="0" marL="0">
              <a:buNone/>
            </a:pPr>
            <a:r>
              <a:rPr lang="en-US" sz="1600" b="1" dirty="0">
                <a:solidFill>
                  <a:srgbClr val="1F5E99"/>
                </a:solidFill>
              </a:rPr>
              <a:t>Session 1: Architecture Overview and High-Level Code Orientation</a:t>
            </a:r>
            <a:endParaRPr lang="en-US" sz="1600" dirty="0"/>
          </a:p>
        </p:txBody>
      </p:sp>
      <p:sp>
        <p:nvSpPr>
          <p:cNvPr id="6" name="Text 4"/>
          <p:cNvSpPr/>
          <p:nvPr/>
        </p:nvSpPr>
        <p:spPr>
          <a:xfrm>
            <a:off x="685800" y="2971800"/>
            <a:ext cx="10058400" cy="274320"/>
          </a:xfrm>
          <a:prstGeom prst="rect">
            <a:avLst/>
          </a:prstGeom>
          <a:noFill/>
          <a:ln/>
        </p:spPr>
        <p:txBody>
          <a:bodyPr wrap="square" lIns="0" tIns="0" rIns="0" bIns="0" rtlCol="0" anchor="ctr"/>
          <a:lstStyle/>
          <a:p>
            <a:pPr indent="0" marL="0">
              <a:buNone/>
            </a:pPr>
            <a:r>
              <a:rPr lang="en-US" sz="1200" dirty="0">
                <a:solidFill>
                  <a:srgbClr val="666666"/>
                </a:solidFill>
              </a:rPr>
              <a:t>Prepared for IBM knowledge transfer</a:t>
            </a:r>
            <a:endParaRPr lang="en-US" sz="1200" dirty="0"/>
          </a:p>
        </p:txBody>
      </p:sp>
      <p:sp>
        <p:nvSpPr>
          <p:cNvPr id="7" name="Text 5"/>
          <p:cNvSpPr/>
          <p:nvPr/>
        </p:nvSpPr>
        <p:spPr>
          <a:xfrm>
            <a:off x="685800" y="5806440"/>
            <a:ext cx="3657600" cy="228600"/>
          </a:xfrm>
          <a:prstGeom prst="rect">
            <a:avLst/>
          </a:prstGeom>
          <a:noFill/>
          <a:ln/>
        </p:spPr>
        <p:txBody>
          <a:bodyPr wrap="square" lIns="0" tIns="0" rIns="0" bIns="0" rtlCol="0" anchor="ctr"/>
          <a:lstStyle/>
          <a:p>
            <a:pPr indent="0" marL="0">
              <a:buNone/>
            </a:pPr>
            <a:r>
              <a:rPr lang="en-US" sz="1100" dirty="0">
                <a:solidFill>
                  <a:srgbClr val="666666"/>
                </a:solidFill>
              </a:rPr>
              <a:t>Bobby Kapur</a:t>
            </a:r>
            <a:endParaRPr lang="en-US" sz="1100" dirty="0"/>
          </a:p>
        </p:txBody>
      </p:sp>
      <p:sp>
        <p:nvSpPr>
          <p:cNvPr id="8" name="Text 6"/>
          <p:cNvSpPr/>
          <p:nvPr/>
        </p:nvSpPr>
        <p:spPr>
          <a:xfrm>
            <a:off x="9326880" y="5806440"/>
            <a:ext cx="2194560" cy="228600"/>
          </a:xfrm>
          <a:prstGeom prst="rect">
            <a:avLst/>
          </a:prstGeom>
          <a:noFill/>
          <a:ln/>
        </p:spPr>
        <p:txBody>
          <a:bodyPr wrap="square" lIns="0" tIns="0" rIns="0" bIns="0" rtlCol="0" anchor="ctr"/>
          <a:lstStyle/>
          <a:p>
            <a:pPr algn="r" indent="0" marL="0">
              <a:buNone/>
            </a:pPr>
            <a:r>
              <a:rPr lang="en-US" sz="1100" dirty="0">
                <a:solidFill>
                  <a:srgbClr val="666666"/>
                </a:solidFill>
              </a:rPr>
              <a:t>v1.0 | July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0972800" cy="384048"/>
          </a:xfrm>
          <a:prstGeom prst="rect">
            <a:avLst/>
          </a:prstGeom>
          <a:noFill/>
          <a:ln/>
        </p:spPr>
        <p:txBody>
          <a:bodyPr wrap="square" lIns="0" tIns="0" rIns="0" bIns="0" rtlCol="0" anchor="ctr"/>
          <a:lstStyle/>
          <a:p>
            <a:pPr indent="0" marL="0">
              <a:buNone/>
            </a:pPr>
            <a:r>
              <a:rPr lang="en-US" sz="2600" b="1" dirty="0">
                <a:solidFill>
                  <a:srgbClr val="003366"/>
                </a:solidFill>
                <a:latin typeface="Arial" pitchFamily="34" charset="0"/>
                <a:ea typeface="Arial" pitchFamily="34" charset="-122"/>
                <a:cs typeface="Arial" pitchFamily="34" charset="-120"/>
              </a:rPr>
              <a:t>Knowledge Transfer Series</a:t>
            </a:r>
            <a:endParaRPr lang="en-US" sz="2600" dirty="0"/>
          </a:p>
        </p:txBody>
      </p:sp>
      <p:sp>
        <p:nvSpPr>
          <p:cNvPr id="3" name="Text 1"/>
          <p:cNvSpPr/>
          <p:nvPr/>
        </p:nvSpPr>
        <p:spPr>
          <a:xfrm>
            <a:off x="521208" y="749808"/>
            <a:ext cx="10515600" cy="228600"/>
          </a:xfrm>
          <a:prstGeom prst="rect">
            <a:avLst/>
          </a:prstGeom>
          <a:noFill/>
          <a:ln/>
        </p:spPr>
        <p:txBody>
          <a:bodyPr wrap="square" lIns="0" tIns="0" rIns="0" bIns="0" rtlCol="0" anchor="ctr"/>
          <a:lstStyle/>
          <a:p>
            <a:pPr indent="0" marL="0">
              <a:buNone/>
            </a:pPr>
            <a:r>
              <a:rPr lang="en-US" sz="1050" dirty="0">
                <a:solidFill>
                  <a:srgbClr val="666666"/>
                </a:solidFill>
              </a:rPr>
              <a:t>Three sessions: one component per day</a:t>
            </a:r>
            <a:endParaRPr lang="en-US" sz="1050" dirty="0"/>
          </a:p>
        </p:txBody>
      </p:sp>
      <p:sp>
        <p:nvSpPr>
          <p:cNvPr id="4" name="Shape 2"/>
          <p:cNvSpPr/>
          <p:nvPr/>
        </p:nvSpPr>
        <p:spPr>
          <a:xfrm>
            <a:off x="457200" y="6355080"/>
            <a:ext cx="11274552" cy="0"/>
          </a:xfrm>
          <a:prstGeom prst="line">
            <a:avLst/>
          </a:prstGeom>
          <a:noFill/>
          <a:ln w="8890">
            <a:solidFill>
              <a:srgbClr val="D9DEE3"/>
            </a:solidFill>
            <a:prstDash val="solid"/>
          </a:ln>
        </p:spPr>
      </p:sp>
      <p:sp>
        <p:nvSpPr>
          <p:cNvPr id="5" name="Text 3"/>
          <p:cNvSpPr/>
          <p:nvPr/>
        </p:nvSpPr>
        <p:spPr>
          <a:xfrm>
            <a:off x="457200" y="6419088"/>
            <a:ext cx="7315200" cy="228600"/>
          </a:xfrm>
          <a:prstGeom prst="rect">
            <a:avLst/>
          </a:prstGeom>
          <a:noFill/>
          <a:ln/>
        </p:spPr>
        <p:txBody>
          <a:bodyPr wrap="square" rtlCol="0" anchor="ctr"/>
          <a:lstStyle/>
          <a:p>
            <a:pPr indent="0" marL="0">
              <a:buNone/>
            </a:pPr>
            <a:r>
              <a:rPr lang="en-US" sz="850" dirty="0">
                <a:solidFill>
                  <a:srgbClr val="666666"/>
                </a:solidFill>
                <a:latin typeface="Arial" pitchFamily="34" charset="0"/>
                <a:ea typeface="Arial" pitchFamily="34" charset="-122"/>
                <a:cs typeface="Arial" pitchFamily="34" charset="-120"/>
              </a:rPr>
              <a:t>ILMS Knowledge Transfer | Architecture Overview</a:t>
            </a:r>
            <a:endParaRPr lang="en-US" sz="850" dirty="0"/>
          </a:p>
        </p:txBody>
      </p:sp>
      <p:sp>
        <p:nvSpPr>
          <p:cNvPr id="6" name="Text 4"/>
          <p:cNvSpPr/>
          <p:nvPr/>
        </p:nvSpPr>
        <p:spPr>
          <a:xfrm>
            <a:off x="11292840" y="6419088"/>
            <a:ext cx="457200" cy="228600"/>
          </a:xfrm>
          <a:prstGeom prst="rect">
            <a:avLst/>
          </a:prstGeom>
          <a:noFill/>
          <a:ln/>
        </p:spPr>
        <p:txBody>
          <a:bodyPr wrap="square" rtlCol="0" anchor="ctr"/>
          <a:lstStyle/>
          <a:p>
            <a:pPr algn="r" indent="0" marL="0">
              <a:buNone/>
            </a:pPr>
            <a:r>
              <a:rPr lang="en-US" sz="850" dirty="0">
                <a:solidFill>
                  <a:srgbClr val="666666"/>
                </a:solidFill>
              </a:rPr>
              <a:t>2</a:t>
            </a:r>
            <a:endParaRPr lang="en-US" sz="850" dirty="0"/>
          </a:p>
        </p:txBody>
      </p:sp>
      <p:sp>
        <p:nvSpPr>
          <p:cNvPr id="7" name="Shape 5"/>
          <p:cNvSpPr/>
          <p:nvPr/>
        </p:nvSpPr>
        <p:spPr>
          <a:xfrm>
            <a:off x="685800" y="1325880"/>
            <a:ext cx="3337560" cy="2011680"/>
          </a:xfrm>
          <a:prstGeom prst="roundRect">
            <a:avLst>
              <a:gd name="adj" fmla="val 2727"/>
            </a:avLst>
          </a:prstGeom>
          <a:solidFill>
            <a:srgbClr val="F3F8FC"/>
          </a:solidFill>
          <a:ln w="12700">
            <a:solidFill>
              <a:srgbClr val="1F5E99"/>
            </a:solidFill>
            <a:prstDash val="solid"/>
          </a:ln>
        </p:spPr>
      </p:sp>
      <p:sp>
        <p:nvSpPr>
          <p:cNvPr id="8" name="Text 6"/>
          <p:cNvSpPr/>
          <p:nvPr/>
        </p:nvSpPr>
        <p:spPr>
          <a:xfrm>
            <a:off x="795528" y="1453896"/>
            <a:ext cx="3118104" cy="1755648"/>
          </a:xfrm>
          <a:prstGeom prst="rect">
            <a:avLst/>
          </a:prstGeom>
          <a:noFill/>
          <a:ln/>
        </p:spPr>
        <p:txBody>
          <a:bodyPr wrap="square" lIns="0" tIns="0" rIns="0" bIns="0" rtlCol="0" anchor="ctr">
            <a:normAutofit/>
          </a:bodyPr>
          <a:lstStyle/>
          <a:p>
            <a:pPr algn="ctr" indent="0" marL="0">
              <a:buNone/>
            </a:pPr>
            <a:r>
              <a:rPr lang="en-US" sz="1400" b="1" dirty="0">
                <a:solidFill>
                  <a:srgbClr val="333333"/>
                </a:solidFill>
              </a:rPr>
              <a:t>Session 1</a:t>
            </a:r>
            <a:endParaRPr lang="en-US" sz="1400" dirty="0"/>
          </a:p>
          <a:p>
            <a:pPr algn="ctr" indent="0" marL="0">
              <a:buNone/>
            </a:pPr>
            <a:r>
              <a:rPr lang="en-US" sz="1400" b="1" dirty="0">
                <a:solidFill>
                  <a:srgbClr val="333333"/>
                </a:solidFill>
              </a:rPr>
              <a:t>Architecture Overview</a:t>
            </a:r>
            <a:endParaRPr lang="en-US" sz="1400" dirty="0"/>
          </a:p>
          <a:p>
            <a:pPr algn="ctr" indent="0" marL="0">
              <a:buNone/>
            </a:pPr>
            <a:r>
              <a:rPr lang="en-US" sz="1400" b="1" dirty="0">
                <a:solidFill>
                  <a:srgbClr val="333333"/>
                </a:solidFill>
              </a:rPr>
              <a:t>Main ILMS component</a:t>
            </a:r>
            <a:endParaRPr lang="en-US" sz="1400" dirty="0"/>
          </a:p>
          <a:p>
            <a:pPr algn="ctr" indent="0" marL="0">
              <a:buNone/>
            </a:pPr>
            <a:r>
              <a:rPr lang="en-US" sz="1400" b="1" dirty="0">
                <a:solidFill>
                  <a:srgbClr val="333333"/>
                </a:solidFill>
              </a:rPr>
              <a:t>High-level code orientation</a:t>
            </a:r>
            <a:endParaRPr lang="en-US" sz="1400" dirty="0"/>
          </a:p>
        </p:txBody>
      </p:sp>
      <p:sp>
        <p:nvSpPr>
          <p:cNvPr id="9" name="Shape 7"/>
          <p:cNvSpPr/>
          <p:nvPr/>
        </p:nvSpPr>
        <p:spPr>
          <a:xfrm>
            <a:off x="4434840" y="1325880"/>
            <a:ext cx="3337560" cy="2011680"/>
          </a:xfrm>
          <a:prstGeom prst="roundRect">
            <a:avLst>
              <a:gd name="adj" fmla="val 2727"/>
            </a:avLst>
          </a:prstGeom>
          <a:solidFill>
            <a:srgbClr val="F4F6F8"/>
          </a:solidFill>
          <a:ln w="12700">
            <a:solidFill>
              <a:srgbClr val="D9DEE3"/>
            </a:solidFill>
            <a:prstDash val="solid"/>
          </a:ln>
        </p:spPr>
      </p:sp>
      <p:sp>
        <p:nvSpPr>
          <p:cNvPr id="10" name="Text 8"/>
          <p:cNvSpPr/>
          <p:nvPr/>
        </p:nvSpPr>
        <p:spPr>
          <a:xfrm>
            <a:off x="4544568" y="1453896"/>
            <a:ext cx="3118104" cy="1755648"/>
          </a:xfrm>
          <a:prstGeom prst="rect">
            <a:avLst/>
          </a:prstGeom>
          <a:noFill/>
          <a:ln/>
        </p:spPr>
        <p:txBody>
          <a:bodyPr wrap="square" lIns="0" tIns="0" rIns="0" bIns="0" rtlCol="0" anchor="ctr">
            <a:normAutofit/>
          </a:bodyPr>
          <a:lstStyle/>
          <a:p>
            <a:pPr algn="ctr" indent="0" marL="0">
              <a:buNone/>
            </a:pPr>
            <a:r>
              <a:rPr lang="en-US" sz="1400" b="1" dirty="0">
                <a:solidFill>
                  <a:srgbClr val="333333"/>
                </a:solidFill>
              </a:rPr>
              <a:t>Session 2</a:t>
            </a:r>
            <a:endParaRPr lang="en-US" sz="1400" dirty="0"/>
          </a:p>
          <a:p>
            <a:pPr algn="ctr" indent="0" marL="0">
              <a:buNone/>
            </a:pPr>
            <a:r>
              <a:rPr lang="en-US" sz="1400" b="1" dirty="0">
                <a:solidFill>
                  <a:srgbClr val="333333"/>
                </a:solidFill>
              </a:rPr>
              <a:t>Component 2</a:t>
            </a:r>
            <a:endParaRPr lang="en-US" sz="1400" dirty="0"/>
          </a:p>
          <a:p>
            <a:pPr algn="ctr" indent="0" marL="0">
              <a:buNone/>
            </a:pPr>
            <a:r>
              <a:rPr lang="en-US" sz="1400" b="1" dirty="0">
                <a:solidFill>
                  <a:srgbClr val="333333"/>
                </a:solidFill>
              </a:rPr>
              <a:t>Detailed implementation</a:t>
            </a:r>
            <a:endParaRPr lang="en-US" sz="1400" dirty="0"/>
          </a:p>
          <a:p>
            <a:pPr algn="ctr" indent="0" marL="0">
              <a:buNone/>
            </a:pPr>
            <a:r>
              <a:rPr lang="en-US" sz="1400" b="1" dirty="0">
                <a:solidFill>
                  <a:srgbClr val="333333"/>
                </a:solidFill>
              </a:rPr>
              <a:t>Debugging and tests</a:t>
            </a:r>
            <a:endParaRPr lang="en-US" sz="1400" dirty="0"/>
          </a:p>
        </p:txBody>
      </p:sp>
      <p:sp>
        <p:nvSpPr>
          <p:cNvPr id="11" name="Shape 9"/>
          <p:cNvSpPr/>
          <p:nvPr/>
        </p:nvSpPr>
        <p:spPr>
          <a:xfrm>
            <a:off x="8183880" y="1325880"/>
            <a:ext cx="3337560" cy="2011680"/>
          </a:xfrm>
          <a:prstGeom prst="roundRect">
            <a:avLst>
              <a:gd name="adj" fmla="val 2727"/>
            </a:avLst>
          </a:prstGeom>
          <a:solidFill>
            <a:srgbClr val="F4F6F8"/>
          </a:solidFill>
          <a:ln w="12700">
            <a:solidFill>
              <a:srgbClr val="D9DEE3"/>
            </a:solidFill>
            <a:prstDash val="solid"/>
          </a:ln>
        </p:spPr>
      </p:sp>
      <p:sp>
        <p:nvSpPr>
          <p:cNvPr id="12" name="Text 10"/>
          <p:cNvSpPr/>
          <p:nvPr/>
        </p:nvSpPr>
        <p:spPr>
          <a:xfrm>
            <a:off x="8293608" y="1453896"/>
            <a:ext cx="3118104" cy="1755648"/>
          </a:xfrm>
          <a:prstGeom prst="rect">
            <a:avLst/>
          </a:prstGeom>
          <a:noFill/>
          <a:ln/>
        </p:spPr>
        <p:txBody>
          <a:bodyPr wrap="square" lIns="0" tIns="0" rIns="0" bIns="0" rtlCol="0" anchor="ctr">
            <a:normAutofit/>
          </a:bodyPr>
          <a:lstStyle/>
          <a:p>
            <a:pPr algn="ctr" indent="0" marL="0">
              <a:buNone/>
            </a:pPr>
            <a:r>
              <a:rPr lang="en-US" sz="1400" b="1" dirty="0">
                <a:solidFill>
                  <a:srgbClr val="333333"/>
                </a:solidFill>
              </a:rPr>
              <a:t>Session 3</a:t>
            </a:r>
            <a:endParaRPr lang="en-US" sz="1400" dirty="0"/>
          </a:p>
          <a:p>
            <a:pPr algn="ctr" indent="0" marL="0">
              <a:buNone/>
            </a:pPr>
            <a:r>
              <a:rPr lang="en-US" sz="1400" b="1" dirty="0">
                <a:solidFill>
                  <a:srgbClr val="333333"/>
                </a:solidFill>
              </a:rPr>
              <a:t>Component 3</a:t>
            </a:r>
            <a:endParaRPr lang="en-US" sz="1400" dirty="0"/>
          </a:p>
          <a:p>
            <a:pPr algn="ctr" indent="0" marL="0">
              <a:buNone/>
            </a:pPr>
            <a:r>
              <a:rPr lang="en-US" sz="1400" b="1" dirty="0">
                <a:solidFill>
                  <a:srgbClr val="333333"/>
                </a:solidFill>
              </a:rPr>
              <a:t>Operational knowledge</a:t>
            </a:r>
            <a:endParaRPr lang="en-US" sz="1400" dirty="0"/>
          </a:p>
          <a:p>
            <a:pPr algn="ctr" indent="0" marL="0">
              <a:buNone/>
            </a:pPr>
            <a:r>
              <a:rPr lang="en-US" sz="1400" b="1" dirty="0">
                <a:solidFill>
                  <a:srgbClr val="333333"/>
                </a:solidFill>
              </a:rPr>
              <a:t>Support and Q&amp;A</a:t>
            </a:r>
            <a:endParaRPr lang="en-US" sz="1400" dirty="0"/>
          </a:p>
        </p:txBody>
      </p:sp>
      <p:sp>
        <p:nvSpPr>
          <p:cNvPr id="13" name="Text 11"/>
          <p:cNvSpPr/>
          <p:nvPr/>
        </p:nvSpPr>
        <p:spPr>
          <a:xfrm>
            <a:off x="777240" y="3886200"/>
            <a:ext cx="10607040" cy="274320"/>
          </a:xfrm>
          <a:prstGeom prst="rect">
            <a:avLst/>
          </a:prstGeom>
          <a:noFill/>
          <a:ln/>
        </p:spPr>
        <p:txBody>
          <a:bodyPr wrap="square" lIns="0" tIns="0" rIns="0" bIns="0" rtlCol="0" anchor="ctr"/>
          <a:lstStyle/>
          <a:p>
            <a:pPr indent="0" marL="0">
              <a:buNone/>
            </a:pPr>
            <a:r>
              <a:rPr lang="en-US" sz="1900" b="1" dirty="0">
                <a:solidFill>
                  <a:srgbClr val="003366"/>
                </a:solidFill>
              </a:rPr>
              <a:t>Today is deliberately not a full code deep-dive.</a:t>
            </a:r>
            <a:endParaRPr lang="en-US" sz="1900" dirty="0"/>
          </a:p>
        </p:txBody>
      </p:sp>
      <p:sp>
        <p:nvSpPr>
          <p:cNvPr id="14" name="Text 12"/>
          <p:cNvSpPr/>
          <p:nvPr/>
        </p:nvSpPr>
        <p:spPr>
          <a:xfrm>
            <a:off x="868680" y="4343400"/>
            <a:ext cx="10698480" cy="1097280"/>
          </a:xfrm>
          <a:prstGeom prst="rect">
            <a:avLst/>
          </a:prstGeom>
          <a:noFill/>
          <a:ln/>
        </p:spPr>
        <p:txBody>
          <a:bodyPr wrap="square" lIns="1016" tIns="1016" rIns="1016" bIns="1016" rtlCol="0" anchor="t">
            <a:normAutofit/>
          </a:bodyPr>
          <a:lstStyle/>
          <a:p>
            <a:r>
              <a:rPr lang="en-US" sz="1800" dirty="0">
                <a:solidFill>
                  <a:srgbClr val="333333"/>
                </a:solidFill>
              </a:rPr>
              <a:t>The aim is to build the mental model first.</a:t>
            </a:r>
            <a:endParaRPr lang="en-US" sz="1800" dirty="0"/>
          </a:p>
          <a:p>
            <a:r>
              <a:rPr lang="en-US" sz="1800" dirty="0">
                <a:solidFill>
                  <a:srgbClr val="333333"/>
                </a:solidFill>
              </a:rPr>
              <a:t>We will introduce the code structure at the end.</a:t>
            </a:r>
            <a:endParaRPr lang="en-US" sz="1800" dirty="0"/>
          </a:p>
          <a:p>
            <a:r>
              <a:rPr lang="en-US" sz="1800" dirty="0">
                <a:solidFill>
                  <a:srgbClr val="333333"/>
                </a:solidFill>
              </a:rPr>
              <a:t>Detailed class-by-class implementation is saved for the next KT session.</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0972800" cy="384048"/>
          </a:xfrm>
          <a:prstGeom prst="rect">
            <a:avLst/>
          </a:prstGeom>
          <a:noFill/>
          <a:ln/>
        </p:spPr>
        <p:txBody>
          <a:bodyPr wrap="square" lIns="0" tIns="0" rIns="0" bIns="0" rtlCol="0" anchor="ctr"/>
          <a:lstStyle/>
          <a:p>
            <a:pPr indent="0" marL="0">
              <a:buNone/>
            </a:pPr>
            <a:r>
              <a:rPr lang="en-US" sz="2600" b="1" dirty="0">
                <a:solidFill>
                  <a:srgbClr val="003366"/>
                </a:solidFill>
                <a:latin typeface="Arial" pitchFamily="34" charset="0"/>
                <a:ea typeface="Arial" pitchFamily="34" charset="-122"/>
                <a:cs typeface="Arial" pitchFamily="34" charset="-120"/>
              </a:rPr>
              <a:t>Today's Agenda</a:t>
            </a:r>
            <a:endParaRPr lang="en-US" sz="2600" dirty="0"/>
          </a:p>
        </p:txBody>
      </p:sp>
      <p:sp>
        <p:nvSpPr>
          <p:cNvPr id="3" name="Text 1"/>
          <p:cNvSpPr/>
          <p:nvPr/>
        </p:nvSpPr>
        <p:spPr>
          <a:xfrm>
            <a:off x="521208" y="749808"/>
            <a:ext cx="10515600" cy="228600"/>
          </a:xfrm>
          <a:prstGeom prst="rect">
            <a:avLst/>
          </a:prstGeom>
          <a:noFill/>
          <a:ln/>
        </p:spPr>
        <p:txBody>
          <a:bodyPr wrap="square" lIns="0" tIns="0" rIns="0" bIns="0" rtlCol="0" anchor="ctr"/>
          <a:lstStyle/>
          <a:p>
            <a:pPr indent="0" marL="0">
              <a:buNone/>
            </a:pPr>
            <a:r>
              <a:rPr lang="en-US" sz="1050" dirty="0">
                <a:solidFill>
                  <a:srgbClr val="666666"/>
                </a:solidFill>
              </a:rPr>
              <a:t>Designed for a one-hour session</a:t>
            </a:r>
            <a:endParaRPr lang="en-US" sz="1050" dirty="0"/>
          </a:p>
        </p:txBody>
      </p:sp>
      <p:sp>
        <p:nvSpPr>
          <p:cNvPr id="4" name="Shape 2"/>
          <p:cNvSpPr/>
          <p:nvPr/>
        </p:nvSpPr>
        <p:spPr>
          <a:xfrm>
            <a:off x="457200" y="6355080"/>
            <a:ext cx="11274552" cy="0"/>
          </a:xfrm>
          <a:prstGeom prst="line">
            <a:avLst/>
          </a:prstGeom>
          <a:noFill/>
          <a:ln w="8890">
            <a:solidFill>
              <a:srgbClr val="D9DEE3"/>
            </a:solidFill>
            <a:prstDash val="solid"/>
          </a:ln>
        </p:spPr>
      </p:sp>
      <p:sp>
        <p:nvSpPr>
          <p:cNvPr id="5" name="Text 3"/>
          <p:cNvSpPr/>
          <p:nvPr/>
        </p:nvSpPr>
        <p:spPr>
          <a:xfrm>
            <a:off x="457200" y="6419088"/>
            <a:ext cx="7315200" cy="228600"/>
          </a:xfrm>
          <a:prstGeom prst="rect">
            <a:avLst/>
          </a:prstGeom>
          <a:noFill/>
          <a:ln/>
        </p:spPr>
        <p:txBody>
          <a:bodyPr wrap="square" rtlCol="0" anchor="ctr"/>
          <a:lstStyle/>
          <a:p>
            <a:pPr indent="0" marL="0">
              <a:buNone/>
            </a:pPr>
            <a:r>
              <a:rPr lang="en-US" sz="850" dirty="0">
                <a:solidFill>
                  <a:srgbClr val="666666"/>
                </a:solidFill>
                <a:latin typeface="Arial" pitchFamily="34" charset="0"/>
                <a:ea typeface="Arial" pitchFamily="34" charset="-122"/>
                <a:cs typeface="Arial" pitchFamily="34" charset="-120"/>
              </a:rPr>
              <a:t>ILMS Knowledge Transfer | Architecture Overview</a:t>
            </a:r>
            <a:endParaRPr lang="en-US" sz="850" dirty="0"/>
          </a:p>
        </p:txBody>
      </p:sp>
      <p:sp>
        <p:nvSpPr>
          <p:cNvPr id="6" name="Text 4"/>
          <p:cNvSpPr/>
          <p:nvPr/>
        </p:nvSpPr>
        <p:spPr>
          <a:xfrm>
            <a:off x="11292840" y="6419088"/>
            <a:ext cx="457200" cy="228600"/>
          </a:xfrm>
          <a:prstGeom prst="rect">
            <a:avLst/>
          </a:prstGeom>
          <a:noFill/>
          <a:ln/>
        </p:spPr>
        <p:txBody>
          <a:bodyPr wrap="square" rtlCol="0" anchor="ctr"/>
          <a:lstStyle/>
          <a:p>
            <a:pPr algn="r" indent="0" marL="0">
              <a:buNone/>
            </a:pPr>
            <a:r>
              <a:rPr lang="en-US" sz="850" dirty="0">
                <a:solidFill>
                  <a:srgbClr val="666666"/>
                </a:solidFill>
              </a:rPr>
              <a:t>3</a:t>
            </a:r>
            <a:endParaRPr lang="en-US" sz="850" dirty="0"/>
          </a:p>
        </p:txBody>
      </p:sp>
      <p:sp>
        <p:nvSpPr>
          <p:cNvPr id="7" name="Shape 5"/>
          <p:cNvSpPr/>
          <p:nvPr/>
        </p:nvSpPr>
        <p:spPr>
          <a:xfrm>
            <a:off x="868680" y="1234440"/>
            <a:ext cx="1234440" cy="384048"/>
          </a:xfrm>
          <a:prstGeom prst="roundRect">
            <a:avLst>
              <a:gd name="adj" fmla="val 19048"/>
            </a:avLst>
          </a:prstGeom>
          <a:solidFill>
            <a:srgbClr val="DCEAF7"/>
          </a:solidFill>
          <a:ln w="12700">
            <a:solidFill>
              <a:srgbClr val="DCEAF7"/>
            </a:solidFill>
            <a:prstDash val="solid"/>
          </a:ln>
        </p:spPr>
      </p:sp>
      <p:sp>
        <p:nvSpPr>
          <p:cNvPr id="8" name="Text 6"/>
          <p:cNvSpPr/>
          <p:nvPr/>
        </p:nvSpPr>
        <p:spPr>
          <a:xfrm>
            <a:off x="914400" y="1325880"/>
            <a:ext cx="1143000" cy="182880"/>
          </a:xfrm>
          <a:prstGeom prst="rect">
            <a:avLst/>
          </a:prstGeom>
          <a:noFill/>
          <a:ln/>
        </p:spPr>
        <p:txBody>
          <a:bodyPr wrap="square" lIns="0" tIns="0" rIns="0" bIns="0" rtlCol="0" anchor="ctr"/>
          <a:lstStyle/>
          <a:p>
            <a:pPr algn="ctr" indent="0" marL="0">
              <a:buNone/>
            </a:pPr>
            <a:r>
              <a:rPr lang="en-US" sz="1050" b="1" dirty="0">
                <a:solidFill>
                  <a:srgbClr val="003366"/>
                </a:solidFill>
              </a:rPr>
              <a:t>0–5 mins</a:t>
            </a:r>
            <a:endParaRPr lang="en-US" sz="1050" dirty="0"/>
          </a:p>
        </p:txBody>
      </p:sp>
      <p:sp>
        <p:nvSpPr>
          <p:cNvPr id="9" name="Text 7"/>
          <p:cNvSpPr/>
          <p:nvPr/>
        </p:nvSpPr>
        <p:spPr>
          <a:xfrm>
            <a:off x="2331720" y="1316736"/>
            <a:ext cx="8686800" cy="228600"/>
          </a:xfrm>
          <a:prstGeom prst="rect">
            <a:avLst/>
          </a:prstGeom>
          <a:noFill/>
          <a:ln/>
        </p:spPr>
        <p:txBody>
          <a:bodyPr wrap="square" lIns="0" tIns="0" rIns="0" bIns="0" rtlCol="0" anchor="ctr"/>
          <a:lstStyle/>
          <a:p>
            <a:pPr indent="0" marL="0">
              <a:buNone/>
            </a:pPr>
            <a:r>
              <a:rPr lang="en-US" sz="1700" dirty="0">
                <a:solidFill>
                  <a:srgbClr val="333333"/>
                </a:solidFill>
              </a:rPr>
              <a:t>Opening and outcomes</a:t>
            </a:r>
            <a:endParaRPr lang="en-US" sz="1700" dirty="0"/>
          </a:p>
        </p:txBody>
      </p:sp>
      <p:sp>
        <p:nvSpPr>
          <p:cNvPr id="10" name="Shape 8"/>
          <p:cNvSpPr/>
          <p:nvPr/>
        </p:nvSpPr>
        <p:spPr>
          <a:xfrm>
            <a:off x="868680" y="1892808"/>
            <a:ext cx="1234440" cy="384048"/>
          </a:xfrm>
          <a:prstGeom prst="roundRect">
            <a:avLst>
              <a:gd name="adj" fmla="val 19048"/>
            </a:avLst>
          </a:prstGeom>
          <a:solidFill>
            <a:srgbClr val="DCEAF7"/>
          </a:solidFill>
          <a:ln w="12700">
            <a:solidFill>
              <a:srgbClr val="DCEAF7"/>
            </a:solidFill>
            <a:prstDash val="solid"/>
          </a:ln>
        </p:spPr>
      </p:sp>
      <p:sp>
        <p:nvSpPr>
          <p:cNvPr id="11" name="Text 9"/>
          <p:cNvSpPr/>
          <p:nvPr/>
        </p:nvSpPr>
        <p:spPr>
          <a:xfrm>
            <a:off x="914400" y="1984248"/>
            <a:ext cx="1143000" cy="182880"/>
          </a:xfrm>
          <a:prstGeom prst="rect">
            <a:avLst/>
          </a:prstGeom>
          <a:noFill/>
          <a:ln/>
        </p:spPr>
        <p:txBody>
          <a:bodyPr wrap="square" lIns="0" tIns="0" rIns="0" bIns="0" rtlCol="0" anchor="ctr"/>
          <a:lstStyle/>
          <a:p>
            <a:pPr algn="ctr" indent="0" marL="0">
              <a:buNone/>
            </a:pPr>
            <a:r>
              <a:rPr lang="en-US" sz="1050" b="1" dirty="0">
                <a:solidFill>
                  <a:srgbClr val="003366"/>
                </a:solidFill>
              </a:rPr>
              <a:t>5–15 mins</a:t>
            </a:r>
            <a:endParaRPr lang="en-US" sz="1050" dirty="0"/>
          </a:p>
        </p:txBody>
      </p:sp>
      <p:sp>
        <p:nvSpPr>
          <p:cNvPr id="12" name="Text 10"/>
          <p:cNvSpPr/>
          <p:nvPr/>
        </p:nvSpPr>
        <p:spPr>
          <a:xfrm>
            <a:off x="2331720" y="1975104"/>
            <a:ext cx="8686800" cy="228600"/>
          </a:xfrm>
          <a:prstGeom prst="rect">
            <a:avLst/>
          </a:prstGeom>
          <a:noFill/>
          <a:ln/>
        </p:spPr>
        <p:txBody>
          <a:bodyPr wrap="square" lIns="0" tIns="0" rIns="0" bIns="0" rtlCol="0" anchor="ctr"/>
          <a:lstStyle/>
          <a:p>
            <a:pPr indent="0" marL="0">
              <a:buNone/>
            </a:pPr>
            <a:r>
              <a:rPr lang="en-US" sz="1700" dirty="0">
                <a:solidFill>
                  <a:srgbClr val="333333"/>
                </a:solidFill>
              </a:rPr>
              <a:t>Business context and terminology</a:t>
            </a:r>
            <a:endParaRPr lang="en-US" sz="1700" dirty="0"/>
          </a:p>
        </p:txBody>
      </p:sp>
      <p:sp>
        <p:nvSpPr>
          <p:cNvPr id="13" name="Shape 11"/>
          <p:cNvSpPr/>
          <p:nvPr/>
        </p:nvSpPr>
        <p:spPr>
          <a:xfrm>
            <a:off x="868680" y="2551176"/>
            <a:ext cx="1234440" cy="384048"/>
          </a:xfrm>
          <a:prstGeom prst="roundRect">
            <a:avLst>
              <a:gd name="adj" fmla="val 19048"/>
            </a:avLst>
          </a:prstGeom>
          <a:solidFill>
            <a:srgbClr val="DCEAF7"/>
          </a:solidFill>
          <a:ln w="12700">
            <a:solidFill>
              <a:srgbClr val="DCEAF7"/>
            </a:solidFill>
            <a:prstDash val="solid"/>
          </a:ln>
        </p:spPr>
      </p:sp>
      <p:sp>
        <p:nvSpPr>
          <p:cNvPr id="14" name="Text 12"/>
          <p:cNvSpPr/>
          <p:nvPr/>
        </p:nvSpPr>
        <p:spPr>
          <a:xfrm>
            <a:off x="914400" y="2642616"/>
            <a:ext cx="1143000" cy="182880"/>
          </a:xfrm>
          <a:prstGeom prst="rect">
            <a:avLst/>
          </a:prstGeom>
          <a:noFill/>
          <a:ln/>
        </p:spPr>
        <p:txBody>
          <a:bodyPr wrap="square" lIns="0" tIns="0" rIns="0" bIns="0" rtlCol="0" anchor="ctr"/>
          <a:lstStyle/>
          <a:p>
            <a:pPr algn="ctr" indent="0" marL="0">
              <a:buNone/>
            </a:pPr>
            <a:r>
              <a:rPr lang="en-US" sz="1050" b="1" dirty="0">
                <a:solidFill>
                  <a:srgbClr val="003366"/>
                </a:solidFill>
              </a:rPr>
              <a:t>15–25 mins</a:t>
            </a:r>
            <a:endParaRPr lang="en-US" sz="1050" dirty="0"/>
          </a:p>
        </p:txBody>
      </p:sp>
      <p:sp>
        <p:nvSpPr>
          <p:cNvPr id="15" name="Text 13"/>
          <p:cNvSpPr/>
          <p:nvPr/>
        </p:nvSpPr>
        <p:spPr>
          <a:xfrm>
            <a:off x="2331720" y="2633472"/>
            <a:ext cx="8686800" cy="228600"/>
          </a:xfrm>
          <a:prstGeom prst="rect">
            <a:avLst/>
          </a:prstGeom>
          <a:noFill/>
          <a:ln/>
        </p:spPr>
        <p:txBody>
          <a:bodyPr wrap="square" lIns="0" tIns="0" rIns="0" bIns="0" rtlCol="0" anchor="ctr"/>
          <a:lstStyle/>
          <a:p>
            <a:pPr indent="0" marL="0">
              <a:buNone/>
            </a:pPr>
            <a:r>
              <a:rPr lang="en-US" sz="1700" dirty="0">
                <a:solidFill>
                  <a:srgbClr val="333333"/>
                </a:solidFill>
              </a:rPr>
              <a:t>Evolution: batch files → real-time APIs</a:t>
            </a:r>
            <a:endParaRPr lang="en-US" sz="1700" dirty="0"/>
          </a:p>
        </p:txBody>
      </p:sp>
      <p:sp>
        <p:nvSpPr>
          <p:cNvPr id="16" name="Shape 14"/>
          <p:cNvSpPr/>
          <p:nvPr/>
        </p:nvSpPr>
        <p:spPr>
          <a:xfrm>
            <a:off x="868680" y="3209544"/>
            <a:ext cx="1234440" cy="384048"/>
          </a:xfrm>
          <a:prstGeom prst="roundRect">
            <a:avLst>
              <a:gd name="adj" fmla="val 19048"/>
            </a:avLst>
          </a:prstGeom>
          <a:solidFill>
            <a:srgbClr val="DCEAF7"/>
          </a:solidFill>
          <a:ln w="12700">
            <a:solidFill>
              <a:srgbClr val="DCEAF7"/>
            </a:solidFill>
            <a:prstDash val="solid"/>
          </a:ln>
        </p:spPr>
      </p:sp>
      <p:sp>
        <p:nvSpPr>
          <p:cNvPr id="17" name="Text 15"/>
          <p:cNvSpPr/>
          <p:nvPr/>
        </p:nvSpPr>
        <p:spPr>
          <a:xfrm>
            <a:off x="914400" y="3300984"/>
            <a:ext cx="1143000" cy="182880"/>
          </a:xfrm>
          <a:prstGeom prst="rect">
            <a:avLst/>
          </a:prstGeom>
          <a:noFill/>
          <a:ln/>
        </p:spPr>
        <p:txBody>
          <a:bodyPr wrap="square" lIns="0" tIns="0" rIns="0" bIns="0" rtlCol="0" anchor="ctr"/>
          <a:lstStyle/>
          <a:p>
            <a:pPr algn="ctr" indent="0" marL="0">
              <a:buNone/>
            </a:pPr>
            <a:r>
              <a:rPr lang="en-US" sz="1050" b="1" dirty="0">
                <a:solidFill>
                  <a:srgbClr val="003366"/>
                </a:solidFill>
              </a:rPr>
              <a:t>25–40 mins</a:t>
            </a:r>
            <a:endParaRPr lang="en-US" sz="1050" dirty="0"/>
          </a:p>
        </p:txBody>
      </p:sp>
      <p:sp>
        <p:nvSpPr>
          <p:cNvPr id="18" name="Text 16"/>
          <p:cNvSpPr/>
          <p:nvPr/>
        </p:nvSpPr>
        <p:spPr>
          <a:xfrm>
            <a:off x="2331720" y="3291840"/>
            <a:ext cx="8686800" cy="228600"/>
          </a:xfrm>
          <a:prstGeom prst="rect">
            <a:avLst/>
          </a:prstGeom>
          <a:noFill/>
          <a:ln/>
        </p:spPr>
        <p:txBody>
          <a:bodyPr wrap="square" lIns="0" tIns="0" rIns="0" bIns="0" rtlCol="0" anchor="ctr"/>
          <a:lstStyle/>
          <a:p>
            <a:pPr indent="0" marL="0">
              <a:buNone/>
            </a:pPr>
            <a:r>
              <a:rPr lang="en-US" sz="1700" dirty="0">
                <a:solidFill>
                  <a:srgbClr val="333333"/>
                </a:solidFill>
              </a:rPr>
              <a:t>Architecture and main business flows</a:t>
            </a:r>
            <a:endParaRPr lang="en-US" sz="1700" dirty="0"/>
          </a:p>
        </p:txBody>
      </p:sp>
      <p:sp>
        <p:nvSpPr>
          <p:cNvPr id="19" name="Shape 17"/>
          <p:cNvSpPr/>
          <p:nvPr/>
        </p:nvSpPr>
        <p:spPr>
          <a:xfrm>
            <a:off x="868680" y="3867912"/>
            <a:ext cx="1234440" cy="384048"/>
          </a:xfrm>
          <a:prstGeom prst="roundRect">
            <a:avLst>
              <a:gd name="adj" fmla="val 19048"/>
            </a:avLst>
          </a:prstGeom>
          <a:solidFill>
            <a:srgbClr val="FCE8D8"/>
          </a:solidFill>
          <a:ln w="12700">
            <a:solidFill>
              <a:srgbClr val="FCE8D8"/>
            </a:solidFill>
            <a:prstDash val="solid"/>
          </a:ln>
        </p:spPr>
      </p:sp>
      <p:sp>
        <p:nvSpPr>
          <p:cNvPr id="20" name="Text 18"/>
          <p:cNvSpPr/>
          <p:nvPr/>
        </p:nvSpPr>
        <p:spPr>
          <a:xfrm>
            <a:off x="914400" y="3959352"/>
            <a:ext cx="1143000" cy="182880"/>
          </a:xfrm>
          <a:prstGeom prst="rect">
            <a:avLst/>
          </a:prstGeom>
          <a:noFill/>
          <a:ln/>
        </p:spPr>
        <p:txBody>
          <a:bodyPr wrap="square" lIns="0" tIns="0" rIns="0" bIns="0" rtlCol="0" anchor="ctr"/>
          <a:lstStyle/>
          <a:p>
            <a:pPr algn="ctr" indent="0" marL="0">
              <a:buNone/>
            </a:pPr>
            <a:r>
              <a:rPr lang="en-US" sz="1050" b="1" dirty="0">
                <a:solidFill>
                  <a:srgbClr val="003366"/>
                </a:solidFill>
              </a:rPr>
              <a:t>40–45 mins</a:t>
            </a:r>
            <a:endParaRPr lang="en-US" sz="1050" dirty="0"/>
          </a:p>
        </p:txBody>
      </p:sp>
      <p:sp>
        <p:nvSpPr>
          <p:cNvPr id="21" name="Text 19"/>
          <p:cNvSpPr/>
          <p:nvPr/>
        </p:nvSpPr>
        <p:spPr>
          <a:xfrm>
            <a:off x="2331720" y="3950208"/>
            <a:ext cx="8686800" cy="228600"/>
          </a:xfrm>
          <a:prstGeom prst="rect">
            <a:avLst/>
          </a:prstGeom>
          <a:noFill/>
          <a:ln/>
        </p:spPr>
        <p:txBody>
          <a:bodyPr wrap="square" lIns="0" tIns="0" rIns="0" bIns="0" rtlCol="0" anchor="ctr"/>
          <a:lstStyle/>
          <a:p>
            <a:pPr indent="0" marL="0">
              <a:buNone/>
            </a:pPr>
            <a:r>
              <a:rPr lang="en-US" sz="1700" dirty="0">
                <a:solidFill>
                  <a:srgbClr val="333333"/>
                </a:solidFill>
              </a:rPr>
              <a:t>Validation framework and design point</a:t>
            </a:r>
            <a:endParaRPr lang="en-US" sz="1700" dirty="0"/>
          </a:p>
        </p:txBody>
      </p:sp>
      <p:sp>
        <p:nvSpPr>
          <p:cNvPr id="22" name="Shape 20"/>
          <p:cNvSpPr/>
          <p:nvPr/>
        </p:nvSpPr>
        <p:spPr>
          <a:xfrm>
            <a:off x="868680" y="4526280"/>
            <a:ext cx="1234440" cy="384048"/>
          </a:xfrm>
          <a:prstGeom prst="roundRect">
            <a:avLst>
              <a:gd name="adj" fmla="val 19048"/>
            </a:avLst>
          </a:prstGeom>
          <a:solidFill>
            <a:srgbClr val="FCE8D8"/>
          </a:solidFill>
          <a:ln w="12700">
            <a:solidFill>
              <a:srgbClr val="FCE8D8"/>
            </a:solidFill>
            <a:prstDash val="solid"/>
          </a:ln>
        </p:spPr>
      </p:sp>
      <p:sp>
        <p:nvSpPr>
          <p:cNvPr id="23" name="Text 21"/>
          <p:cNvSpPr/>
          <p:nvPr/>
        </p:nvSpPr>
        <p:spPr>
          <a:xfrm>
            <a:off x="914400" y="4617720"/>
            <a:ext cx="1143000" cy="182880"/>
          </a:xfrm>
          <a:prstGeom prst="rect">
            <a:avLst/>
          </a:prstGeom>
          <a:noFill/>
          <a:ln/>
        </p:spPr>
        <p:txBody>
          <a:bodyPr wrap="square" lIns="0" tIns="0" rIns="0" bIns="0" rtlCol="0" anchor="ctr"/>
          <a:lstStyle/>
          <a:p>
            <a:pPr algn="ctr" indent="0" marL="0">
              <a:buNone/>
            </a:pPr>
            <a:r>
              <a:rPr lang="en-US" sz="1050" b="1" dirty="0">
                <a:solidFill>
                  <a:srgbClr val="003366"/>
                </a:solidFill>
              </a:rPr>
              <a:t>45–60 mins</a:t>
            </a:r>
            <a:endParaRPr lang="en-US" sz="1050" dirty="0"/>
          </a:p>
        </p:txBody>
      </p:sp>
      <p:sp>
        <p:nvSpPr>
          <p:cNvPr id="24" name="Text 22"/>
          <p:cNvSpPr/>
          <p:nvPr/>
        </p:nvSpPr>
        <p:spPr>
          <a:xfrm>
            <a:off x="2331720" y="4608576"/>
            <a:ext cx="8686800" cy="228600"/>
          </a:xfrm>
          <a:prstGeom prst="rect">
            <a:avLst/>
          </a:prstGeom>
          <a:noFill/>
          <a:ln/>
        </p:spPr>
        <p:txBody>
          <a:bodyPr wrap="square" lIns="0" tIns="0" rIns="0" bIns="0" rtlCol="0" anchor="ctr"/>
          <a:lstStyle/>
          <a:p>
            <a:pPr indent="0" marL="0">
              <a:buNone/>
            </a:pPr>
            <a:r>
              <a:rPr lang="en-US" sz="1700" dirty="0">
                <a:solidFill>
                  <a:srgbClr val="333333"/>
                </a:solidFill>
              </a:rPr>
              <a:t>High-level code orientation and questions</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0972800" cy="384048"/>
          </a:xfrm>
          <a:prstGeom prst="rect">
            <a:avLst/>
          </a:prstGeom>
          <a:noFill/>
          <a:ln/>
        </p:spPr>
        <p:txBody>
          <a:bodyPr wrap="square" lIns="0" tIns="0" rIns="0" bIns="0" rtlCol="0" anchor="ctr"/>
          <a:lstStyle/>
          <a:p>
            <a:pPr indent="0" marL="0">
              <a:buNone/>
            </a:pPr>
            <a:r>
              <a:rPr lang="en-US" sz="2600" b="1" dirty="0">
                <a:solidFill>
                  <a:srgbClr val="003366"/>
                </a:solidFill>
                <a:latin typeface="Arial" pitchFamily="34" charset="0"/>
                <a:ea typeface="Arial" pitchFamily="34" charset="-122"/>
                <a:cs typeface="Arial" pitchFamily="34" charset="-120"/>
              </a:rPr>
              <a:t>Business Context</a:t>
            </a:r>
            <a:endParaRPr lang="en-US" sz="2600" dirty="0"/>
          </a:p>
        </p:txBody>
      </p:sp>
      <p:sp>
        <p:nvSpPr>
          <p:cNvPr id="3" name="Text 1"/>
          <p:cNvSpPr/>
          <p:nvPr/>
        </p:nvSpPr>
        <p:spPr>
          <a:xfrm>
            <a:off x="521208" y="749808"/>
            <a:ext cx="10515600" cy="228600"/>
          </a:xfrm>
          <a:prstGeom prst="rect">
            <a:avLst/>
          </a:prstGeom>
          <a:noFill/>
          <a:ln/>
        </p:spPr>
        <p:txBody>
          <a:bodyPr wrap="square" lIns="0" tIns="0" rIns="0" bIns="0" rtlCol="0" anchor="ctr"/>
          <a:lstStyle/>
          <a:p>
            <a:pPr indent="0" marL="0">
              <a:buNone/>
            </a:pPr>
            <a:r>
              <a:rPr lang="en-US" sz="1050" dirty="0">
                <a:solidFill>
                  <a:srgbClr val="666666"/>
                </a:solidFill>
              </a:rPr>
              <a:t>Why licensing matters in CDS</a:t>
            </a:r>
            <a:endParaRPr lang="en-US" sz="1050" dirty="0"/>
          </a:p>
        </p:txBody>
      </p:sp>
      <p:sp>
        <p:nvSpPr>
          <p:cNvPr id="4" name="Shape 2"/>
          <p:cNvSpPr/>
          <p:nvPr/>
        </p:nvSpPr>
        <p:spPr>
          <a:xfrm>
            <a:off x="457200" y="6355080"/>
            <a:ext cx="11274552" cy="0"/>
          </a:xfrm>
          <a:prstGeom prst="line">
            <a:avLst/>
          </a:prstGeom>
          <a:noFill/>
          <a:ln w="8890">
            <a:solidFill>
              <a:srgbClr val="D9DEE3"/>
            </a:solidFill>
            <a:prstDash val="solid"/>
          </a:ln>
        </p:spPr>
      </p:sp>
      <p:sp>
        <p:nvSpPr>
          <p:cNvPr id="5" name="Text 3"/>
          <p:cNvSpPr/>
          <p:nvPr/>
        </p:nvSpPr>
        <p:spPr>
          <a:xfrm>
            <a:off x="457200" y="6419088"/>
            <a:ext cx="7315200" cy="228600"/>
          </a:xfrm>
          <a:prstGeom prst="rect">
            <a:avLst/>
          </a:prstGeom>
          <a:noFill/>
          <a:ln/>
        </p:spPr>
        <p:txBody>
          <a:bodyPr wrap="square" rtlCol="0" anchor="ctr"/>
          <a:lstStyle/>
          <a:p>
            <a:pPr indent="0" marL="0">
              <a:buNone/>
            </a:pPr>
            <a:r>
              <a:rPr lang="en-US" sz="850" dirty="0">
                <a:solidFill>
                  <a:srgbClr val="666666"/>
                </a:solidFill>
                <a:latin typeface="Arial" pitchFamily="34" charset="0"/>
                <a:ea typeface="Arial" pitchFamily="34" charset="-122"/>
                <a:cs typeface="Arial" pitchFamily="34" charset="-120"/>
              </a:rPr>
              <a:t>ILMS Knowledge Transfer | Architecture Overview</a:t>
            </a:r>
            <a:endParaRPr lang="en-US" sz="850" dirty="0"/>
          </a:p>
        </p:txBody>
      </p:sp>
      <p:sp>
        <p:nvSpPr>
          <p:cNvPr id="6" name="Text 4"/>
          <p:cNvSpPr/>
          <p:nvPr/>
        </p:nvSpPr>
        <p:spPr>
          <a:xfrm>
            <a:off x="11292840" y="6419088"/>
            <a:ext cx="457200" cy="228600"/>
          </a:xfrm>
          <a:prstGeom prst="rect">
            <a:avLst/>
          </a:prstGeom>
          <a:noFill/>
          <a:ln/>
        </p:spPr>
        <p:txBody>
          <a:bodyPr wrap="square" rtlCol="0" anchor="ctr"/>
          <a:lstStyle/>
          <a:p>
            <a:pPr algn="r" indent="0" marL="0">
              <a:buNone/>
            </a:pPr>
            <a:r>
              <a:rPr lang="en-US" sz="850" dirty="0">
                <a:solidFill>
                  <a:srgbClr val="666666"/>
                </a:solidFill>
              </a:rPr>
              <a:t>4</a:t>
            </a:r>
            <a:endParaRPr lang="en-US" sz="850" dirty="0"/>
          </a:p>
        </p:txBody>
      </p:sp>
      <p:sp>
        <p:nvSpPr>
          <p:cNvPr id="7" name="Text 5"/>
          <p:cNvSpPr/>
          <p:nvPr/>
        </p:nvSpPr>
        <p:spPr>
          <a:xfrm>
            <a:off x="685800" y="1143000"/>
            <a:ext cx="5623560" cy="2560320"/>
          </a:xfrm>
          <a:prstGeom prst="rect">
            <a:avLst/>
          </a:prstGeom>
          <a:noFill/>
          <a:ln/>
        </p:spPr>
        <p:txBody>
          <a:bodyPr wrap="square" lIns="1016" tIns="1016" rIns="1016" bIns="1016" rtlCol="0" anchor="t">
            <a:normAutofit/>
          </a:bodyPr>
          <a:lstStyle/>
          <a:p>
            <a:r>
              <a:rPr lang="en-US" sz="1700" dirty="0">
                <a:solidFill>
                  <a:srgbClr val="333333"/>
                </a:solidFill>
              </a:rPr>
              <a:t>Certain imports and exports require licences issued by Other Government Departments (OGDs).</a:t>
            </a:r>
            <a:endParaRPr lang="en-US" sz="1700" dirty="0"/>
          </a:p>
          <a:p>
            <a:r>
              <a:rPr lang="en-US" sz="1700" dirty="0">
                <a:solidFill>
                  <a:srgbClr val="333333"/>
                </a:solidFill>
              </a:rPr>
              <a:t>Typical issuing authorities include DBT and RPA.</a:t>
            </a:r>
            <a:endParaRPr lang="en-US" sz="1700" dirty="0"/>
          </a:p>
          <a:p>
            <a:r>
              <a:rPr lang="en-US" sz="1700" dirty="0">
                <a:solidFill>
                  <a:srgbClr val="333333"/>
                </a:solidFill>
              </a:rPr>
              <a:t>CDS needs access to licence information when processing customs declarations.</a:t>
            </a:r>
            <a:endParaRPr lang="en-US" sz="1700" dirty="0"/>
          </a:p>
          <a:p>
            <a:r>
              <a:rPr lang="en-US" sz="1700" dirty="0">
                <a:solidFill>
                  <a:srgbClr val="333333"/>
                </a:solidFill>
              </a:rPr>
              <a:t>ILMS provides the local CDS capability to store, validate and manage licence data.</a:t>
            </a:r>
            <a:endParaRPr lang="en-US" sz="1700" dirty="0"/>
          </a:p>
        </p:txBody>
      </p:sp>
      <p:sp>
        <p:nvSpPr>
          <p:cNvPr id="8" name="Shape 6"/>
          <p:cNvSpPr/>
          <p:nvPr/>
        </p:nvSpPr>
        <p:spPr>
          <a:xfrm>
            <a:off x="6537960" y="1097280"/>
            <a:ext cx="4937760" cy="4343400"/>
          </a:xfrm>
          <a:prstGeom prst="rect">
            <a:avLst/>
          </a:prstGeom>
          <a:solidFill>
            <a:srgbClr val="F4F6F8">
              <a:alpha val="92000"/>
            </a:srgbClr>
          </a:solidFill>
          <a:ln w="17780">
            <a:solidFill>
              <a:srgbClr val="9AA7B2"/>
            </a:solidFill>
            <a:prstDash val="solid"/>
          </a:ln>
        </p:spPr>
      </p:sp>
      <p:sp>
        <p:nvSpPr>
          <p:cNvPr id="9" name="Text 7"/>
          <p:cNvSpPr/>
          <p:nvPr/>
        </p:nvSpPr>
        <p:spPr>
          <a:xfrm>
            <a:off x="6675120" y="3104388"/>
            <a:ext cx="4663440" cy="292608"/>
          </a:xfrm>
          <a:prstGeom prst="rect">
            <a:avLst/>
          </a:prstGeom>
          <a:noFill/>
          <a:ln/>
        </p:spPr>
        <p:txBody>
          <a:bodyPr wrap="square" lIns="0" tIns="0" rIns="0" bIns="0" rtlCol="0" anchor="ctr"/>
          <a:lstStyle/>
          <a:p>
            <a:pPr algn="ctr" indent="0" marL="0">
              <a:buNone/>
            </a:pPr>
            <a:r>
              <a:rPr lang="en-US" sz="1800" b="1" dirty="0">
                <a:solidFill>
                  <a:srgbClr val="697886"/>
                </a:solidFill>
              </a:rPr>
              <a:t>INSERT BUSINESS CONTEXT / OVERVIEW DIAGRAM</a:t>
            </a:r>
            <a:endParaRPr lang="en-US" sz="1800" dirty="0"/>
          </a:p>
        </p:txBody>
      </p:sp>
      <p:sp>
        <p:nvSpPr>
          <p:cNvPr id="10" name="Text 8"/>
          <p:cNvSpPr/>
          <p:nvPr/>
        </p:nvSpPr>
        <p:spPr>
          <a:xfrm>
            <a:off x="6766560" y="5056632"/>
            <a:ext cx="4480560" cy="228600"/>
          </a:xfrm>
          <a:prstGeom prst="rect">
            <a:avLst/>
          </a:prstGeom>
          <a:noFill/>
          <a:ln/>
        </p:spPr>
        <p:txBody>
          <a:bodyPr wrap="square" lIns="0" tIns="0" rIns="0" bIns="0" rtlCol="0" anchor="ctr"/>
          <a:lstStyle/>
          <a:p>
            <a:pPr algn="ctr" indent="0" marL="0">
              <a:buNone/>
            </a:pPr>
            <a:r>
              <a:rPr lang="en-US" sz="850" dirty="0">
                <a:solidFill>
                  <a:srgbClr val="697886"/>
                </a:solidFill>
              </a:rPr>
              <a:t>Suggested source: ILMS Service Context / Overview</a:t>
            </a:r>
            <a:endParaRPr lang="en-US" sz="850" dirty="0"/>
          </a:p>
        </p:txBody>
      </p:sp>
      <p:sp>
        <p:nvSpPr>
          <p:cNvPr id="11" name="Shape 9"/>
          <p:cNvSpPr/>
          <p:nvPr/>
        </p:nvSpPr>
        <p:spPr>
          <a:xfrm>
            <a:off x="822960" y="4251960"/>
            <a:ext cx="5257800" cy="1143000"/>
          </a:xfrm>
          <a:prstGeom prst="roundRect">
            <a:avLst>
              <a:gd name="adj" fmla="val 4800"/>
            </a:avLst>
          </a:prstGeom>
          <a:solidFill>
            <a:srgbClr val="F3F8FC"/>
          </a:solidFill>
          <a:ln w="12700">
            <a:solidFill>
              <a:srgbClr val="1F5E99"/>
            </a:solidFill>
            <a:prstDash val="solid"/>
          </a:ln>
        </p:spPr>
      </p:sp>
      <p:sp>
        <p:nvSpPr>
          <p:cNvPr id="12" name="Text 10"/>
          <p:cNvSpPr/>
          <p:nvPr/>
        </p:nvSpPr>
        <p:spPr>
          <a:xfrm>
            <a:off x="932688" y="4379976"/>
            <a:ext cx="5038344" cy="886968"/>
          </a:xfrm>
          <a:prstGeom prst="rect">
            <a:avLst/>
          </a:prstGeom>
          <a:noFill/>
          <a:ln/>
        </p:spPr>
        <p:txBody>
          <a:bodyPr wrap="square" lIns="0" tIns="0" rIns="0" bIns="0" rtlCol="0" anchor="ctr">
            <a:normAutofit/>
          </a:bodyPr>
          <a:lstStyle/>
          <a:p>
            <a:pPr algn="ctr" indent="0" marL="0">
              <a:buNone/>
            </a:pPr>
            <a:r>
              <a:rPr lang="en-US" sz="1400" b="1" dirty="0">
                <a:solidFill>
                  <a:srgbClr val="333333"/>
                </a:solidFill>
              </a:rPr>
              <a:t>Simple definition</a:t>
            </a:r>
            <a:endParaRPr lang="en-US" sz="1400" dirty="0"/>
          </a:p>
          <a:p>
            <a:pPr algn="ctr" indent="0" marL="0">
              <a:buNone/>
            </a:pPr>
            <a:endParaRPr lang="en-US" sz="1400" dirty="0"/>
          </a:p>
          <a:p>
            <a:pPr algn="ctr" indent="0" marL="0">
              <a:buNone/>
            </a:pPr>
            <a:r>
              <a:rPr lang="en-US" sz="1400" b="1" dirty="0">
                <a:solidFill>
                  <a:srgbClr val="333333"/>
                </a:solidFill>
              </a:rPr>
              <a:t>ILMS is the central licence repository used by CDS to store, validate and manage government-issued import and export licences.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0972800" cy="384048"/>
          </a:xfrm>
          <a:prstGeom prst="rect">
            <a:avLst/>
          </a:prstGeom>
          <a:noFill/>
          <a:ln/>
        </p:spPr>
        <p:txBody>
          <a:bodyPr wrap="square" lIns="0" tIns="0" rIns="0" bIns="0" rtlCol="0" anchor="ctr"/>
          <a:lstStyle/>
          <a:p>
            <a:pPr indent="0" marL="0">
              <a:buNone/>
            </a:pPr>
            <a:r>
              <a:rPr lang="en-US" sz="2600" b="1" dirty="0">
                <a:solidFill>
                  <a:srgbClr val="003366"/>
                </a:solidFill>
                <a:latin typeface="Arial" pitchFamily="34" charset="0"/>
                <a:ea typeface="Arial" pitchFamily="34" charset="-122"/>
                <a:cs typeface="Arial" pitchFamily="34" charset="-120"/>
              </a:rPr>
              <a:t>Key Terms and Systems</a:t>
            </a:r>
            <a:endParaRPr lang="en-US" sz="2600" dirty="0"/>
          </a:p>
        </p:txBody>
      </p:sp>
      <p:sp>
        <p:nvSpPr>
          <p:cNvPr id="3" name="Text 1"/>
          <p:cNvSpPr/>
          <p:nvPr/>
        </p:nvSpPr>
        <p:spPr>
          <a:xfrm>
            <a:off x="521208" y="749808"/>
            <a:ext cx="10515600" cy="228600"/>
          </a:xfrm>
          <a:prstGeom prst="rect">
            <a:avLst/>
          </a:prstGeom>
          <a:noFill/>
          <a:ln/>
        </p:spPr>
        <p:txBody>
          <a:bodyPr wrap="square" lIns="0" tIns="0" rIns="0" bIns="0" rtlCol="0" anchor="ctr"/>
          <a:lstStyle/>
          <a:p>
            <a:pPr indent="0" marL="0">
              <a:buNone/>
            </a:pPr>
            <a:r>
              <a:rPr lang="en-US" sz="1050" dirty="0">
                <a:solidFill>
                  <a:srgbClr val="666666"/>
                </a:solidFill>
              </a:rPr>
              <a:t>Useful language before the architecture</a:t>
            </a:r>
            <a:endParaRPr lang="en-US" sz="1050" dirty="0"/>
          </a:p>
        </p:txBody>
      </p:sp>
      <p:sp>
        <p:nvSpPr>
          <p:cNvPr id="4" name="Shape 2"/>
          <p:cNvSpPr/>
          <p:nvPr/>
        </p:nvSpPr>
        <p:spPr>
          <a:xfrm>
            <a:off x="457200" y="6355080"/>
            <a:ext cx="11274552" cy="0"/>
          </a:xfrm>
          <a:prstGeom prst="line">
            <a:avLst/>
          </a:prstGeom>
          <a:noFill/>
          <a:ln w="8890">
            <a:solidFill>
              <a:srgbClr val="D9DEE3"/>
            </a:solidFill>
            <a:prstDash val="solid"/>
          </a:ln>
        </p:spPr>
      </p:sp>
      <p:sp>
        <p:nvSpPr>
          <p:cNvPr id="5" name="Text 3"/>
          <p:cNvSpPr/>
          <p:nvPr/>
        </p:nvSpPr>
        <p:spPr>
          <a:xfrm>
            <a:off x="457200" y="6419088"/>
            <a:ext cx="7315200" cy="228600"/>
          </a:xfrm>
          <a:prstGeom prst="rect">
            <a:avLst/>
          </a:prstGeom>
          <a:noFill/>
          <a:ln/>
        </p:spPr>
        <p:txBody>
          <a:bodyPr wrap="square" rtlCol="0" anchor="ctr"/>
          <a:lstStyle/>
          <a:p>
            <a:pPr indent="0" marL="0">
              <a:buNone/>
            </a:pPr>
            <a:r>
              <a:rPr lang="en-US" sz="850" dirty="0">
                <a:solidFill>
                  <a:srgbClr val="666666"/>
                </a:solidFill>
                <a:latin typeface="Arial" pitchFamily="34" charset="0"/>
                <a:ea typeface="Arial" pitchFamily="34" charset="-122"/>
                <a:cs typeface="Arial" pitchFamily="34" charset="-120"/>
              </a:rPr>
              <a:t>ILMS Knowledge Transfer | Architecture Overview</a:t>
            </a:r>
            <a:endParaRPr lang="en-US" sz="850" dirty="0"/>
          </a:p>
        </p:txBody>
      </p:sp>
      <p:sp>
        <p:nvSpPr>
          <p:cNvPr id="6" name="Text 4"/>
          <p:cNvSpPr/>
          <p:nvPr/>
        </p:nvSpPr>
        <p:spPr>
          <a:xfrm>
            <a:off x="11292840" y="6419088"/>
            <a:ext cx="457200" cy="228600"/>
          </a:xfrm>
          <a:prstGeom prst="rect">
            <a:avLst/>
          </a:prstGeom>
          <a:noFill/>
          <a:ln/>
        </p:spPr>
        <p:txBody>
          <a:bodyPr wrap="square" rtlCol="0" anchor="ctr"/>
          <a:lstStyle/>
          <a:p>
            <a:pPr algn="r" indent="0" marL="0">
              <a:buNone/>
            </a:pPr>
            <a:r>
              <a:rPr lang="en-US" sz="850" dirty="0">
                <a:solidFill>
                  <a:srgbClr val="666666"/>
                </a:solidFill>
              </a:rPr>
              <a:t>5</a:t>
            </a:r>
            <a:endParaRPr lang="en-US" sz="850" dirty="0"/>
          </a:p>
        </p:txBody>
      </p:sp>
      <p:sp>
        <p:nvSpPr>
          <p:cNvPr id="7" name="Shape 5"/>
          <p:cNvSpPr/>
          <p:nvPr/>
        </p:nvSpPr>
        <p:spPr>
          <a:xfrm>
            <a:off x="685800" y="1051560"/>
            <a:ext cx="1920240" cy="438912"/>
          </a:xfrm>
          <a:prstGeom prst="roundRect">
            <a:avLst>
              <a:gd name="adj" fmla="val 12500"/>
            </a:avLst>
          </a:prstGeom>
          <a:solidFill>
            <a:srgbClr val="F3F8FC"/>
          </a:solidFill>
          <a:ln w="12700">
            <a:solidFill>
              <a:srgbClr val="D9DEE3"/>
            </a:solidFill>
            <a:prstDash val="solid"/>
          </a:ln>
        </p:spPr>
      </p:sp>
      <p:sp>
        <p:nvSpPr>
          <p:cNvPr id="8" name="Text 6"/>
          <p:cNvSpPr/>
          <p:nvPr/>
        </p:nvSpPr>
        <p:spPr>
          <a:xfrm>
            <a:off x="795528" y="1179576"/>
            <a:ext cx="1700784" cy="182880"/>
          </a:xfrm>
          <a:prstGeom prst="rect">
            <a:avLst/>
          </a:prstGeom>
          <a:noFill/>
          <a:ln/>
        </p:spPr>
        <p:txBody>
          <a:bodyPr wrap="square" lIns="0" tIns="0" rIns="0" bIns="0" rtlCol="0" anchor="ctr">
            <a:normAutofit/>
          </a:bodyPr>
          <a:lstStyle/>
          <a:p>
            <a:pPr algn="ctr" indent="0" marL="0">
              <a:buNone/>
            </a:pPr>
            <a:r>
              <a:rPr lang="en-US" sz="1100" b="1" dirty="0">
                <a:solidFill>
                  <a:srgbClr val="333333"/>
                </a:solidFill>
              </a:rPr>
              <a:t>ILMS</a:t>
            </a:r>
            <a:endParaRPr lang="en-US" sz="1100" dirty="0"/>
          </a:p>
        </p:txBody>
      </p:sp>
      <p:sp>
        <p:nvSpPr>
          <p:cNvPr id="9" name="Text 7"/>
          <p:cNvSpPr/>
          <p:nvPr/>
        </p:nvSpPr>
        <p:spPr>
          <a:xfrm>
            <a:off x="2788920" y="1143000"/>
            <a:ext cx="8595360" cy="228600"/>
          </a:xfrm>
          <a:prstGeom prst="rect">
            <a:avLst/>
          </a:prstGeom>
          <a:noFill/>
          <a:ln/>
        </p:spPr>
        <p:txBody>
          <a:bodyPr wrap="square" lIns="0" tIns="0" rIns="0" bIns="0" rtlCol="0" anchor="ctr"/>
          <a:lstStyle/>
          <a:p>
            <a:pPr indent="0" marL="0">
              <a:buNone/>
            </a:pPr>
            <a:r>
              <a:rPr lang="en-US" sz="1250" dirty="0">
                <a:solidFill>
                  <a:srgbClr val="333333"/>
                </a:solidFill>
              </a:rPr>
              <a:t>Internal Licence Management Service; manages internal electronic licences.</a:t>
            </a:r>
            <a:endParaRPr lang="en-US" sz="1250" dirty="0"/>
          </a:p>
        </p:txBody>
      </p:sp>
      <p:sp>
        <p:nvSpPr>
          <p:cNvPr id="10" name="Shape 8"/>
          <p:cNvSpPr/>
          <p:nvPr/>
        </p:nvSpPr>
        <p:spPr>
          <a:xfrm>
            <a:off x="685800" y="1627632"/>
            <a:ext cx="1920240" cy="438912"/>
          </a:xfrm>
          <a:prstGeom prst="roundRect">
            <a:avLst>
              <a:gd name="adj" fmla="val 12500"/>
            </a:avLst>
          </a:prstGeom>
          <a:solidFill>
            <a:srgbClr val="FFFFFF"/>
          </a:solidFill>
          <a:ln w="12700">
            <a:solidFill>
              <a:srgbClr val="D9DEE3"/>
            </a:solidFill>
            <a:prstDash val="solid"/>
          </a:ln>
        </p:spPr>
      </p:sp>
      <p:sp>
        <p:nvSpPr>
          <p:cNvPr id="11" name="Text 9"/>
          <p:cNvSpPr/>
          <p:nvPr/>
        </p:nvSpPr>
        <p:spPr>
          <a:xfrm>
            <a:off x="795528" y="1755648"/>
            <a:ext cx="1700784" cy="182880"/>
          </a:xfrm>
          <a:prstGeom prst="rect">
            <a:avLst/>
          </a:prstGeom>
          <a:noFill/>
          <a:ln/>
        </p:spPr>
        <p:txBody>
          <a:bodyPr wrap="square" lIns="0" tIns="0" rIns="0" bIns="0" rtlCol="0" anchor="ctr">
            <a:normAutofit/>
          </a:bodyPr>
          <a:lstStyle/>
          <a:p>
            <a:pPr algn="ctr" indent="0" marL="0">
              <a:buNone/>
            </a:pPr>
            <a:r>
              <a:rPr lang="en-US" sz="1100" b="1" dirty="0">
                <a:solidFill>
                  <a:srgbClr val="333333"/>
                </a:solidFill>
              </a:rPr>
              <a:t>DMS</a:t>
            </a:r>
            <a:endParaRPr lang="en-US" sz="1100" dirty="0"/>
          </a:p>
        </p:txBody>
      </p:sp>
      <p:sp>
        <p:nvSpPr>
          <p:cNvPr id="12" name="Text 10"/>
          <p:cNvSpPr/>
          <p:nvPr/>
        </p:nvSpPr>
        <p:spPr>
          <a:xfrm>
            <a:off x="2788920" y="1719072"/>
            <a:ext cx="8595360" cy="228600"/>
          </a:xfrm>
          <a:prstGeom prst="rect">
            <a:avLst/>
          </a:prstGeom>
          <a:noFill/>
          <a:ln/>
        </p:spPr>
        <p:txBody>
          <a:bodyPr wrap="square" lIns="0" tIns="0" rIns="0" bIns="0" rtlCol="0" anchor="ctr"/>
          <a:lstStyle/>
          <a:p>
            <a:pPr indent="0" marL="0">
              <a:buNone/>
            </a:pPr>
            <a:r>
              <a:rPr lang="en-US" sz="1250" dirty="0">
                <a:solidFill>
                  <a:srgbClr val="333333"/>
                </a:solidFill>
              </a:rPr>
              <a:t>Declaration Management Service; identifies declarations containing licences.</a:t>
            </a:r>
            <a:endParaRPr lang="en-US" sz="1250" dirty="0"/>
          </a:p>
        </p:txBody>
      </p:sp>
      <p:sp>
        <p:nvSpPr>
          <p:cNvPr id="13" name="Shape 11"/>
          <p:cNvSpPr/>
          <p:nvPr/>
        </p:nvSpPr>
        <p:spPr>
          <a:xfrm>
            <a:off x="685800" y="2203704"/>
            <a:ext cx="1920240" cy="438912"/>
          </a:xfrm>
          <a:prstGeom prst="roundRect">
            <a:avLst>
              <a:gd name="adj" fmla="val 12500"/>
            </a:avLst>
          </a:prstGeom>
          <a:solidFill>
            <a:srgbClr val="F3F8FC"/>
          </a:solidFill>
          <a:ln w="12700">
            <a:solidFill>
              <a:srgbClr val="D9DEE3"/>
            </a:solidFill>
            <a:prstDash val="solid"/>
          </a:ln>
        </p:spPr>
      </p:sp>
      <p:sp>
        <p:nvSpPr>
          <p:cNvPr id="14" name="Text 12"/>
          <p:cNvSpPr/>
          <p:nvPr/>
        </p:nvSpPr>
        <p:spPr>
          <a:xfrm>
            <a:off x="795528" y="2331720"/>
            <a:ext cx="1700784" cy="182880"/>
          </a:xfrm>
          <a:prstGeom prst="rect">
            <a:avLst/>
          </a:prstGeom>
          <a:noFill/>
          <a:ln/>
        </p:spPr>
        <p:txBody>
          <a:bodyPr wrap="square" lIns="0" tIns="0" rIns="0" bIns="0" rtlCol="0" anchor="ctr">
            <a:normAutofit/>
          </a:bodyPr>
          <a:lstStyle/>
          <a:p>
            <a:pPr algn="ctr" indent="0" marL="0">
              <a:buNone/>
            </a:pPr>
            <a:r>
              <a:rPr lang="en-US" sz="1100" b="1" dirty="0">
                <a:solidFill>
                  <a:srgbClr val="333333"/>
                </a:solidFill>
              </a:rPr>
              <a:t>OGD / Issuing Authority</a:t>
            </a:r>
            <a:endParaRPr lang="en-US" sz="1100" dirty="0"/>
          </a:p>
        </p:txBody>
      </p:sp>
      <p:sp>
        <p:nvSpPr>
          <p:cNvPr id="15" name="Text 13"/>
          <p:cNvSpPr/>
          <p:nvPr/>
        </p:nvSpPr>
        <p:spPr>
          <a:xfrm>
            <a:off x="2788920" y="2295144"/>
            <a:ext cx="8595360" cy="228600"/>
          </a:xfrm>
          <a:prstGeom prst="rect">
            <a:avLst/>
          </a:prstGeom>
          <a:noFill/>
          <a:ln/>
        </p:spPr>
        <p:txBody>
          <a:bodyPr wrap="square" lIns="0" tIns="0" rIns="0" bIns="0" rtlCol="0" anchor="ctr"/>
          <a:lstStyle/>
          <a:p>
            <a:pPr indent="0" marL="0">
              <a:buNone/>
            </a:pPr>
            <a:r>
              <a:rPr lang="en-US" sz="1250" dirty="0">
                <a:solidFill>
                  <a:srgbClr val="333333"/>
                </a:solidFill>
              </a:rPr>
              <a:t>Government department that issues the licence, for example DBT or RPA.</a:t>
            </a:r>
            <a:endParaRPr lang="en-US" sz="1250" dirty="0"/>
          </a:p>
        </p:txBody>
      </p:sp>
      <p:sp>
        <p:nvSpPr>
          <p:cNvPr id="16" name="Shape 14"/>
          <p:cNvSpPr/>
          <p:nvPr/>
        </p:nvSpPr>
        <p:spPr>
          <a:xfrm>
            <a:off x="685800" y="2779776"/>
            <a:ext cx="1920240" cy="438912"/>
          </a:xfrm>
          <a:prstGeom prst="roundRect">
            <a:avLst>
              <a:gd name="adj" fmla="val 12500"/>
            </a:avLst>
          </a:prstGeom>
          <a:solidFill>
            <a:srgbClr val="FFFFFF"/>
          </a:solidFill>
          <a:ln w="12700">
            <a:solidFill>
              <a:srgbClr val="D9DEE3"/>
            </a:solidFill>
            <a:prstDash val="solid"/>
          </a:ln>
        </p:spPr>
      </p:sp>
      <p:sp>
        <p:nvSpPr>
          <p:cNvPr id="17" name="Text 15"/>
          <p:cNvSpPr/>
          <p:nvPr/>
        </p:nvSpPr>
        <p:spPr>
          <a:xfrm>
            <a:off x="795528" y="2907792"/>
            <a:ext cx="1700784" cy="182880"/>
          </a:xfrm>
          <a:prstGeom prst="rect">
            <a:avLst/>
          </a:prstGeom>
          <a:noFill/>
          <a:ln/>
        </p:spPr>
        <p:txBody>
          <a:bodyPr wrap="square" lIns="0" tIns="0" rIns="0" bIns="0" rtlCol="0" anchor="ctr">
            <a:normAutofit/>
          </a:bodyPr>
          <a:lstStyle/>
          <a:p>
            <a:pPr algn="ctr" indent="0" marL="0">
              <a:buNone/>
            </a:pPr>
            <a:r>
              <a:rPr lang="en-US" sz="1100" b="1" dirty="0">
                <a:solidFill>
                  <a:srgbClr val="333333"/>
                </a:solidFill>
              </a:rPr>
              <a:t>Licence vs Authorisation</a:t>
            </a:r>
            <a:endParaRPr lang="en-US" sz="1100" dirty="0"/>
          </a:p>
        </p:txBody>
      </p:sp>
      <p:sp>
        <p:nvSpPr>
          <p:cNvPr id="18" name="Text 16"/>
          <p:cNvSpPr/>
          <p:nvPr/>
        </p:nvSpPr>
        <p:spPr>
          <a:xfrm>
            <a:off x="2788920" y="2871216"/>
            <a:ext cx="8595360" cy="228600"/>
          </a:xfrm>
          <a:prstGeom prst="rect">
            <a:avLst/>
          </a:prstGeom>
          <a:noFill/>
          <a:ln/>
        </p:spPr>
        <p:txBody>
          <a:bodyPr wrap="square" lIns="0" tIns="0" rIns="0" bIns="0" rtlCol="0" anchor="ctr"/>
          <a:lstStyle/>
          <a:p>
            <a:pPr indent="0" marL="0">
              <a:buNone/>
            </a:pPr>
            <a:r>
              <a:rPr lang="en-US" sz="1250" dirty="0">
                <a:solidFill>
                  <a:srgbClr val="333333"/>
                </a:solidFill>
              </a:rPr>
              <a:t>DMS documentation often says authorisation where HMRC licensing language says licence.</a:t>
            </a:r>
            <a:endParaRPr lang="en-US" sz="1250" dirty="0"/>
          </a:p>
        </p:txBody>
      </p:sp>
      <p:sp>
        <p:nvSpPr>
          <p:cNvPr id="19" name="Shape 17"/>
          <p:cNvSpPr/>
          <p:nvPr/>
        </p:nvSpPr>
        <p:spPr>
          <a:xfrm>
            <a:off x="685800" y="3355848"/>
            <a:ext cx="1920240" cy="438912"/>
          </a:xfrm>
          <a:prstGeom prst="roundRect">
            <a:avLst>
              <a:gd name="adj" fmla="val 12500"/>
            </a:avLst>
          </a:prstGeom>
          <a:solidFill>
            <a:srgbClr val="F3F8FC"/>
          </a:solidFill>
          <a:ln w="12700">
            <a:solidFill>
              <a:srgbClr val="D9DEE3"/>
            </a:solidFill>
            <a:prstDash val="solid"/>
          </a:ln>
        </p:spPr>
      </p:sp>
      <p:sp>
        <p:nvSpPr>
          <p:cNvPr id="20" name="Text 18"/>
          <p:cNvSpPr/>
          <p:nvPr/>
        </p:nvSpPr>
        <p:spPr>
          <a:xfrm>
            <a:off x="795528" y="3483864"/>
            <a:ext cx="1700784" cy="182880"/>
          </a:xfrm>
          <a:prstGeom prst="rect">
            <a:avLst/>
          </a:prstGeom>
          <a:noFill/>
          <a:ln/>
        </p:spPr>
        <p:txBody>
          <a:bodyPr wrap="square" lIns="0" tIns="0" rIns="0" bIns="0" rtlCol="0" anchor="ctr">
            <a:normAutofit/>
          </a:bodyPr>
          <a:lstStyle/>
          <a:p>
            <a:pPr algn="ctr" indent="0" marL="0">
              <a:buNone/>
            </a:pPr>
            <a:r>
              <a:rPr lang="en-US" sz="1100" b="1" dirty="0">
                <a:solidFill>
                  <a:srgbClr val="333333"/>
                </a:solidFill>
              </a:rPr>
              <a:t>EIS / MDTP</a:t>
            </a:r>
            <a:endParaRPr lang="en-US" sz="1100" dirty="0"/>
          </a:p>
        </p:txBody>
      </p:sp>
      <p:sp>
        <p:nvSpPr>
          <p:cNvPr id="21" name="Text 19"/>
          <p:cNvSpPr/>
          <p:nvPr/>
        </p:nvSpPr>
        <p:spPr>
          <a:xfrm>
            <a:off x="2788920" y="3447288"/>
            <a:ext cx="8595360" cy="228600"/>
          </a:xfrm>
          <a:prstGeom prst="rect">
            <a:avLst/>
          </a:prstGeom>
          <a:noFill/>
          <a:ln/>
        </p:spPr>
        <p:txBody>
          <a:bodyPr wrap="square" lIns="0" tIns="0" rIns="0" bIns="0" rtlCol="0" anchor="ctr"/>
          <a:lstStyle/>
          <a:p>
            <a:pPr indent="0" marL="0">
              <a:buNone/>
            </a:pPr>
            <a:r>
              <a:rPr lang="en-US" sz="1250" dirty="0">
                <a:solidFill>
                  <a:srgbClr val="333333"/>
                </a:solidFill>
              </a:rPr>
              <a:t>Integration and digital platform layers used to route messages and API traffic.</a:t>
            </a:r>
            <a:endParaRPr lang="en-US" sz="1250" dirty="0"/>
          </a:p>
        </p:txBody>
      </p:sp>
      <p:sp>
        <p:nvSpPr>
          <p:cNvPr id="22" name="Shape 20"/>
          <p:cNvSpPr/>
          <p:nvPr/>
        </p:nvSpPr>
        <p:spPr>
          <a:xfrm>
            <a:off x="685800" y="3931920"/>
            <a:ext cx="1920240" cy="438912"/>
          </a:xfrm>
          <a:prstGeom prst="roundRect">
            <a:avLst>
              <a:gd name="adj" fmla="val 12500"/>
            </a:avLst>
          </a:prstGeom>
          <a:solidFill>
            <a:srgbClr val="FFFFFF"/>
          </a:solidFill>
          <a:ln w="12700">
            <a:solidFill>
              <a:srgbClr val="D9DEE3"/>
            </a:solidFill>
            <a:prstDash val="solid"/>
          </a:ln>
        </p:spPr>
      </p:sp>
      <p:sp>
        <p:nvSpPr>
          <p:cNvPr id="23" name="Text 21"/>
          <p:cNvSpPr/>
          <p:nvPr/>
        </p:nvSpPr>
        <p:spPr>
          <a:xfrm>
            <a:off x="795528" y="4059936"/>
            <a:ext cx="1700784" cy="182880"/>
          </a:xfrm>
          <a:prstGeom prst="rect">
            <a:avLst/>
          </a:prstGeom>
          <a:noFill/>
          <a:ln/>
        </p:spPr>
        <p:txBody>
          <a:bodyPr wrap="square" lIns="0" tIns="0" rIns="0" bIns="0" rtlCol="0" anchor="ctr">
            <a:normAutofit/>
          </a:bodyPr>
          <a:lstStyle/>
          <a:p>
            <a:pPr algn="ctr" indent="0" marL="0">
              <a:buNone/>
            </a:pPr>
            <a:r>
              <a:rPr lang="en-US" sz="1100" b="1" dirty="0">
                <a:solidFill>
                  <a:srgbClr val="333333"/>
                </a:solidFill>
              </a:rPr>
              <a:t>IBM MQ / JMS</a:t>
            </a:r>
            <a:endParaRPr lang="en-US" sz="1100" dirty="0"/>
          </a:p>
        </p:txBody>
      </p:sp>
      <p:sp>
        <p:nvSpPr>
          <p:cNvPr id="24" name="Text 22"/>
          <p:cNvSpPr/>
          <p:nvPr/>
        </p:nvSpPr>
        <p:spPr>
          <a:xfrm>
            <a:off x="2788920" y="4023360"/>
            <a:ext cx="8595360" cy="228600"/>
          </a:xfrm>
          <a:prstGeom prst="rect">
            <a:avLst/>
          </a:prstGeom>
          <a:noFill/>
          <a:ln/>
        </p:spPr>
        <p:txBody>
          <a:bodyPr wrap="square" lIns="0" tIns="0" rIns="0" bIns="0" rtlCol="0" anchor="ctr"/>
          <a:lstStyle/>
          <a:p>
            <a:pPr indent="0" marL="0">
              <a:buNone/>
            </a:pPr>
            <a:r>
              <a:rPr lang="en-US" sz="1250" dirty="0">
                <a:solidFill>
                  <a:srgbClr val="333333"/>
                </a:solidFill>
              </a:rPr>
              <a:t>Messaging layer used by CDS components for asynchronous interactions.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0972800" cy="384048"/>
          </a:xfrm>
          <a:prstGeom prst="rect">
            <a:avLst/>
          </a:prstGeom>
          <a:noFill/>
          <a:ln/>
        </p:spPr>
        <p:txBody>
          <a:bodyPr wrap="square" lIns="0" tIns="0" rIns="0" bIns="0" rtlCol="0" anchor="ctr"/>
          <a:lstStyle/>
          <a:p>
            <a:pPr indent="0" marL="0">
              <a:buNone/>
            </a:pPr>
            <a:r>
              <a:rPr lang="en-US" sz="2600" b="1" dirty="0">
                <a:solidFill>
                  <a:srgbClr val="003366"/>
                </a:solidFill>
                <a:latin typeface="Arial" pitchFamily="34" charset="0"/>
                <a:ea typeface="Arial" pitchFamily="34" charset="-122"/>
                <a:cs typeface="Arial" pitchFamily="34" charset="-120"/>
              </a:rPr>
              <a:t>Original Integration Model</a:t>
            </a:r>
            <a:endParaRPr lang="en-US" sz="2600" dirty="0"/>
          </a:p>
        </p:txBody>
      </p:sp>
      <p:sp>
        <p:nvSpPr>
          <p:cNvPr id="3" name="Text 1"/>
          <p:cNvSpPr/>
          <p:nvPr/>
        </p:nvSpPr>
        <p:spPr>
          <a:xfrm>
            <a:off x="521208" y="749808"/>
            <a:ext cx="10515600" cy="228600"/>
          </a:xfrm>
          <a:prstGeom prst="rect">
            <a:avLst/>
          </a:prstGeom>
          <a:noFill/>
          <a:ln/>
        </p:spPr>
        <p:txBody>
          <a:bodyPr wrap="square" lIns="0" tIns="0" rIns="0" bIns="0" rtlCol="0" anchor="ctr"/>
          <a:lstStyle/>
          <a:p>
            <a:pPr indent="0" marL="0">
              <a:buNone/>
            </a:pPr>
            <a:r>
              <a:rPr lang="en-US" sz="1050" dirty="0">
                <a:solidFill>
                  <a:srgbClr val="666666"/>
                </a:solidFill>
              </a:rPr>
              <a:t>Batch and file-based processing</a:t>
            </a:r>
            <a:endParaRPr lang="en-US" sz="1050" dirty="0"/>
          </a:p>
        </p:txBody>
      </p:sp>
      <p:sp>
        <p:nvSpPr>
          <p:cNvPr id="4" name="Shape 2"/>
          <p:cNvSpPr/>
          <p:nvPr/>
        </p:nvSpPr>
        <p:spPr>
          <a:xfrm>
            <a:off x="457200" y="6355080"/>
            <a:ext cx="11274552" cy="0"/>
          </a:xfrm>
          <a:prstGeom prst="line">
            <a:avLst/>
          </a:prstGeom>
          <a:noFill/>
          <a:ln w="8890">
            <a:solidFill>
              <a:srgbClr val="D9DEE3"/>
            </a:solidFill>
            <a:prstDash val="solid"/>
          </a:ln>
        </p:spPr>
      </p:sp>
      <p:sp>
        <p:nvSpPr>
          <p:cNvPr id="5" name="Text 3"/>
          <p:cNvSpPr/>
          <p:nvPr/>
        </p:nvSpPr>
        <p:spPr>
          <a:xfrm>
            <a:off x="457200" y="6419088"/>
            <a:ext cx="7315200" cy="228600"/>
          </a:xfrm>
          <a:prstGeom prst="rect">
            <a:avLst/>
          </a:prstGeom>
          <a:noFill/>
          <a:ln/>
        </p:spPr>
        <p:txBody>
          <a:bodyPr wrap="square" rtlCol="0" anchor="ctr"/>
          <a:lstStyle/>
          <a:p>
            <a:pPr indent="0" marL="0">
              <a:buNone/>
            </a:pPr>
            <a:r>
              <a:rPr lang="en-US" sz="850" dirty="0">
                <a:solidFill>
                  <a:srgbClr val="666666"/>
                </a:solidFill>
                <a:latin typeface="Arial" pitchFamily="34" charset="0"/>
                <a:ea typeface="Arial" pitchFamily="34" charset="-122"/>
                <a:cs typeface="Arial" pitchFamily="34" charset="-120"/>
              </a:rPr>
              <a:t>ILMS Knowledge Transfer | Architecture Overview</a:t>
            </a:r>
            <a:endParaRPr lang="en-US" sz="850" dirty="0"/>
          </a:p>
        </p:txBody>
      </p:sp>
      <p:sp>
        <p:nvSpPr>
          <p:cNvPr id="6" name="Text 4"/>
          <p:cNvSpPr/>
          <p:nvPr/>
        </p:nvSpPr>
        <p:spPr>
          <a:xfrm>
            <a:off x="11292840" y="6419088"/>
            <a:ext cx="457200" cy="228600"/>
          </a:xfrm>
          <a:prstGeom prst="rect">
            <a:avLst/>
          </a:prstGeom>
          <a:noFill/>
          <a:ln/>
        </p:spPr>
        <p:txBody>
          <a:bodyPr wrap="square" rtlCol="0" anchor="ctr"/>
          <a:lstStyle/>
          <a:p>
            <a:pPr algn="r" indent="0" marL="0">
              <a:buNone/>
            </a:pPr>
            <a:r>
              <a:rPr lang="en-US" sz="850" dirty="0">
                <a:solidFill>
                  <a:srgbClr val="666666"/>
                </a:solidFill>
              </a:rPr>
              <a:t>6</a:t>
            </a:r>
            <a:endParaRPr lang="en-US" sz="850" dirty="0"/>
          </a:p>
        </p:txBody>
      </p:sp>
      <p:sp>
        <p:nvSpPr>
          <p:cNvPr id="7" name="Shape 5"/>
          <p:cNvSpPr/>
          <p:nvPr/>
        </p:nvSpPr>
        <p:spPr>
          <a:xfrm>
            <a:off x="777240" y="2103120"/>
            <a:ext cx="2057400" cy="731520"/>
          </a:xfrm>
          <a:prstGeom prst="roundRect">
            <a:avLst>
              <a:gd name="adj" fmla="val 7500"/>
            </a:avLst>
          </a:prstGeom>
          <a:solidFill>
            <a:srgbClr val="E9F5EB"/>
          </a:solidFill>
          <a:ln w="12700">
            <a:solidFill>
              <a:srgbClr val="D9DEE3"/>
            </a:solidFill>
            <a:prstDash val="solid"/>
          </a:ln>
        </p:spPr>
      </p:sp>
      <p:sp>
        <p:nvSpPr>
          <p:cNvPr id="8" name="Text 6"/>
          <p:cNvSpPr/>
          <p:nvPr/>
        </p:nvSpPr>
        <p:spPr>
          <a:xfrm>
            <a:off x="886968" y="2231136"/>
            <a:ext cx="1837944" cy="475488"/>
          </a:xfrm>
          <a:prstGeom prst="rect">
            <a:avLst/>
          </a:prstGeom>
          <a:noFill/>
          <a:ln/>
        </p:spPr>
        <p:txBody>
          <a:bodyPr wrap="square" lIns="0" tIns="0" rIns="0" bIns="0" rtlCol="0" anchor="ctr">
            <a:normAutofit/>
          </a:bodyPr>
          <a:lstStyle/>
          <a:p>
            <a:pPr algn="ctr" indent="0" marL="0">
              <a:buNone/>
            </a:pPr>
            <a:r>
              <a:rPr lang="en-US" sz="1300" b="1" dirty="0">
                <a:solidFill>
                  <a:srgbClr val="333333"/>
                </a:solidFill>
              </a:rPr>
              <a:t>Issuing Authority</a:t>
            </a:r>
            <a:endParaRPr lang="en-US" sz="1300" dirty="0"/>
          </a:p>
          <a:p>
            <a:pPr algn="ctr" indent="0" marL="0">
              <a:buNone/>
            </a:pPr>
            <a:r>
              <a:rPr lang="en-US" sz="1300" b="1" dirty="0">
                <a:solidFill>
                  <a:srgbClr val="333333"/>
                </a:solidFill>
              </a:rPr>
              <a:t>(DBT / RPA)</a:t>
            </a:r>
            <a:endParaRPr lang="en-US" sz="1300" dirty="0"/>
          </a:p>
        </p:txBody>
      </p:sp>
      <p:sp>
        <p:nvSpPr>
          <p:cNvPr id="9" name="Shape 7"/>
          <p:cNvSpPr/>
          <p:nvPr/>
        </p:nvSpPr>
        <p:spPr>
          <a:xfrm>
            <a:off x="2834640" y="2468880"/>
            <a:ext cx="1097280" cy="0"/>
          </a:xfrm>
          <a:prstGeom prst="line">
            <a:avLst/>
          </a:prstGeom>
          <a:noFill/>
          <a:ln w="22860">
            <a:solidFill>
              <a:srgbClr val="333333"/>
            </a:solidFill>
            <a:prstDash val="solid"/>
            <a:headEnd type="none"/>
            <a:tailEnd type="triangle"/>
          </a:ln>
        </p:spPr>
      </p:sp>
      <p:sp>
        <p:nvSpPr>
          <p:cNvPr id="10" name="Shape 8"/>
          <p:cNvSpPr/>
          <p:nvPr/>
        </p:nvSpPr>
        <p:spPr>
          <a:xfrm>
            <a:off x="3931920" y="2103120"/>
            <a:ext cx="2103120" cy="731520"/>
          </a:xfrm>
          <a:prstGeom prst="roundRect">
            <a:avLst>
              <a:gd name="adj" fmla="val 7500"/>
            </a:avLst>
          </a:prstGeom>
          <a:solidFill>
            <a:srgbClr val="F4F6F8"/>
          </a:solidFill>
          <a:ln w="12700">
            <a:solidFill>
              <a:srgbClr val="D9DEE3"/>
            </a:solidFill>
            <a:prstDash val="solid"/>
          </a:ln>
        </p:spPr>
      </p:sp>
      <p:sp>
        <p:nvSpPr>
          <p:cNvPr id="11" name="Text 9"/>
          <p:cNvSpPr/>
          <p:nvPr/>
        </p:nvSpPr>
        <p:spPr>
          <a:xfrm>
            <a:off x="4041648" y="2231136"/>
            <a:ext cx="1883664" cy="475488"/>
          </a:xfrm>
          <a:prstGeom prst="rect">
            <a:avLst/>
          </a:prstGeom>
          <a:noFill/>
          <a:ln/>
        </p:spPr>
        <p:txBody>
          <a:bodyPr wrap="square" lIns="0" tIns="0" rIns="0" bIns="0" rtlCol="0" anchor="ctr">
            <a:normAutofit/>
          </a:bodyPr>
          <a:lstStyle/>
          <a:p>
            <a:pPr algn="ctr" indent="0" marL="0">
              <a:buNone/>
            </a:pPr>
            <a:r>
              <a:rPr lang="en-US" sz="1300" b="1" dirty="0">
                <a:solidFill>
                  <a:srgbClr val="333333"/>
                </a:solidFill>
              </a:rPr>
              <a:t>Batch Files</a:t>
            </a:r>
            <a:endParaRPr lang="en-US" sz="1300" dirty="0"/>
          </a:p>
          <a:p>
            <a:pPr algn="ctr" indent="0" marL="0">
              <a:buNone/>
            </a:pPr>
            <a:r>
              <a:rPr lang="en-US" sz="1300" b="1" dirty="0">
                <a:solidFill>
                  <a:srgbClr val="333333"/>
                </a:solidFill>
              </a:rPr>
              <a:t>/ OGD Transfers</a:t>
            </a:r>
            <a:endParaRPr lang="en-US" sz="1300" dirty="0"/>
          </a:p>
        </p:txBody>
      </p:sp>
      <p:sp>
        <p:nvSpPr>
          <p:cNvPr id="12" name="Shape 10"/>
          <p:cNvSpPr/>
          <p:nvPr/>
        </p:nvSpPr>
        <p:spPr>
          <a:xfrm>
            <a:off x="6035040" y="2468880"/>
            <a:ext cx="1097280" cy="0"/>
          </a:xfrm>
          <a:prstGeom prst="line">
            <a:avLst/>
          </a:prstGeom>
          <a:noFill/>
          <a:ln w="22860">
            <a:solidFill>
              <a:srgbClr val="333333"/>
            </a:solidFill>
            <a:prstDash val="solid"/>
            <a:headEnd type="none"/>
            <a:tailEnd type="triangle"/>
          </a:ln>
        </p:spPr>
      </p:sp>
      <p:sp>
        <p:nvSpPr>
          <p:cNvPr id="13" name="Shape 11"/>
          <p:cNvSpPr/>
          <p:nvPr/>
        </p:nvSpPr>
        <p:spPr>
          <a:xfrm>
            <a:off x="7132320" y="2103120"/>
            <a:ext cx="2057400" cy="731520"/>
          </a:xfrm>
          <a:prstGeom prst="roundRect">
            <a:avLst>
              <a:gd name="adj" fmla="val 7500"/>
            </a:avLst>
          </a:prstGeom>
          <a:solidFill>
            <a:srgbClr val="FCE8D8"/>
          </a:solidFill>
          <a:ln w="12700">
            <a:solidFill>
              <a:srgbClr val="D9DEE3"/>
            </a:solidFill>
            <a:prstDash val="solid"/>
          </a:ln>
        </p:spPr>
      </p:sp>
      <p:sp>
        <p:nvSpPr>
          <p:cNvPr id="14" name="Text 12"/>
          <p:cNvSpPr/>
          <p:nvPr/>
        </p:nvSpPr>
        <p:spPr>
          <a:xfrm>
            <a:off x="7242048" y="2231136"/>
            <a:ext cx="1837944" cy="475488"/>
          </a:xfrm>
          <a:prstGeom prst="rect">
            <a:avLst/>
          </a:prstGeom>
          <a:noFill/>
          <a:ln/>
        </p:spPr>
        <p:txBody>
          <a:bodyPr wrap="square" lIns="0" tIns="0" rIns="0" bIns="0" rtlCol="0" anchor="ctr">
            <a:normAutofit/>
          </a:bodyPr>
          <a:lstStyle/>
          <a:p>
            <a:pPr algn="ctr" indent="0" marL="0">
              <a:buNone/>
            </a:pPr>
            <a:r>
              <a:rPr lang="en-US" sz="1300" b="1" dirty="0">
                <a:solidFill>
                  <a:srgbClr val="333333"/>
                </a:solidFill>
              </a:rPr>
              <a:t>CHIEF / Legacy</a:t>
            </a:r>
            <a:endParaRPr lang="en-US" sz="1300" dirty="0"/>
          </a:p>
          <a:p>
            <a:pPr algn="ctr" indent="0" marL="0">
              <a:buNone/>
            </a:pPr>
            <a:r>
              <a:rPr lang="en-US" sz="1300" b="1" dirty="0">
                <a:solidFill>
                  <a:srgbClr val="333333"/>
                </a:solidFill>
              </a:rPr>
              <a:t>Processing</a:t>
            </a:r>
            <a:endParaRPr lang="en-US" sz="1300" dirty="0"/>
          </a:p>
        </p:txBody>
      </p:sp>
      <p:sp>
        <p:nvSpPr>
          <p:cNvPr id="15" name="Shape 13"/>
          <p:cNvSpPr/>
          <p:nvPr/>
        </p:nvSpPr>
        <p:spPr>
          <a:xfrm>
            <a:off x="9189720" y="2468880"/>
            <a:ext cx="1051560" cy="0"/>
          </a:xfrm>
          <a:prstGeom prst="line">
            <a:avLst/>
          </a:prstGeom>
          <a:noFill/>
          <a:ln w="22860">
            <a:solidFill>
              <a:srgbClr val="333333"/>
            </a:solidFill>
            <a:prstDash val="solid"/>
            <a:headEnd type="none"/>
            <a:tailEnd type="triangle"/>
          </a:ln>
        </p:spPr>
      </p:sp>
      <p:sp>
        <p:nvSpPr>
          <p:cNvPr id="16" name="Shape 14"/>
          <p:cNvSpPr/>
          <p:nvPr/>
        </p:nvSpPr>
        <p:spPr>
          <a:xfrm>
            <a:off x="10241280" y="2103120"/>
            <a:ext cx="1325880" cy="731520"/>
          </a:xfrm>
          <a:prstGeom prst="roundRect">
            <a:avLst>
              <a:gd name="adj" fmla="val 7500"/>
            </a:avLst>
          </a:prstGeom>
          <a:solidFill>
            <a:srgbClr val="F3F8FC"/>
          </a:solidFill>
          <a:ln w="12700">
            <a:solidFill>
              <a:srgbClr val="1F5E99"/>
            </a:solidFill>
            <a:prstDash val="solid"/>
          </a:ln>
        </p:spPr>
      </p:sp>
      <p:sp>
        <p:nvSpPr>
          <p:cNvPr id="17" name="Text 15"/>
          <p:cNvSpPr/>
          <p:nvPr/>
        </p:nvSpPr>
        <p:spPr>
          <a:xfrm>
            <a:off x="10351008" y="2231136"/>
            <a:ext cx="1106424" cy="475488"/>
          </a:xfrm>
          <a:prstGeom prst="rect">
            <a:avLst/>
          </a:prstGeom>
          <a:noFill/>
          <a:ln/>
        </p:spPr>
        <p:txBody>
          <a:bodyPr wrap="square" lIns="0" tIns="0" rIns="0" bIns="0" rtlCol="0" anchor="ctr">
            <a:normAutofit/>
          </a:bodyPr>
          <a:lstStyle/>
          <a:p>
            <a:pPr algn="ctr" indent="0" marL="0">
              <a:buNone/>
            </a:pPr>
            <a:r>
              <a:rPr lang="en-US" sz="1200" b="1" dirty="0">
                <a:solidFill>
                  <a:srgbClr val="333333"/>
                </a:solidFill>
              </a:rPr>
              <a:t>CDS / ILMS</a:t>
            </a:r>
            <a:endParaRPr lang="en-US" sz="1200" dirty="0"/>
          </a:p>
          <a:p>
            <a:pPr algn="ctr" indent="0" marL="0">
              <a:buNone/>
            </a:pPr>
            <a:r>
              <a:rPr lang="en-US" sz="1200" b="1" dirty="0">
                <a:solidFill>
                  <a:srgbClr val="333333"/>
                </a:solidFill>
              </a:rPr>
              <a:t>Local Store</a:t>
            </a:r>
            <a:endParaRPr lang="en-US" sz="1200" dirty="0"/>
          </a:p>
        </p:txBody>
      </p:sp>
      <p:sp>
        <p:nvSpPr>
          <p:cNvPr id="18" name="Text 16"/>
          <p:cNvSpPr/>
          <p:nvPr/>
        </p:nvSpPr>
        <p:spPr>
          <a:xfrm>
            <a:off x="868680" y="3703320"/>
            <a:ext cx="10607040" cy="1188720"/>
          </a:xfrm>
          <a:prstGeom prst="rect">
            <a:avLst/>
          </a:prstGeom>
          <a:noFill/>
          <a:ln/>
        </p:spPr>
        <p:txBody>
          <a:bodyPr wrap="square" lIns="1016" tIns="1016" rIns="1016" bIns="1016" rtlCol="0" anchor="t">
            <a:normAutofit/>
          </a:bodyPr>
          <a:lstStyle/>
          <a:p>
            <a:r>
              <a:rPr lang="en-US" sz="1600" dirty="0">
                <a:solidFill>
                  <a:srgbClr val="333333"/>
                </a:solidFill>
              </a:rPr>
              <a:t>Periodic updates rather than immediate availability.</a:t>
            </a:r>
            <a:endParaRPr lang="en-US" sz="1600" dirty="0"/>
          </a:p>
          <a:p>
            <a:r>
              <a:rPr lang="en-US" sz="1600" dirty="0">
                <a:solidFill>
                  <a:srgbClr val="333333"/>
                </a:solidFill>
              </a:rPr>
              <a:t>Failures discovered later in the process.</a:t>
            </a:r>
            <a:endParaRPr lang="en-US" sz="1600" dirty="0"/>
          </a:p>
          <a:p>
            <a:r>
              <a:rPr lang="en-US" sz="1600" dirty="0">
                <a:solidFill>
                  <a:srgbClr val="333333"/>
                </a:solidFill>
              </a:rPr>
              <a:t>More operational dependency on files and manual intervention.</a:t>
            </a:r>
            <a:endParaRPr lang="en-US" sz="1600" dirty="0"/>
          </a:p>
          <a:p>
            <a:r>
              <a:rPr lang="en-US" sz="1600" dirty="0">
                <a:solidFill>
                  <a:srgbClr val="333333"/>
                </a:solidFill>
              </a:rPr>
              <a:t>Dual-running complexity while CHIEF and CDS coexisted.</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0972800" cy="384048"/>
          </a:xfrm>
          <a:prstGeom prst="rect">
            <a:avLst/>
          </a:prstGeom>
          <a:noFill/>
          <a:ln/>
        </p:spPr>
        <p:txBody>
          <a:bodyPr wrap="square" lIns="0" tIns="0" rIns="0" bIns="0" rtlCol="0" anchor="ctr"/>
          <a:lstStyle/>
          <a:p>
            <a:pPr indent="0" marL="0">
              <a:buNone/>
            </a:pPr>
            <a:r>
              <a:rPr lang="en-US" sz="2600" b="1" dirty="0">
                <a:solidFill>
                  <a:srgbClr val="003366"/>
                </a:solidFill>
                <a:latin typeface="Arial" pitchFamily="34" charset="0"/>
                <a:ea typeface="Arial" pitchFamily="34" charset="-122"/>
                <a:cs typeface="Arial" pitchFamily="34" charset="-120"/>
              </a:rPr>
              <a:t>Evolution of ILMS</a:t>
            </a:r>
            <a:endParaRPr lang="en-US" sz="2600" dirty="0"/>
          </a:p>
        </p:txBody>
      </p:sp>
      <p:sp>
        <p:nvSpPr>
          <p:cNvPr id="3" name="Text 1"/>
          <p:cNvSpPr/>
          <p:nvPr/>
        </p:nvSpPr>
        <p:spPr>
          <a:xfrm>
            <a:off x="521208" y="749808"/>
            <a:ext cx="10515600" cy="228600"/>
          </a:xfrm>
          <a:prstGeom prst="rect">
            <a:avLst/>
          </a:prstGeom>
          <a:noFill/>
          <a:ln/>
        </p:spPr>
        <p:txBody>
          <a:bodyPr wrap="square" lIns="0" tIns="0" rIns="0" bIns="0" rtlCol="0" anchor="ctr"/>
          <a:lstStyle/>
          <a:p>
            <a:pPr indent="0" marL="0">
              <a:buNone/>
            </a:pPr>
            <a:r>
              <a:rPr lang="en-US" sz="1050" dirty="0">
                <a:solidFill>
                  <a:srgbClr val="666666"/>
                </a:solidFill>
              </a:rPr>
              <a:t>How the system moved from batch to real-time</a:t>
            </a:r>
            <a:endParaRPr lang="en-US" sz="1050" dirty="0"/>
          </a:p>
        </p:txBody>
      </p:sp>
      <p:sp>
        <p:nvSpPr>
          <p:cNvPr id="4" name="Shape 2"/>
          <p:cNvSpPr/>
          <p:nvPr/>
        </p:nvSpPr>
        <p:spPr>
          <a:xfrm>
            <a:off x="457200" y="6355080"/>
            <a:ext cx="11274552" cy="0"/>
          </a:xfrm>
          <a:prstGeom prst="line">
            <a:avLst/>
          </a:prstGeom>
          <a:noFill/>
          <a:ln w="8890">
            <a:solidFill>
              <a:srgbClr val="D9DEE3"/>
            </a:solidFill>
            <a:prstDash val="solid"/>
          </a:ln>
        </p:spPr>
      </p:sp>
      <p:sp>
        <p:nvSpPr>
          <p:cNvPr id="5" name="Text 3"/>
          <p:cNvSpPr/>
          <p:nvPr/>
        </p:nvSpPr>
        <p:spPr>
          <a:xfrm>
            <a:off x="457200" y="6419088"/>
            <a:ext cx="7315200" cy="228600"/>
          </a:xfrm>
          <a:prstGeom prst="rect">
            <a:avLst/>
          </a:prstGeom>
          <a:noFill/>
          <a:ln/>
        </p:spPr>
        <p:txBody>
          <a:bodyPr wrap="square" rtlCol="0" anchor="ctr"/>
          <a:lstStyle/>
          <a:p>
            <a:pPr indent="0" marL="0">
              <a:buNone/>
            </a:pPr>
            <a:r>
              <a:rPr lang="en-US" sz="850" dirty="0">
                <a:solidFill>
                  <a:srgbClr val="666666"/>
                </a:solidFill>
                <a:latin typeface="Arial" pitchFamily="34" charset="0"/>
                <a:ea typeface="Arial" pitchFamily="34" charset="-122"/>
                <a:cs typeface="Arial" pitchFamily="34" charset="-120"/>
              </a:rPr>
              <a:t>ILMS Knowledge Transfer | Architecture Overview</a:t>
            </a:r>
            <a:endParaRPr lang="en-US" sz="850" dirty="0"/>
          </a:p>
        </p:txBody>
      </p:sp>
      <p:sp>
        <p:nvSpPr>
          <p:cNvPr id="6" name="Text 4"/>
          <p:cNvSpPr/>
          <p:nvPr/>
        </p:nvSpPr>
        <p:spPr>
          <a:xfrm>
            <a:off x="11292840" y="6419088"/>
            <a:ext cx="457200" cy="228600"/>
          </a:xfrm>
          <a:prstGeom prst="rect">
            <a:avLst/>
          </a:prstGeom>
          <a:noFill/>
          <a:ln/>
        </p:spPr>
        <p:txBody>
          <a:bodyPr wrap="square" rtlCol="0" anchor="ctr"/>
          <a:lstStyle/>
          <a:p>
            <a:pPr algn="r" indent="0" marL="0">
              <a:buNone/>
            </a:pPr>
            <a:r>
              <a:rPr lang="en-US" sz="850" dirty="0">
                <a:solidFill>
                  <a:srgbClr val="666666"/>
                </a:solidFill>
              </a:rPr>
              <a:t>7</a:t>
            </a:r>
            <a:endParaRPr lang="en-US" sz="850" dirty="0"/>
          </a:p>
        </p:txBody>
      </p:sp>
      <p:sp>
        <p:nvSpPr>
          <p:cNvPr id="7" name="Shape 5"/>
          <p:cNvSpPr/>
          <p:nvPr/>
        </p:nvSpPr>
        <p:spPr>
          <a:xfrm>
            <a:off x="685800" y="2057400"/>
            <a:ext cx="1463040" cy="868680"/>
          </a:xfrm>
          <a:prstGeom prst="roundRect">
            <a:avLst>
              <a:gd name="adj" fmla="val 6316"/>
            </a:avLst>
          </a:prstGeom>
          <a:solidFill>
            <a:srgbClr val="F4F6F8"/>
          </a:solidFill>
          <a:ln w="12700">
            <a:solidFill>
              <a:srgbClr val="D9DEE3"/>
            </a:solidFill>
            <a:prstDash val="solid"/>
          </a:ln>
        </p:spPr>
      </p:sp>
      <p:sp>
        <p:nvSpPr>
          <p:cNvPr id="8" name="Text 6"/>
          <p:cNvSpPr/>
          <p:nvPr/>
        </p:nvSpPr>
        <p:spPr>
          <a:xfrm>
            <a:off x="795528" y="2185416"/>
            <a:ext cx="1243584" cy="612648"/>
          </a:xfrm>
          <a:prstGeom prst="rect">
            <a:avLst/>
          </a:prstGeom>
          <a:noFill/>
          <a:ln/>
        </p:spPr>
        <p:txBody>
          <a:bodyPr wrap="square" lIns="0" tIns="0" rIns="0" bIns="0" rtlCol="0" anchor="ctr">
            <a:normAutofit/>
          </a:bodyPr>
          <a:lstStyle/>
          <a:p>
            <a:pPr algn="ctr" indent="0" marL="0">
              <a:buNone/>
            </a:pPr>
            <a:r>
              <a:rPr lang="en-US" sz="1100" b="1" dirty="0">
                <a:solidFill>
                  <a:srgbClr val="333333"/>
                </a:solidFill>
              </a:rPr>
              <a:t>CHIEF</a:t>
            </a:r>
            <a:endParaRPr lang="en-US" sz="1100" dirty="0"/>
          </a:p>
          <a:p>
            <a:pPr algn="ctr" indent="0" marL="0">
              <a:buNone/>
            </a:pPr>
            <a:r>
              <a:rPr lang="en-US" sz="1100" b="1" dirty="0">
                <a:solidFill>
                  <a:srgbClr val="333333"/>
                </a:solidFill>
              </a:rPr>
              <a:t>Batch files</a:t>
            </a:r>
            <a:endParaRPr lang="en-US" sz="1100" dirty="0"/>
          </a:p>
        </p:txBody>
      </p:sp>
      <p:sp>
        <p:nvSpPr>
          <p:cNvPr id="9" name="Shape 7"/>
          <p:cNvSpPr/>
          <p:nvPr/>
        </p:nvSpPr>
        <p:spPr>
          <a:xfrm>
            <a:off x="2148840" y="2487168"/>
            <a:ext cx="365760" cy="0"/>
          </a:xfrm>
          <a:prstGeom prst="line">
            <a:avLst/>
          </a:prstGeom>
          <a:noFill/>
          <a:ln w="22860">
            <a:solidFill>
              <a:srgbClr val="1F5E99"/>
            </a:solidFill>
            <a:prstDash val="solid"/>
            <a:headEnd type="none"/>
            <a:tailEnd type="triangle"/>
          </a:ln>
        </p:spPr>
      </p:sp>
      <p:sp>
        <p:nvSpPr>
          <p:cNvPr id="10" name="Shape 8"/>
          <p:cNvSpPr/>
          <p:nvPr/>
        </p:nvSpPr>
        <p:spPr>
          <a:xfrm>
            <a:off x="2514600" y="2057400"/>
            <a:ext cx="1463040" cy="868680"/>
          </a:xfrm>
          <a:prstGeom prst="roundRect">
            <a:avLst>
              <a:gd name="adj" fmla="val 6316"/>
            </a:avLst>
          </a:prstGeom>
          <a:solidFill>
            <a:srgbClr val="F4F6F8"/>
          </a:solidFill>
          <a:ln w="12700">
            <a:solidFill>
              <a:srgbClr val="D9DEE3"/>
            </a:solidFill>
            <a:prstDash val="solid"/>
          </a:ln>
        </p:spPr>
      </p:sp>
      <p:sp>
        <p:nvSpPr>
          <p:cNvPr id="11" name="Text 9"/>
          <p:cNvSpPr/>
          <p:nvPr/>
        </p:nvSpPr>
        <p:spPr>
          <a:xfrm>
            <a:off x="2624328" y="2185416"/>
            <a:ext cx="1243584" cy="612648"/>
          </a:xfrm>
          <a:prstGeom prst="rect">
            <a:avLst/>
          </a:prstGeom>
          <a:noFill/>
          <a:ln/>
        </p:spPr>
        <p:txBody>
          <a:bodyPr wrap="square" lIns="0" tIns="0" rIns="0" bIns="0" rtlCol="0" anchor="ctr">
            <a:normAutofit/>
          </a:bodyPr>
          <a:lstStyle/>
          <a:p>
            <a:pPr algn="ctr" indent="0" marL="0">
              <a:buNone/>
            </a:pPr>
            <a:r>
              <a:rPr lang="en-US" sz="1100" b="1" dirty="0">
                <a:solidFill>
                  <a:srgbClr val="333333"/>
                </a:solidFill>
              </a:rPr>
              <a:t>CDSP-1981</a:t>
            </a:r>
            <a:endParaRPr lang="en-US" sz="1100" dirty="0"/>
          </a:p>
          <a:p>
            <a:pPr algn="ctr" indent="0" marL="0">
              <a:buNone/>
            </a:pPr>
            <a:r>
              <a:rPr lang="en-US" sz="1100" b="1" dirty="0">
                <a:solidFill>
                  <a:srgbClr val="333333"/>
                </a:solidFill>
              </a:rPr>
              <a:t>Local store</a:t>
            </a:r>
            <a:endParaRPr lang="en-US" sz="1100" dirty="0"/>
          </a:p>
        </p:txBody>
      </p:sp>
      <p:sp>
        <p:nvSpPr>
          <p:cNvPr id="12" name="Shape 10"/>
          <p:cNvSpPr/>
          <p:nvPr/>
        </p:nvSpPr>
        <p:spPr>
          <a:xfrm>
            <a:off x="3977640" y="2487168"/>
            <a:ext cx="365760" cy="0"/>
          </a:xfrm>
          <a:prstGeom prst="line">
            <a:avLst/>
          </a:prstGeom>
          <a:noFill/>
          <a:ln w="22860">
            <a:solidFill>
              <a:srgbClr val="1F5E99"/>
            </a:solidFill>
            <a:prstDash val="solid"/>
            <a:headEnd type="none"/>
            <a:tailEnd type="triangle"/>
          </a:ln>
        </p:spPr>
      </p:sp>
      <p:sp>
        <p:nvSpPr>
          <p:cNvPr id="13" name="Shape 11"/>
          <p:cNvSpPr/>
          <p:nvPr/>
        </p:nvSpPr>
        <p:spPr>
          <a:xfrm>
            <a:off x="4343400" y="2057400"/>
            <a:ext cx="1463040" cy="868680"/>
          </a:xfrm>
          <a:prstGeom prst="roundRect">
            <a:avLst>
              <a:gd name="adj" fmla="val 6316"/>
            </a:avLst>
          </a:prstGeom>
          <a:solidFill>
            <a:srgbClr val="F4F6F8"/>
          </a:solidFill>
          <a:ln w="12700">
            <a:solidFill>
              <a:srgbClr val="D9DEE3"/>
            </a:solidFill>
            <a:prstDash val="solid"/>
          </a:ln>
        </p:spPr>
      </p:sp>
      <p:sp>
        <p:nvSpPr>
          <p:cNvPr id="14" name="Text 12"/>
          <p:cNvSpPr/>
          <p:nvPr/>
        </p:nvSpPr>
        <p:spPr>
          <a:xfrm>
            <a:off x="4453128" y="2185416"/>
            <a:ext cx="1243584" cy="612648"/>
          </a:xfrm>
          <a:prstGeom prst="rect">
            <a:avLst/>
          </a:prstGeom>
          <a:noFill/>
          <a:ln/>
        </p:spPr>
        <p:txBody>
          <a:bodyPr wrap="square" lIns="0" tIns="0" rIns="0" bIns="0" rtlCol="0" anchor="ctr">
            <a:normAutofit/>
          </a:bodyPr>
          <a:lstStyle/>
          <a:p>
            <a:pPr algn="ctr" indent="0" marL="0">
              <a:buNone/>
            </a:pPr>
            <a:r>
              <a:rPr lang="en-US" sz="1100" b="1" dirty="0">
                <a:solidFill>
                  <a:srgbClr val="333333"/>
                </a:solidFill>
              </a:rPr>
              <a:t>Dual running</a:t>
            </a:r>
            <a:endParaRPr lang="en-US" sz="1100" dirty="0"/>
          </a:p>
          <a:p>
            <a:pPr algn="ctr" indent="0" marL="0">
              <a:buNone/>
            </a:pPr>
            <a:r>
              <a:rPr lang="en-US" sz="1100" b="1" dirty="0">
                <a:solidFill>
                  <a:srgbClr val="333333"/>
                </a:solidFill>
              </a:rPr>
              <a:t>CDS + CHIEF</a:t>
            </a:r>
            <a:endParaRPr lang="en-US" sz="1100" dirty="0"/>
          </a:p>
        </p:txBody>
      </p:sp>
      <p:sp>
        <p:nvSpPr>
          <p:cNvPr id="15" name="Shape 13"/>
          <p:cNvSpPr/>
          <p:nvPr/>
        </p:nvSpPr>
        <p:spPr>
          <a:xfrm>
            <a:off x="5806440" y="2487168"/>
            <a:ext cx="365760" cy="0"/>
          </a:xfrm>
          <a:prstGeom prst="line">
            <a:avLst/>
          </a:prstGeom>
          <a:noFill/>
          <a:ln w="22860">
            <a:solidFill>
              <a:srgbClr val="1F5E99"/>
            </a:solidFill>
            <a:prstDash val="solid"/>
            <a:headEnd type="none"/>
            <a:tailEnd type="triangle"/>
          </a:ln>
        </p:spPr>
      </p:sp>
      <p:sp>
        <p:nvSpPr>
          <p:cNvPr id="16" name="Shape 14"/>
          <p:cNvSpPr/>
          <p:nvPr/>
        </p:nvSpPr>
        <p:spPr>
          <a:xfrm>
            <a:off x="6172200" y="2057400"/>
            <a:ext cx="1463040" cy="868680"/>
          </a:xfrm>
          <a:prstGeom prst="roundRect">
            <a:avLst>
              <a:gd name="adj" fmla="val 6316"/>
            </a:avLst>
          </a:prstGeom>
          <a:solidFill>
            <a:srgbClr val="F3F8FC"/>
          </a:solidFill>
          <a:ln w="12700">
            <a:solidFill>
              <a:srgbClr val="1F5E99"/>
            </a:solidFill>
            <a:prstDash val="solid"/>
          </a:ln>
        </p:spPr>
      </p:sp>
      <p:sp>
        <p:nvSpPr>
          <p:cNvPr id="17" name="Text 15"/>
          <p:cNvSpPr/>
          <p:nvPr/>
        </p:nvSpPr>
        <p:spPr>
          <a:xfrm>
            <a:off x="6281928" y="2185416"/>
            <a:ext cx="1243584" cy="612648"/>
          </a:xfrm>
          <a:prstGeom prst="rect">
            <a:avLst/>
          </a:prstGeom>
          <a:noFill/>
          <a:ln/>
        </p:spPr>
        <p:txBody>
          <a:bodyPr wrap="square" lIns="0" tIns="0" rIns="0" bIns="0" rtlCol="0" anchor="ctr">
            <a:normAutofit/>
          </a:bodyPr>
          <a:lstStyle/>
          <a:p>
            <a:pPr algn="ctr" indent="0" marL="0">
              <a:buNone/>
            </a:pPr>
            <a:r>
              <a:rPr lang="en-US" sz="1100" b="1" dirty="0">
                <a:solidFill>
                  <a:srgbClr val="333333"/>
                </a:solidFill>
              </a:rPr>
              <a:t>CDSP-2129</a:t>
            </a:r>
            <a:endParaRPr lang="en-US" sz="1100" dirty="0"/>
          </a:p>
          <a:p>
            <a:pPr algn="ctr" indent="0" marL="0">
              <a:buNone/>
            </a:pPr>
            <a:r>
              <a:rPr lang="en-US" sz="1100" b="1" dirty="0">
                <a:solidFill>
                  <a:srgbClr val="333333"/>
                </a:solidFill>
              </a:rPr>
              <a:t>REST APIs</a:t>
            </a:r>
            <a:endParaRPr lang="en-US" sz="1100" dirty="0"/>
          </a:p>
        </p:txBody>
      </p:sp>
      <p:sp>
        <p:nvSpPr>
          <p:cNvPr id="18" name="Shape 16"/>
          <p:cNvSpPr/>
          <p:nvPr/>
        </p:nvSpPr>
        <p:spPr>
          <a:xfrm>
            <a:off x="7635240" y="2487168"/>
            <a:ext cx="365760" cy="0"/>
          </a:xfrm>
          <a:prstGeom prst="line">
            <a:avLst/>
          </a:prstGeom>
          <a:noFill/>
          <a:ln w="22860">
            <a:solidFill>
              <a:srgbClr val="1F5E99"/>
            </a:solidFill>
            <a:prstDash val="solid"/>
            <a:headEnd type="none"/>
            <a:tailEnd type="triangle"/>
          </a:ln>
        </p:spPr>
      </p:sp>
      <p:sp>
        <p:nvSpPr>
          <p:cNvPr id="19" name="Shape 17"/>
          <p:cNvSpPr/>
          <p:nvPr/>
        </p:nvSpPr>
        <p:spPr>
          <a:xfrm>
            <a:off x="8001000" y="2057400"/>
            <a:ext cx="1463040" cy="868680"/>
          </a:xfrm>
          <a:prstGeom prst="roundRect">
            <a:avLst>
              <a:gd name="adj" fmla="val 6316"/>
            </a:avLst>
          </a:prstGeom>
          <a:solidFill>
            <a:srgbClr val="F3F8FC"/>
          </a:solidFill>
          <a:ln w="12700">
            <a:solidFill>
              <a:srgbClr val="1F5E99"/>
            </a:solidFill>
            <a:prstDash val="solid"/>
          </a:ln>
        </p:spPr>
      </p:sp>
      <p:sp>
        <p:nvSpPr>
          <p:cNvPr id="20" name="Text 18"/>
          <p:cNvSpPr/>
          <p:nvPr/>
        </p:nvSpPr>
        <p:spPr>
          <a:xfrm>
            <a:off x="8110728" y="2185416"/>
            <a:ext cx="1243584" cy="612648"/>
          </a:xfrm>
          <a:prstGeom prst="rect">
            <a:avLst/>
          </a:prstGeom>
          <a:noFill/>
          <a:ln/>
        </p:spPr>
        <p:txBody>
          <a:bodyPr wrap="square" lIns="0" tIns="0" rIns="0" bIns="0" rtlCol="0" anchor="ctr">
            <a:normAutofit/>
          </a:bodyPr>
          <a:lstStyle/>
          <a:p>
            <a:pPr algn="ctr" indent="0" marL="0">
              <a:buNone/>
            </a:pPr>
            <a:r>
              <a:rPr lang="en-US" sz="1100" b="1" dirty="0">
                <a:solidFill>
                  <a:srgbClr val="333333"/>
                </a:solidFill>
              </a:rPr>
              <a:t>Near real-time</a:t>
            </a:r>
            <a:endParaRPr lang="en-US" sz="1100" dirty="0"/>
          </a:p>
          <a:p>
            <a:pPr algn="ctr" indent="0" marL="0">
              <a:buNone/>
            </a:pPr>
            <a:r>
              <a:rPr lang="en-US" sz="1100" b="1" dirty="0">
                <a:solidFill>
                  <a:srgbClr val="333333"/>
                </a:solidFill>
              </a:rPr>
              <a:t>update + usage</a:t>
            </a:r>
            <a:endParaRPr lang="en-US" sz="1100" dirty="0"/>
          </a:p>
        </p:txBody>
      </p:sp>
      <p:sp>
        <p:nvSpPr>
          <p:cNvPr id="21" name="Shape 19"/>
          <p:cNvSpPr/>
          <p:nvPr/>
        </p:nvSpPr>
        <p:spPr>
          <a:xfrm>
            <a:off x="9464040" y="2487168"/>
            <a:ext cx="365760" cy="0"/>
          </a:xfrm>
          <a:prstGeom prst="line">
            <a:avLst/>
          </a:prstGeom>
          <a:noFill/>
          <a:ln w="22860">
            <a:solidFill>
              <a:srgbClr val="1F5E99"/>
            </a:solidFill>
            <a:prstDash val="solid"/>
            <a:headEnd type="none"/>
            <a:tailEnd type="triangle"/>
          </a:ln>
        </p:spPr>
      </p:sp>
      <p:sp>
        <p:nvSpPr>
          <p:cNvPr id="22" name="Shape 20"/>
          <p:cNvSpPr/>
          <p:nvPr/>
        </p:nvSpPr>
        <p:spPr>
          <a:xfrm>
            <a:off x="9829800" y="2057400"/>
            <a:ext cx="1463040" cy="868680"/>
          </a:xfrm>
          <a:prstGeom prst="roundRect">
            <a:avLst>
              <a:gd name="adj" fmla="val 6316"/>
            </a:avLst>
          </a:prstGeom>
          <a:solidFill>
            <a:srgbClr val="F3F8FC"/>
          </a:solidFill>
          <a:ln w="12700">
            <a:solidFill>
              <a:srgbClr val="1F5E99"/>
            </a:solidFill>
            <a:prstDash val="solid"/>
          </a:ln>
        </p:spPr>
      </p:sp>
      <p:sp>
        <p:nvSpPr>
          <p:cNvPr id="23" name="Text 21"/>
          <p:cNvSpPr/>
          <p:nvPr/>
        </p:nvSpPr>
        <p:spPr>
          <a:xfrm>
            <a:off x="9939528" y="2185416"/>
            <a:ext cx="1243584" cy="612648"/>
          </a:xfrm>
          <a:prstGeom prst="rect">
            <a:avLst/>
          </a:prstGeom>
          <a:noFill/>
          <a:ln/>
        </p:spPr>
        <p:txBody>
          <a:bodyPr wrap="square" lIns="0" tIns="0" rIns="0" bIns="0" rtlCol="0" anchor="ctr">
            <a:normAutofit/>
          </a:bodyPr>
          <a:lstStyle/>
          <a:p>
            <a:pPr algn="ctr" indent="0" marL="0">
              <a:buNone/>
            </a:pPr>
            <a:r>
              <a:rPr lang="en-US" sz="1100" b="1" dirty="0">
                <a:solidFill>
                  <a:srgbClr val="333333"/>
                </a:solidFill>
              </a:rPr>
              <a:t>CDSP-10889</a:t>
            </a:r>
            <a:endParaRPr lang="en-US" sz="1100" dirty="0"/>
          </a:p>
          <a:p>
            <a:pPr algn="ctr" indent="0" marL="0">
              <a:buNone/>
            </a:pPr>
            <a:r>
              <a:rPr lang="en-US" sz="1100" b="1" dirty="0">
                <a:solidFill>
                  <a:srgbClr val="333333"/>
                </a:solidFill>
              </a:rPr>
              <a:t>CHIEF removed</a:t>
            </a:r>
            <a:endParaRPr lang="en-US" sz="1100" dirty="0"/>
          </a:p>
        </p:txBody>
      </p:sp>
      <p:sp>
        <p:nvSpPr>
          <p:cNvPr id="24" name="Text 22"/>
          <p:cNvSpPr/>
          <p:nvPr/>
        </p:nvSpPr>
        <p:spPr>
          <a:xfrm>
            <a:off x="914400" y="3703320"/>
            <a:ext cx="10241280" cy="502920"/>
          </a:xfrm>
          <a:prstGeom prst="rect">
            <a:avLst/>
          </a:prstGeom>
          <a:noFill/>
          <a:ln/>
        </p:spPr>
        <p:txBody>
          <a:bodyPr wrap="square" lIns="0" tIns="0" rIns="0" bIns="0" rtlCol="0" anchor="ctr"/>
          <a:lstStyle/>
          <a:p>
            <a:pPr algn="ctr" indent="0" marL="0">
              <a:buNone/>
            </a:pPr>
            <a:r>
              <a:rPr lang="en-US" sz="1800" b="1" dirty="0">
                <a:solidFill>
                  <a:srgbClr val="003366"/>
                </a:solidFill>
              </a:rPr>
              <a:t>Key message: CDSP-2129 changed ILMS from a mainly batch/file integration into a near-real-time API-enabled service.</a:t>
            </a:r>
            <a:endParaRPr lang="en-US" sz="1800" dirty="0"/>
          </a:p>
        </p:txBody>
      </p:sp>
      <p:sp>
        <p:nvSpPr>
          <p:cNvPr id="25" name="Shape 23"/>
          <p:cNvSpPr/>
          <p:nvPr/>
        </p:nvSpPr>
        <p:spPr>
          <a:xfrm>
            <a:off x="2103120" y="4572000"/>
            <a:ext cx="7955280" cy="1097280"/>
          </a:xfrm>
          <a:prstGeom prst="rect">
            <a:avLst/>
          </a:prstGeom>
          <a:solidFill>
            <a:srgbClr val="F4F6F8">
              <a:alpha val="92000"/>
            </a:srgbClr>
          </a:solidFill>
          <a:ln w="17780">
            <a:solidFill>
              <a:srgbClr val="9AA7B2"/>
            </a:solidFill>
            <a:prstDash val="solid"/>
          </a:ln>
        </p:spPr>
      </p:sp>
      <p:sp>
        <p:nvSpPr>
          <p:cNvPr id="26" name="Text 24"/>
          <p:cNvSpPr/>
          <p:nvPr/>
        </p:nvSpPr>
        <p:spPr>
          <a:xfrm>
            <a:off x="2240280" y="4956048"/>
            <a:ext cx="7680960" cy="292608"/>
          </a:xfrm>
          <a:prstGeom prst="rect">
            <a:avLst/>
          </a:prstGeom>
          <a:noFill/>
          <a:ln/>
        </p:spPr>
        <p:txBody>
          <a:bodyPr wrap="square" lIns="0" tIns="0" rIns="0" bIns="0" rtlCol="0" anchor="ctr"/>
          <a:lstStyle/>
          <a:p>
            <a:pPr algn="ctr" indent="0" marL="0">
              <a:buNone/>
            </a:pPr>
            <a:r>
              <a:rPr lang="en-US" sz="1800" b="1" dirty="0">
                <a:solidFill>
                  <a:srgbClr val="697886"/>
                </a:solidFill>
              </a:rPr>
              <a:t>OPTIONAL: INSERT JIRA / EVOLUTION SCREENSHOT</a:t>
            </a:r>
            <a:endParaRPr lang="en-US" sz="1800" dirty="0"/>
          </a:p>
        </p:txBody>
      </p:sp>
      <p:sp>
        <p:nvSpPr>
          <p:cNvPr id="27" name="Text 25"/>
          <p:cNvSpPr/>
          <p:nvPr/>
        </p:nvSpPr>
        <p:spPr>
          <a:xfrm>
            <a:off x="2331720" y="5285232"/>
            <a:ext cx="7498080" cy="228600"/>
          </a:xfrm>
          <a:prstGeom prst="rect">
            <a:avLst/>
          </a:prstGeom>
          <a:noFill/>
          <a:ln/>
        </p:spPr>
        <p:txBody>
          <a:bodyPr wrap="square" lIns="0" tIns="0" rIns="0" bIns="0" rtlCol="0" anchor="ctr"/>
          <a:lstStyle/>
          <a:p>
            <a:pPr algn="ctr" indent="0" marL="0">
              <a:buNone/>
            </a:pPr>
            <a:r>
              <a:rPr lang="en-US" sz="850" dirty="0">
                <a:solidFill>
                  <a:srgbClr val="697886"/>
                </a:solidFill>
              </a:rPr>
              <a:t>CDSP-2129 / CDSP-10889 if useful</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0972800" cy="384048"/>
          </a:xfrm>
          <a:prstGeom prst="rect">
            <a:avLst/>
          </a:prstGeom>
          <a:noFill/>
          <a:ln/>
        </p:spPr>
        <p:txBody>
          <a:bodyPr wrap="square" lIns="0" tIns="0" rIns="0" bIns="0" rtlCol="0" anchor="ctr"/>
          <a:lstStyle/>
          <a:p>
            <a:pPr indent="0" marL="0">
              <a:buNone/>
            </a:pPr>
            <a:r>
              <a:rPr lang="en-US" sz="2600" b="1" dirty="0">
                <a:solidFill>
                  <a:srgbClr val="003366"/>
                </a:solidFill>
                <a:latin typeface="Arial" pitchFamily="34" charset="0"/>
                <a:ea typeface="Arial" pitchFamily="34" charset="-122"/>
                <a:cs typeface="Arial" pitchFamily="34" charset="-120"/>
              </a:rPr>
              <a:t>High-Level Architecture</a:t>
            </a:r>
            <a:endParaRPr lang="en-US" sz="2600" dirty="0"/>
          </a:p>
        </p:txBody>
      </p:sp>
      <p:sp>
        <p:nvSpPr>
          <p:cNvPr id="3" name="Text 1"/>
          <p:cNvSpPr/>
          <p:nvPr/>
        </p:nvSpPr>
        <p:spPr>
          <a:xfrm>
            <a:off x="521208" y="749808"/>
            <a:ext cx="10515600" cy="228600"/>
          </a:xfrm>
          <a:prstGeom prst="rect">
            <a:avLst/>
          </a:prstGeom>
          <a:noFill/>
          <a:ln/>
        </p:spPr>
        <p:txBody>
          <a:bodyPr wrap="square" lIns="0" tIns="0" rIns="0" bIns="0" rtlCol="0" anchor="ctr"/>
          <a:lstStyle/>
          <a:p>
            <a:pPr indent="0" marL="0">
              <a:buNone/>
            </a:pPr>
            <a:r>
              <a:rPr lang="en-US" sz="1050" dirty="0">
                <a:solidFill>
                  <a:srgbClr val="666666"/>
                </a:solidFill>
              </a:rPr>
              <a:t>Where ILMS sits in the wider CDS landscape</a:t>
            </a:r>
            <a:endParaRPr lang="en-US" sz="1050" dirty="0"/>
          </a:p>
        </p:txBody>
      </p:sp>
      <p:sp>
        <p:nvSpPr>
          <p:cNvPr id="4" name="Shape 2"/>
          <p:cNvSpPr/>
          <p:nvPr/>
        </p:nvSpPr>
        <p:spPr>
          <a:xfrm>
            <a:off x="457200" y="6355080"/>
            <a:ext cx="11274552" cy="0"/>
          </a:xfrm>
          <a:prstGeom prst="line">
            <a:avLst/>
          </a:prstGeom>
          <a:noFill/>
          <a:ln w="8890">
            <a:solidFill>
              <a:srgbClr val="D9DEE3"/>
            </a:solidFill>
            <a:prstDash val="solid"/>
          </a:ln>
        </p:spPr>
      </p:sp>
      <p:sp>
        <p:nvSpPr>
          <p:cNvPr id="5" name="Text 3"/>
          <p:cNvSpPr/>
          <p:nvPr/>
        </p:nvSpPr>
        <p:spPr>
          <a:xfrm>
            <a:off x="457200" y="6419088"/>
            <a:ext cx="7315200" cy="228600"/>
          </a:xfrm>
          <a:prstGeom prst="rect">
            <a:avLst/>
          </a:prstGeom>
          <a:noFill/>
          <a:ln/>
        </p:spPr>
        <p:txBody>
          <a:bodyPr wrap="square" rtlCol="0" anchor="ctr"/>
          <a:lstStyle/>
          <a:p>
            <a:pPr indent="0" marL="0">
              <a:buNone/>
            </a:pPr>
            <a:r>
              <a:rPr lang="en-US" sz="850" dirty="0">
                <a:solidFill>
                  <a:srgbClr val="666666"/>
                </a:solidFill>
                <a:latin typeface="Arial" pitchFamily="34" charset="0"/>
                <a:ea typeface="Arial" pitchFamily="34" charset="-122"/>
                <a:cs typeface="Arial" pitchFamily="34" charset="-120"/>
              </a:rPr>
              <a:t>ILMS Knowledge Transfer | Architecture Overview</a:t>
            </a:r>
            <a:endParaRPr lang="en-US" sz="850" dirty="0"/>
          </a:p>
        </p:txBody>
      </p:sp>
      <p:sp>
        <p:nvSpPr>
          <p:cNvPr id="6" name="Text 4"/>
          <p:cNvSpPr/>
          <p:nvPr/>
        </p:nvSpPr>
        <p:spPr>
          <a:xfrm>
            <a:off x="11292840" y="6419088"/>
            <a:ext cx="457200" cy="228600"/>
          </a:xfrm>
          <a:prstGeom prst="rect">
            <a:avLst/>
          </a:prstGeom>
          <a:noFill/>
          <a:ln/>
        </p:spPr>
        <p:txBody>
          <a:bodyPr wrap="square" rtlCol="0" anchor="ctr"/>
          <a:lstStyle/>
          <a:p>
            <a:pPr algn="r" indent="0" marL="0">
              <a:buNone/>
            </a:pPr>
            <a:r>
              <a:rPr lang="en-US" sz="850" dirty="0">
                <a:solidFill>
                  <a:srgbClr val="666666"/>
                </a:solidFill>
              </a:rPr>
              <a:t>8</a:t>
            </a:r>
            <a:endParaRPr lang="en-US" sz="850" dirty="0"/>
          </a:p>
        </p:txBody>
      </p:sp>
      <p:sp>
        <p:nvSpPr>
          <p:cNvPr id="7" name="Shape 5"/>
          <p:cNvSpPr/>
          <p:nvPr/>
        </p:nvSpPr>
        <p:spPr>
          <a:xfrm>
            <a:off x="640080" y="1051560"/>
            <a:ext cx="7360920" cy="4892040"/>
          </a:xfrm>
          <a:prstGeom prst="rect">
            <a:avLst/>
          </a:prstGeom>
          <a:solidFill>
            <a:srgbClr val="F4F6F8">
              <a:alpha val="92000"/>
            </a:srgbClr>
          </a:solidFill>
          <a:ln w="17780">
            <a:solidFill>
              <a:srgbClr val="9AA7B2"/>
            </a:solidFill>
            <a:prstDash val="solid"/>
          </a:ln>
        </p:spPr>
      </p:sp>
      <p:sp>
        <p:nvSpPr>
          <p:cNvPr id="8" name="Text 6"/>
          <p:cNvSpPr/>
          <p:nvPr/>
        </p:nvSpPr>
        <p:spPr>
          <a:xfrm>
            <a:off x="777240" y="3332988"/>
            <a:ext cx="7086600" cy="292608"/>
          </a:xfrm>
          <a:prstGeom prst="rect">
            <a:avLst/>
          </a:prstGeom>
          <a:noFill/>
          <a:ln/>
        </p:spPr>
        <p:txBody>
          <a:bodyPr wrap="square" lIns="0" tIns="0" rIns="0" bIns="0" rtlCol="0" anchor="ctr"/>
          <a:lstStyle/>
          <a:p>
            <a:pPr algn="ctr" indent="0" marL="0">
              <a:buNone/>
            </a:pPr>
            <a:r>
              <a:rPr lang="en-US" sz="1800" b="1" dirty="0">
                <a:solidFill>
                  <a:srgbClr val="697886"/>
                </a:solidFill>
              </a:rPr>
              <a:t>INSERT HIGH-LEVEL ARCHITECTURE DIAGRAM</a:t>
            </a:r>
            <a:endParaRPr lang="en-US" sz="1800" dirty="0"/>
          </a:p>
        </p:txBody>
      </p:sp>
      <p:sp>
        <p:nvSpPr>
          <p:cNvPr id="9" name="Text 7"/>
          <p:cNvSpPr/>
          <p:nvPr/>
        </p:nvSpPr>
        <p:spPr>
          <a:xfrm>
            <a:off x="868680" y="5559552"/>
            <a:ext cx="6903720" cy="228600"/>
          </a:xfrm>
          <a:prstGeom prst="rect">
            <a:avLst/>
          </a:prstGeom>
          <a:noFill/>
          <a:ln/>
        </p:spPr>
        <p:txBody>
          <a:bodyPr wrap="square" lIns="0" tIns="0" rIns="0" bIns="0" rtlCol="0" anchor="ctr"/>
          <a:lstStyle/>
          <a:p>
            <a:pPr algn="ctr" indent="0" marL="0">
              <a:buNone/>
            </a:pPr>
            <a:r>
              <a:rPr lang="en-US" sz="850" dirty="0">
                <a:solidFill>
                  <a:srgbClr val="697886"/>
                </a:solidFill>
              </a:rPr>
              <a:t>Suggested source: Internal Licence Management Service Design v2</a:t>
            </a:r>
            <a:endParaRPr lang="en-US" sz="850" dirty="0"/>
          </a:p>
        </p:txBody>
      </p:sp>
      <p:sp>
        <p:nvSpPr>
          <p:cNvPr id="10" name="Text 8"/>
          <p:cNvSpPr/>
          <p:nvPr/>
        </p:nvSpPr>
        <p:spPr>
          <a:xfrm>
            <a:off x="8275320" y="1234440"/>
            <a:ext cx="3337560" cy="2103120"/>
          </a:xfrm>
          <a:prstGeom prst="rect">
            <a:avLst/>
          </a:prstGeom>
          <a:noFill/>
          <a:ln/>
        </p:spPr>
        <p:txBody>
          <a:bodyPr wrap="square" lIns="1016" tIns="1016" rIns="1016" bIns="1016" rtlCol="0" anchor="t">
            <a:normAutofit/>
          </a:bodyPr>
          <a:lstStyle/>
          <a:p>
            <a:r>
              <a:rPr lang="en-US" sz="1400" dirty="0">
                <a:solidFill>
                  <a:srgbClr val="333333"/>
                </a:solidFill>
              </a:rPr>
              <a:t>ILMS sits inside the CDS/BOLT platform.</a:t>
            </a:r>
            <a:endParaRPr lang="en-US" sz="1400" dirty="0"/>
          </a:p>
          <a:p>
            <a:r>
              <a:rPr lang="en-US" sz="1400" dirty="0">
                <a:solidFill>
                  <a:srgbClr val="333333"/>
                </a:solidFill>
              </a:rPr>
              <a:t>Integrates with DMS, Licence UI, Auth Service and IBM MQ.</a:t>
            </a:r>
            <a:endParaRPr lang="en-US" sz="1400" dirty="0"/>
          </a:p>
          <a:p>
            <a:r>
              <a:rPr lang="en-US" sz="1400" dirty="0">
                <a:solidFill>
                  <a:srgbClr val="333333"/>
                </a:solidFill>
              </a:rPr>
              <a:t>Receives or exposes licence update and usage capabilities.</a:t>
            </a:r>
            <a:endParaRPr lang="en-US" sz="1400" dirty="0"/>
          </a:p>
          <a:p>
            <a:r>
              <a:rPr lang="en-US" sz="1400" dirty="0">
                <a:solidFill>
                  <a:srgbClr val="333333"/>
                </a:solidFill>
              </a:rPr>
              <a:t>Acts as the store and processing point for internal electronic licences.</a:t>
            </a:r>
            <a:endParaRPr lang="en-US" sz="1400" dirty="0"/>
          </a:p>
        </p:txBody>
      </p:sp>
      <p:sp>
        <p:nvSpPr>
          <p:cNvPr id="11" name="Shape 9"/>
          <p:cNvSpPr/>
          <p:nvPr/>
        </p:nvSpPr>
        <p:spPr>
          <a:xfrm>
            <a:off x="8275320" y="3749040"/>
            <a:ext cx="3337560" cy="1143000"/>
          </a:xfrm>
          <a:prstGeom prst="roundRect">
            <a:avLst>
              <a:gd name="adj" fmla="val 4800"/>
            </a:avLst>
          </a:prstGeom>
          <a:solidFill>
            <a:srgbClr val="FFF3CD"/>
          </a:solidFill>
          <a:ln w="12700">
            <a:solidFill>
              <a:srgbClr val="E0B000"/>
            </a:solidFill>
            <a:prstDash val="solid"/>
          </a:ln>
        </p:spPr>
      </p:sp>
      <p:sp>
        <p:nvSpPr>
          <p:cNvPr id="12" name="Text 10"/>
          <p:cNvSpPr/>
          <p:nvPr/>
        </p:nvSpPr>
        <p:spPr>
          <a:xfrm>
            <a:off x="8385048" y="3877056"/>
            <a:ext cx="3118104" cy="886968"/>
          </a:xfrm>
          <a:prstGeom prst="rect">
            <a:avLst/>
          </a:prstGeom>
          <a:noFill/>
          <a:ln/>
        </p:spPr>
        <p:txBody>
          <a:bodyPr wrap="square" lIns="0" tIns="0" rIns="0" bIns="0" rtlCol="0" anchor="ctr">
            <a:normAutofit/>
          </a:bodyPr>
          <a:lstStyle/>
          <a:p>
            <a:pPr algn="ctr" indent="0" marL="0">
              <a:buNone/>
            </a:pPr>
            <a:r>
              <a:rPr lang="en-US" sz="1200" b="1" dirty="0">
                <a:solidFill>
                  <a:srgbClr val="333333"/>
                </a:solidFill>
              </a:rPr>
              <a:t>Presenter prompt</a:t>
            </a:r>
            <a:endParaRPr lang="en-US" sz="1200" dirty="0"/>
          </a:p>
          <a:p>
            <a:pPr algn="ctr" indent="0" marL="0">
              <a:buNone/>
            </a:pPr>
            <a:endParaRPr lang="en-US" sz="1200" dirty="0"/>
          </a:p>
          <a:p>
            <a:pPr algn="ctr" indent="0" marL="0">
              <a:buNone/>
            </a:pPr>
            <a:r>
              <a:rPr lang="en-US" sz="1200" b="1" dirty="0">
                <a:solidFill>
                  <a:srgbClr val="333333"/>
                </a:solidFill>
              </a:rPr>
              <a:t>Walk the audience around the diagram. Do not explain every box. Focus on the main data flows.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0972800" cy="384048"/>
          </a:xfrm>
          <a:prstGeom prst="rect">
            <a:avLst/>
          </a:prstGeom>
          <a:noFill/>
          <a:ln/>
        </p:spPr>
        <p:txBody>
          <a:bodyPr wrap="square" lIns="0" tIns="0" rIns="0" bIns="0" rtlCol="0" anchor="ctr"/>
          <a:lstStyle/>
          <a:p>
            <a:pPr indent="0" marL="0">
              <a:buNone/>
            </a:pPr>
            <a:r>
              <a:rPr lang="en-US" sz="2600" b="1" dirty="0">
                <a:solidFill>
                  <a:srgbClr val="003366"/>
                </a:solidFill>
                <a:latin typeface="Arial" pitchFamily="34" charset="0"/>
                <a:ea typeface="Arial" pitchFamily="34" charset="-122"/>
                <a:cs typeface="Arial" pitchFamily="34" charset="-120"/>
              </a:rPr>
              <a:t>Component Responsibilities</a:t>
            </a:r>
            <a:endParaRPr lang="en-US" sz="2600" dirty="0"/>
          </a:p>
        </p:txBody>
      </p:sp>
      <p:sp>
        <p:nvSpPr>
          <p:cNvPr id="3" name="Text 1"/>
          <p:cNvSpPr/>
          <p:nvPr/>
        </p:nvSpPr>
        <p:spPr>
          <a:xfrm>
            <a:off x="521208" y="749808"/>
            <a:ext cx="10515600" cy="228600"/>
          </a:xfrm>
          <a:prstGeom prst="rect">
            <a:avLst/>
          </a:prstGeom>
          <a:noFill/>
          <a:ln/>
        </p:spPr>
        <p:txBody>
          <a:bodyPr wrap="square" lIns="0" tIns="0" rIns="0" bIns="0" rtlCol="0" anchor="ctr"/>
          <a:lstStyle/>
          <a:p>
            <a:pPr indent="0" marL="0">
              <a:buNone/>
            </a:pPr>
            <a:r>
              <a:rPr lang="en-US" sz="1050" dirty="0">
                <a:solidFill>
                  <a:srgbClr val="666666"/>
                </a:solidFill>
              </a:rPr>
              <a:t>What each major system contributes</a:t>
            </a:r>
            <a:endParaRPr lang="en-US" sz="1050" dirty="0"/>
          </a:p>
        </p:txBody>
      </p:sp>
      <p:sp>
        <p:nvSpPr>
          <p:cNvPr id="4" name="Shape 2"/>
          <p:cNvSpPr/>
          <p:nvPr/>
        </p:nvSpPr>
        <p:spPr>
          <a:xfrm>
            <a:off x="457200" y="6355080"/>
            <a:ext cx="11274552" cy="0"/>
          </a:xfrm>
          <a:prstGeom prst="line">
            <a:avLst/>
          </a:prstGeom>
          <a:noFill/>
          <a:ln w="8890">
            <a:solidFill>
              <a:srgbClr val="D9DEE3"/>
            </a:solidFill>
            <a:prstDash val="solid"/>
          </a:ln>
        </p:spPr>
      </p:sp>
      <p:sp>
        <p:nvSpPr>
          <p:cNvPr id="5" name="Text 3"/>
          <p:cNvSpPr/>
          <p:nvPr/>
        </p:nvSpPr>
        <p:spPr>
          <a:xfrm>
            <a:off x="457200" y="6419088"/>
            <a:ext cx="7315200" cy="228600"/>
          </a:xfrm>
          <a:prstGeom prst="rect">
            <a:avLst/>
          </a:prstGeom>
          <a:noFill/>
          <a:ln/>
        </p:spPr>
        <p:txBody>
          <a:bodyPr wrap="square" rtlCol="0" anchor="ctr"/>
          <a:lstStyle/>
          <a:p>
            <a:pPr indent="0" marL="0">
              <a:buNone/>
            </a:pPr>
            <a:r>
              <a:rPr lang="en-US" sz="850" dirty="0">
                <a:solidFill>
                  <a:srgbClr val="666666"/>
                </a:solidFill>
                <a:latin typeface="Arial" pitchFamily="34" charset="0"/>
                <a:ea typeface="Arial" pitchFamily="34" charset="-122"/>
                <a:cs typeface="Arial" pitchFamily="34" charset="-120"/>
              </a:rPr>
              <a:t>ILMS Knowledge Transfer | Architecture Overview</a:t>
            </a:r>
            <a:endParaRPr lang="en-US" sz="850" dirty="0"/>
          </a:p>
        </p:txBody>
      </p:sp>
      <p:sp>
        <p:nvSpPr>
          <p:cNvPr id="6" name="Text 4"/>
          <p:cNvSpPr/>
          <p:nvPr/>
        </p:nvSpPr>
        <p:spPr>
          <a:xfrm>
            <a:off x="11292840" y="6419088"/>
            <a:ext cx="457200" cy="228600"/>
          </a:xfrm>
          <a:prstGeom prst="rect">
            <a:avLst/>
          </a:prstGeom>
          <a:noFill/>
          <a:ln/>
        </p:spPr>
        <p:txBody>
          <a:bodyPr wrap="square" rtlCol="0" anchor="ctr"/>
          <a:lstStyle/>
          <a:p>
            <a:pPr algn="r" indent="0" marL="0">
              <a:buNone/>
            </a:pPr>
            <a:r>
              <a:rPr lang="en-US" sz="850" dirty="0">
                <a:solidFill>
                  <a:srgbClr val="666666"/>
                </a:solidFill>
              </a:rPr>
              <a:t>9</a:t>
            </a:r>
            <a:endParaRPr lang="en-US" sz="850" dirty="0"/>
          </a:p>
        </p:txBody>
      </p:sp>
      <p:sp>
        <p:nvSpPr>
          <p:cNvPr id="7" name="Shape 5"/>
          <p:cNvSpPr/>
          <p:nvPr/>
        </p:nvSpPr>
        <p:spPr>
          <a:xfrm>
            <a:off x="731520" y="1051560"/>
            <a:ext cx="2057400" cy="502920"/>
          </a:xfrm>
          <a:prstGeom prst="roundRect">
            <a:avLst>
              <a:gd name="adj" fmla="val 10909"/>
            </a:avLst>
          </a:prstGeom>
          <a:solidFill>
            <a:srgbClr val="F3F8FC"/>
          </a:solidFill>
          <a:ln w="12700">
            <a:solidFill>
              <a:srgbClr val="D9DEE3"/>
            </a:solidFill>
            <a:prstDash val="solid"/>
          </a:ln>
        </p:spPr>
      </p:sp>
      <p:sp>
        <p:nvSpPr>
          <p:cNvPr id="8" name="Text 6"/>
          <p:cNvSpPr/>
          <p:nvPr/>
        </p:nvSpPr>
        <p:spPr>
          <a:xfrm>
            <a:off x="841248" y="1179576"/>
            <a:ext cx="1837944" cy="246888"/>
          </a:xfrm>
          <a:prstGeom prst="rect">
            <a:avLst/>
          </a:prstGeom>
          <a:noFill/>
          <a:ln/>
        </p:spPr>
        <p:txBody>
          <a:bodyPr wrap="square" lIns="0" tIns="0" rIns="0" bIns="0" rtlCol="0" anchor="ctr">
            <a:normAutofit/>
          </a:bodyPr>
          <a:lstStyle/>
          <a:p>
            <a:pPr algn="ctr" indent="0" marL="0">
              <a:buNone/>
            </a:pPr>
            <a:r>
              <a:rPr lang="en-US" sz="1200" b="1" dirty="0">
                <a:solidFill>
                  <a:srgbClr val="333333"/>
                </a:solidFill>
              </a:rPr>
              <a:t>ILMS</a:t>
            </a:r>
            <a:endParaRPr lang="en-US" sz="1200" dirty="0"/>
          </a:p>
        </p:txBody>
      </p:sp>
      <p:sp>
        <p:nvSpPr>
          <p:cNvPr id="9" name="Text 7"/>
          <p:cNvSpPr/>
          <p:nvPr/>
        </p:nvSpPr>
        <p:spPr>
          <a:xfrm>
            <a:off x="2971800" y="1161288"/>
            <a:ext cx="8138160" cy="228600"/>
          </a:xfrm>
          <a:prstGeom prst="rect">
            <a:avLst/>
          </a:prstGeom>
          <a:noFill/>
          <a:ln/>
        </p:spPr>
        <p:txBody>
          <a:bodyPr wrap="square" lIns="0" tIns="0" rIns="0" bIns="0" rtlCol="0" anchor="ctr"/>
          <a:lstStyle/>
          <a:p>
            <a:pPr indent="0" marL="0">
              <a:buNone/>
            </a:pPr>
            <a:r>
              <a:rPr lang="en-US" sz="1350" dirty="0">
                <a:solidFill>
                  <a:srgbClr val="333333"/>
                </a:solidFill>
              </a:rPr>
              <a:t>Stores, validates and manages licence data.</a:t>
            </a:r>
            <a:endParaRPr lang="en-US" sz="1350" dirty="0"/>
          </a:p>
        </p:txBody>
      </p:sp>
      <p:sp>
        <p:nvSpPr>
          <p:cNvPr id="10" name="Shape 8"/>
          <p:cNvSpPr/>
          <p:nvPr/>
        </p:nvSpPr>
        <p:spPr>
          <a:xfrm>
            <a:off x="731520" y="1737360"/>
            <a:ext cx="2057400" cy="502920"/>
          </a:xfrm>
          <a:prstGeom prst="roundRect">
            <a:avLst>
              <a:gd name="adj" fmla="val 10909"/>
            </a:avLst>
          </a:prstGeom>
          <a:solidFill>
            <a:srgbClr val="FFFFFF"/>
          </a:solidFill>
          <a:ln w="12700">
            <a:solidFill>
              <a:srgbClr val="D9DEE3"/>
            </a:solidFill>
            <a:prstDash val="solid"/>
          </a:ln>
        </p:spPr>
      </p:sp>
      <p:sp>
        <p:nvSpPr>
          <p:cNvPr id="11" name="Text 9"/>
          <p:cNvSpPr/>
          <p:nvPr/>
        </p:nvSpPr>
        <p:spPr>
          <a:xfrm>
            <a:off x="841248" y="1865376"/>
            <a:ext cx="1837944" cy="246888"/>
          </a:xfrm>
          <a:prstGeom prst="rect">
            <a:avLst/>
          </a:prstGeom>
          <a:noFill/>
          <a:ln/>
        </p:spPr>
        <p:txBody>
          <a:bodyPr wrap="square" lIns="0" tIns="0" rIns="0" bIns="0" rtlCol="0" anchor="ctr">
            <a:normAutofit/>
          </a:bodyPr>
          <a:lstStyle/>
          <a:p>
            <a:pPr algn="ctr" indent="0" marL="0">
              <a:buNone/>
            </a:pPr>
            <a:r>
              <a:rPr lang="en-US" sz="1200" b="1" dirty="0">
                <a:solidFill>
                  <a:srgbClr val="333333"/>
                </a:solidFill>
              </a:rPr>
              <a:t>DMS</a:t>
            </a:r>
            <a:endParaRPr lang="en-US" sz="1200" dirty="0"/>
          </a:p>
        </p:txBody>
      </p:sp>
      <p:sp>
        <p:nvSpPr>
          <p:cNvPr id="12" name="Text 10"/>
          <p:cNvSpPr/>
          <p:nvPr/>
        </p:nvSpPr>
        <p:spPr>
          <a:xfrm>
            <a:off x="2971800" y="1847088"/>
            <a:ext cx="8138160" cy="228600"/>
          </a:xfrm>
          <a:prstGeom prst="rect">
            <a:avLst/>
          </a:prstGeom>
          <a:noFill/>
          <a:ln/>
        </p:spPr>
        <p:txBody>
          <a:bodyPr wrap="square" lIns="0" tIns="0" rIns="0" bIns="0" rtlCol="0" anchor="ctr"/>
          <a:lstStyle/>
          <a:p>
            <a:pPr indent="0" marL="0">
              <a:buNone/>
            </a:pPr>
            <a:r>
              <a:rPr lang="en-US" sz="1350" dirty="0">
                <a:solidFill>
                  <a:srgbClr val="333333"/>
                </a:solidFill>
              </a:rPr>
              <a:t>Identifies declarations containing licences and initiates licence processing.</a:t>
            </a:r>
            <a:endParaRPr lang="en-US" sz="1350" dirty="0"/>
          </a:p>
        </p:txBody>
      </p:sp>
      <p:sp>
        <p:nvSpPr>
          <p:cNvPr id="13" name="Shape 11"/>
          <p:cNvSpPr/>
          <p:nvPr/>
        </p:nvSpPr>
        <p:spPr>
          <a:xfrm>
            <a:off x="731520" y="2423160"/>
            <a:ext cx="2057400" cy="502920"/>
          </a:xfrm>
          <a:prstGeom prst="roundRect">
            <a:avLst>
              <a:gd name="adj" fmla="val 10909"/>
            </a:avLst>
          </a:prstGeom>
          <a:solidFill>
            <a:srgbClr val="F3F8FC"/>
          </a:solidFill>
          <a:ln w="12700">
            <a:solidFill>
              <a:srgbClr val="D9DEE3"/>
            </a:solidFill>
            <a:prstDash val="solid"/>
          </a:ln>
        </p:spPr>
      </p:sp>
      <p:sp>
        <p:nvSpPr>
          <p:cNvPr id="14" name="Text 12"/>
          <p:cNvSpPr/>
          <p:nvPr/>
        </p:nvSpPr>
        <p:spPr>
          <a:xfrm>
            <a:off x="841248" y="2551176"/>
            <a:ext cx="1837944" cy="246888"/>
          </a:xfrm>
          <a:prstGeom prst="rect">
            <a:avLst/>
          </a:prstGeom>
          <a:noFill/>
          <a:ln/>
        </p:spPr>
        <p:txBody>
          <a:bodyPr wrap="square" lIns="0" tIns="0" rIns="0" bIns="0" rtlCol="0" anchor="ctr">
            <a:normAutofit/>
          </a:bodyPr>
          <a:lstStyle/>
          <a:p>
            <a:pPr algn="ctr" indent="0" marL="0">
              <a:buNone/>
            </a:pPr>
            <a:r>
              <a:rPr lang="en-US" sz="1200" b="1" dirty="0">
                <a:solidFill>
                  <a:srgbClr val="333333"/>
                </a:solidFill>
              </a:rPr>
              <a:t>Licence UI</a:t>
            </a:r>
            <a:endParaRPr lang="en-US" sz="1200" dirty="0"/>
          </a:p>
        </p:txBody>
      </p:sp>
      <p:sp>
        <p:nvSpPr>
          <p:cNvPr id="15" name="Text 13"/>
          <p:cNvSpPr/>
          <p:nvPr/>
        </p:nvSpPr>
        <p:spPr>
          <a:xfrm>
            <a:off x="2971800" y="2532888"/>
            <a:ext cx="8138160" cy="228600"/>
          </a:xfrm>
          <a:prstGeom prst="rect">
            <a:avLst/>
          </a:prstGeom>
          <a:noFill/>
          <a:ln/>
        </p:spPr>
        <p:txBody>
          <a:bodyPr wrap="square" lIns="0" tIns="0" rIns="0" bIns="0" rtlCol="0" anchor="ctr"/>
          <a:lstStyle/>
          <a:p>
            <a:pPr indent="0" marL="0">
              <a:buNone/>
            </a:pPr>
            <a:r>
              <a:rPr lang="en-US" sz="1350" dirty="0">
                <a:solidFill>
                  <a:srgbClr val="333333"/>
                </a:solidFill>
              </a:rPr>
              <a:t>Supports operational creation/amendment of licences and manual actions.</a:t>
            </a:r>
            <a:endParaRPr lang="en-US" sz="1350" dirty="0"/>
          </a:p>
        </p:txBody>
      </p:sp>
      <p:sp>
        <p:nvSpPr>
          <p:cNvPr id="16" name="Shape 14"/>
          <p:cNvSpPr/>
          <p:nvPr/>
        </p:nvSpPr>
        <p:spPr>
          <a:xfrm>
            <a:off x="731520" y="3108960"/>
            <a:ext cx="2057400" cy="502920"/>
          </a:xfrm>
          <a:prstGeom prst="roundRect">
            <a:avLst>
              <a:gd name="adj" fmla="val 10909"/>
            </a:avLst>
          </a:prstGeom>
          <a:solidFill>
            <a:srgbClr val="FFFFFF"/>
          </a:solidFill>
          <a:ln w="12700">
            <a:solidFill>
              <a:srgbClr val="D9DEE3"/>
            </a:solidFill>
            <a:prstDash val="solid"/>
          </a:ln>
        </p:spPr>
      </p:sp>
      <p:sp>
        <p:nvSpPr>
          <p:cNvPr id="17" name="Text 15"/>
          <p:cNvSpPr/>
          <p:nvPr/>
        </p:nvSpPr>
        <p:spPr>
          <a:xfrm>
            <a:off x="841248" y="3236976"/>
            <a:ext cx="1837944" cy="246888"/>
          </a:xfrm>
          <a:prstGeom prst="rect">
            <a:avLst/>
          </a:prstGeom>
          <a:noFill/>
          <a:ln/>
        </p:spPr>
        <p:txBody>
          <a:bodyPr wrap="square" lIns="0" tIns="0" rIns="0" bIns="0" rtlCol="0" anchor="ctr">
            <a:normAutofit/>
          </a:bodyPr>
          <a:lstStyle/>
          <a:p>
            <a:pPr algn="ctr" indent="0" marL="0">
              <a:buNone/>
            </a:pPr>
            <a:r>
              <a:rPr lang="en-US" sz="1200" b="1" dirty="0">
                <a:solidFill>
                  <a:srgbClr val="333333"/>
                </a:solidFill>
              </a:rPr>
              <a:t>Auth Service</a:t>
            </a:r>
            <a:endParaRPr lang="en-US" sz="1200" dirty="0"/>
          </a:p>
        </p:txBody>
      </p:sp>
      <p:sp>
        <p:nvSpPr>
          <p:cNvPr id="18" name="Text 16"/>
          <p:cNvSpPr/>
          <p:nvPr/>
        </p:nvSpPr>
        <p:spPr>
          <a:xfrm>
            <a:off x="2971800" y="3218688"/>
            <a:ext cx="8138160" cy="228600"/>
          </a:xfrm>
          <a:prstGeom prst="rect">
            <a:avLst/>
          </a:prstGeom>
          <a:noFill/>
          <a:ln/>
        </p:spPr>
        <p:txBody>
          <a:bodyPr wrap="square" lIns="0" tIns="0" rIns="0" bIns="0" rtlCol="0" anchor="ctr"/>
          <a:lstStyle/>
          <a:p>
            <a:pPr indent="0" marL="0">
              <a:buNone/>
            </a:pPr>
            <a:r>
              <a:rPr lang="en-US" sz="1350" dirty="0">
                <a:solidFill>
                  <a:srgbClr val="333333"/>
                </a:solidFill>
              </a:rPr>
              <a:t>Integration component between DMS and ILMS / related services.</a:t>
            </a:r>
            <a:endParaRPr lang="en-US" sz="1350" dirty="0"/>
          </a:p>
        </p:txBody>
      </p:sp>
      <p:sp>
        <p:nvSpPr>
          <p:cNvPr id="19" name="Shape 17"/>
          <p:cNvSpPr/>
          <p:nvPr/>
        </p:nvSpPr>
        <p:spPr>
          <a:xfrm>
            <a:off x="731520" y="3794760"/>
            <a:ext cx="2057400" cy="502920"/>
          </a:xfrm>
          <a:prstGeom prst="roundRect">
            <a:avLst>
              <a:gd name="adj" fmla="val 10909"/>
            </a:avLst>
          </a:prstGeom>
          <a:solidFill>
            <a:srgbClr val="F3F8FC"/>
          </a:solidFill>
          <a:ln w="12700">
            <a:solidFill>
              <a:srgbClr val="D9DEE3"/>
            </a:solidFill>
            <a:prstDash val="solid"/>
          </a:ln>
        </p:spPr>
      </p:sp>
      <p:sp>
        <p:nvSpPr>
          <p:cNvPr id="20" name="Text 18"/>
          <p:cNvSpPr/>
          <p:nvPr/>
        </p:nvSpPr>
        <p:spPr>
          <a:xfrm>
            <a:off x="841248" y="3922776"/>
            <a:ext cx="1837944" cy="246888"/>
          </a:xfrm>
          <a:prstGeom prst="rect">
            <a:avLst/>
          </a:prstGeom>
          <a:noFill/>
          <a:ln/>
        </p:spPr>
        <p:txBody>
          <a:bodyPr wrap="square" lIns="0" tIns="0" rIns="0" bIns="0" rtlCol="0" anchor="ctr">
            <a:normAutofit/>
          </a:bodyPr>
          <a:lstStyle/>
          <a:p>
            <a:pPr algn="ctr" indent="0" marL="0">
              <a:buNone/>
            </a:pPr>
            <a:r>
              <a:rPr lang="en-US" sz="1200" b="1" dirty="0">
                <a:solidFill>
                  <a:srgbClr val="333333"/>
                </a:solidFill>
              </a:rPr>
              <a:t>IBM MQ / JMS</a:t>
            </a:r>
            <a:endParaRPr lang="en-US" sz="1200" dirty="0"/>
          </a:p>
        </p:txBody>
      </p:sp>
      <p:sp>
        <p:nvSpPr>
          <p:cNvPr id="21" name="Text 19"/>
          <p:cNvSpPr/>
          <p:nvPr/>
        </p:nvSpPr>
        <p:spPr>
          <a:xfrm>
            <a:off x="2971800" y="3904488"/>
            <a:ext cx="8138160" cy="228600"/>
          </a:xfrm>
          <a:prstGeom prst="rect">
            <a:avLst/>
          </a:prstGeom>
          <a:noFill/>
          <a:ln/>
        </p:spPr>
        <p:txBody>
          <a:bodyPr wrap="square" lIns="0" tIns="0" rIns="0" bIns="0" rtlCol="0" anchor="ctr"/>
          <a:lstStyle/>
          <a:p>
            <a:pPr indent="0" marL="0">
              <a:buNone/>
            </a:pPr>
            <a:r>
              <a:rPr lang="en-US" sz="1350" dirty="0">
                <a:solidFill>
                  <a:srgbClr val="333333"/>
                </a:solidFill>
              </a:rPr>
              <a:t>Asynchronous messaging path for declaration/licence interactions.</a:t>
            </a:r>
            <a:endParaRPr lang="en-US" sz="1350" dirty="0"/>
          </a:p>
        </p:txBody>
      </p:sp>
      <p:sp>
        <p:nvSpPr>
          <p:cNvPr id="22" name="Shape 20"/>
          <p:cNvSpPr/>
          <p:nvPr/>
        </p:nvSpPr>
        <p:spPr>
          <a:xfrm>
            <a:off x="731520" y="4480560"/>
            <a:ext cx="2057400" cy="502920"/>
          </a:xfrm>
          <a:prstGeom prst="roundRect">
            <a:avLst>
              <a:gd name="adj" fmla="val 10909"/>
            </a:avLst>
          </a:prstGeom>
          <a:solidFill>
            <a:srgbClr val="FFFFFF"/>
          </a:solidFill>
          <a:ln w="12700">
            <a:solidFill>
              <a:srgbClr val="D9DEE3"/>
            </a:solidFill>
            <a:prstDash val="solid"/>
          </a:ln>
        </p:spPr>
      </p:sp>
      <p:sp>
        <p:nvSpPr>
          <p:cNvPr id="23" name="Text 21"/>
          <p:cNvSpPr/>
          <p:nvPr/>
        </p:nvSpPr>
        <p:spPr>
          <a:xfrm>
            <a:off x="841248" y="4608576"/>
            <a:ext cx="1837944" cy="246888"/>
          </a:xfrm>
          <a:prstGeom prst="rect">
            <a:avLst/>
          </a:prstGeom>
          <a:noFill/>
          <a:ln/>
        </p:spPr>
        <p:txBody>
          <a:bodyPr wrap="square" lIns="0" tIns="0" rIns="0" bIns="0" rtlCol="0" anchor="ctr">
            <a:normAutofit/>
          </a:bodyPr>
          <a:lstStyle/>
          <a:p>
            <a:pPr algn="ctr" indent="0" marL="0">
              <a:buNone/>
            </a:pPr>
            <a:r>
              <a:rPr lang="en-US" sz="1200" b="1" dirty="0">
                <a:solidFill>
                  <a:srgbClr val="333333"/>
                </a:solidFill>
              </a:rPr>
              <a:t>EIS / MDTP</a:t>
            </a:r>
            <a:endParaRPr lang="en-US" sz="1200" dirty="0"/>
          </a:p>
        </p:txBody>
      </p:sp>
      <p:sp>
        <p:nvSpPr>
          <p:cNvPr id="24" name="Text 22"/>
          <p:cNvSpPr/>
          <p:nvPr/>
        </p:nvSpPr>
        <p:spPr>
          <a:xfrm>
            <a:off x="2971800" y="4590288"/>
            <a:ext cx="8138160" cy="228600"/>
          </a:xfrm>
          <a:prstGeom prst="rect">
            <a:avLst/>
          </a:prstGeom>
          <a:noFill/>
          <a:ln/>
        </p:spPr>
        <p:txBody>
          <a:bodyPr wrap="square" lIns="0" tIns="0" rIns="0" bIns="0" rtlCol="0" anchor="ctr"/>
          <a:lstStyle/>
          <a:p>
            <a:pPr indent="0" marL="0">
              <a:buNone/>
            </a:pPr>
            <a:r>
              <a:rPr lang="en-US" sz="1350" dirty="0">
                <a:solidFill>
                  <a:srgbClr val="333333"/>
                </a:solidFill>
              </a:rPr>
              <a:t>Integration and digital platform routing for API and messaging traffic.</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0972800" cy="384048"/>
          </a:xfrm>
          <a:prstGeom prst="rect">
            <a:avLst/>
          </a:prstGeom>
          <a:noFill/>
          <a:ln/>
        </p:spPr>
        <p:txBody>
          <a:bodyPr wrap="square" lIns="0" tIns="0" rIns="0" bIns="0" rtlCol="0" anchor="ctr"/>
          <a:lstStyle/>
          <a:p>
            <a:pPr indent="0" marL="0">
              <a:buNone/>
            </a:pPr>
            <a:r>
              <a:rPr lang="en-US" sz="2600" b="1" dirty="0">
                <a:solidFill>
                  <a:srgbClr val="003366"/>
                </a:solidFill>
                <a:latin typeface="Arial" pitchFamily="34" charset="0"/>
                <a:ea typeface="Arial" pitchFamily="34" charset="-122"/>
                <a:cs typeface="Arial" pitchFamily="34" charset="-120"/>
              </a:rPr>
              <a:t>Core Business Flows</a:t>
            </a:r>
            <a:endParaRPr lang="en-US" sz="2600" dirty="0"/>
          </a:p>
        </p:txBody>
      </p:sp>
      <p:sp>
        <p:nvSpPr>
          <p:cNvPr id="3" name="Text 1"/>
          <p:cNvSpPr/>
          <p:nvPr/>
        </p:nvSpPr>
        <p:spPr>
          <a:xfrm>
            <a:off x="521208" y="749808"/>
            <a:ext cx="10515600" cy="228600"/>
          </a:xfrm>
          <a:prstGeom prst="rect">
            <a:avLst/>
          </a:prstGeom>
          <a:noFill/>
          <a:ln/>
        </p:spPr>
        <p:txBody>
          <a:bodyPr wrap="square" lIns="0" tIns="0" rIns="0" bIns="0" rtlCol="0" anchor="ctr"/>
          <a:lstStyle/>
          <a:p>
            <a:pPr indent="0" marL="0">
              <a:buNone/>
            </a:pPr>
            <a:r>
              <a:rPr lang="en-US" sz="1050" dirty="0">
                <a:solidFill>
                  <a:srgbClr val="666666"/>
                </a:solidFill>
              </a:rPr>
              <a:t>The three flows to understand first</a:t>
            </a:r>
            <a:endParaRPr lang="en-US" sz="1050" dirty="0"/>
          </a:p>
        </p:txBody>
      </p:sp>
      <p:sp>
        <p:nvSpPr>
          <p:cNvPr id="4" name="Shape 2"/>
          <p:cNvSpPr/>
          <p:nvPr/>
        </p:nvSpPr>
        <p:spPr>
          <a:xfrm>
            <a:off x="457200" y="6355080"/>
            <a:ext cx="11274552" cy="0"/>
          </a:xfrm>
          <a:prstGeom prst="line">
            <a:avLst/>
          </a:prstGeom>
          <a:noFill/>
          <a:ln w="8890">
            <a:solidFill>
              <a:srgbClr val="D9DEE3"/>
            </a:solidFill>
            <a:prstDash val="solid"/>
          </a:ln>
        </p:spPr>
      </p:sp>
      <p:sp>
        <p:nvSpPr>
          <p:cNvPr id="5" name="Text 3"/>
          <p:cNvSpPr/>
          <p:nvPr/>
        </p:nvSpPr>
        <p:spPr>
          <a:xfrm>
            <a:off x="457200" y="6419088"/>
            <a:ext cx="7315200" cy="228600"/>
          </a:xfrm>
          <a:prstGeom prst="rect">
            <a:avLst/>
          </a:prstGeom>
          <a:noFill/>
          <a:ln/>
        </p:spPr>
        <p:txBody>
          <a:bodyPr wrap="square" rtlCol="0" anchor="ctr"/>
          <a:lstStyle/>
          <a:p>
            <a:pPr indent="0" marL="0">
              <a:buNone/>
            </a:pPr>
            <a:r>
              <a:rPr lang="en-US" sz="850" dirty="0">
                <a:solidFill>
                  <a:srgbClr val="666666"/>
                </a:solidFill>
                <a:latin typeface="Arial" pitchFamily="34" charset="0"/>
                <a:ea typeface="Arial" pitchFamily="34" charset="-122"/>
                <a:cs typeface="Arial" pitchFamily="34" charset="-120"/>
              </a:rPr>
              <a:t>ILMS Knowledge Transfer | Architecture Overview</a:t>
            </a:r>
            <a:endParaRPr lang="en-US" sz="850" dirty="0"/>
          </a:p>
        </p:txBody>
      </p:sp>
      <p:sp>
        <p:nvSpPr>
          <p:cNvPr id="6" name="Text 4"/>
          <p:cNvSpPr/>
          <p:nvPr/>
        </p:nvSpPr>
        <p:spPr>
          <a:xfrm>
            <a:off x="11292840" y="6419088"/>
            <a:ext cx="457200" cy="228600"/>
          </a:xfrm>
          <a:prstGeom prst="rect">
            <a:avLst/>
          </a:prstGeom>
          <a:noFill/>
          <a:ln/>
        </p:spPr>
        <p:txBody>
          <a:bodyPr wrap="square" rtlCol="0" anchor="ctr"/>
          <a:lstStyle/>
          <a:p>
            <a:pPr algn="r" indent="0" marL="0">
              <a:buNone/>
            </a:pPr>
            <a:r>
              <a:rPr lang="en-US" sz="850" dirty="0">
                <a:solidFill>
                  <a:srgbClr val="666666"/>
                </a:solidFill>
              </a:rPr>
              <a:t>10</a:t>
            </a:r>
            <a:endParaRPr lang="en-US" sz="850" dirty="0"/>
          </a:p>
        </p:txBody>
      </p:sp>
      <p:sp>
        <p:nvSpPr>
          <p:cNvPr id="7" name="Shape 5"/>
          <p:cNvSpPr/>
          <p:nvPr/>
        </p:nvSpPr>
        <p:spPr>
          <a:xfrm>
            <a:off x="822960" y="1417320"/>
            <a:ext cx="3246120" cy="2926080"/>
          </a:xfrm>
          <a:prstGeom prst="roundRect">
            <a:avLst>
              <a:gd name="adj" fmla="val 1875"/>
            </a:avLst>
          </a:prstGeom>
          <a:solidFill>
            <a:srgbClr val="F3F8FC"/>
          </a:solidFill>
          <a:ln w="12700">
            <a:solidFill>
              <a:srgbClr val="1F5E99"/>
            </a:solidFill>
            <a:prstDash val="solid"/>
          </a:ln>
        </p:spPr>
      </p:sp>
      <p:sp>
        <p:nvSpPr>
          <p:cNvPr id="8" name="Text 6"/>
          <p:cNvSpPr/>
          <p:nvPr/>
        </p:nvSpPr>
        <p:spPr>
          <a:xfrm>
            <a:off x="932688" y="1545336"/>
            <a:ext cx="3026664" cy="2670048"/>
          </a:xfrm>
          <a:prstGeom prst="rect">
            <a:avLst/>
          </a:prstGeom>
          <a:noFill/>
          <a:ln/>
        </p:spPr>
        <p:txBody>
          <a:bodyPr wrap="square" lIns="0" tIns="0" rIns="0" bIns="0" rtlCol="0" anchor="ctr">
            <a:normAutofit/>
          </a:bodyPr>
          <a:lstStyle/>
          <a:p>
            <a:pPr algn="ctr" indent="0" marL="0">
              <a:buNone/>
            </a:pPr>
            <a:r>
              <a:rPr lang="en-US" sz="1300" b="1" dirty="0">
                <a:solidFill>
                  <a:srgbClr val="333333"/>
                </a:solidFill>
              </a:rPr>
              <a:t>1</a:t>
            </a:r>
            <a:endParaRPr lang="en-US" sz="1300" dirty="0"/>
          </a:p>
          <a:p>
            <a:pPr algn="ctr" indent="0" marL="0">
              <a:buNone/>
            </a:pPr>
            <a:r>
              <a:rPr lang="en-US" sz="1300" b="1" dirty="0">
                <a:solidFill>
                  <a:srgbClr val="333333"/>
                </a:solidFill>
              </a:rPr>
              <a:t>Licence Update</a:t>
            </a:r>
            <a:endParaRPr lang="en-US" sz="1300" dirty="0"/>
          </a:p>
          <a:p>
            <a:pPr algn="ctr" indent="0" marL="0">
              <a:buNone/>
            </a:pPr>
            <a:endParaRPr lang="en-US" sz="1300" dirty="0"/>
          </a:p>
          <a:p>
            <a:pPr algn="ctr" indent="0" marL="0">
              <a:buNone/>
            </a:pPr>
            <a:r>
              <a:rPr lang="en-US" sz="1300" b="1" dirty="0">
                <a:solidFill>
                  <a:srgbClr val="333333"/>
                </a:solidFill>
              </a:rPr>
              <a:t>Issuing authority sends licence details to HMRC. ILMS validates and stores.</a:t>
            </a:r>
            <a:endParaRPr lang="en-US" sz="1300" dirty="0"/>
          </a:p>
        </p:txBody>
      </p:sp>
      <p:sp>
        <p:nvSpPr>
          <p:cNvPr id="9" name="Shape 7"/>
          <p:cNvSpPr/>
          <p:nvPr/>
        </p:nvSpPr>
        <p:spPr>
          <a:xfrm>
            <a:off x="4480560" y="1417320"/>
            <a:ext cx="3246120" cy="2926080"/>
          </a:xfrm>
          <a:prstGeom prst="roundRect">
            <a:avLst>
              <a:gd name="adj" fmla="val 1875"/>
            </a:avLst>
          </a:prstGeom>
          <a:solidFill>
            <a:srgbClr val="E9F5EB"/>
          </a:solidFill>
          <a:ln w="12700">
            <a:solidFill>
              <a:srgbClr val="9CC49C"/>
            </a:solidFill>
            <a:prstDash val="solid"/>
          </a:ln>
        </p:spPr>
      </p:sp>
      <p:sp>
        <p:nvSpPr>
          <p:cNvPr id="10" name="Text 8"/>
          <p:cNvSpPr/>
          <p:nvPr/>
        </p:nvSpPr>
        <p:spPr>
          <a:xfrm>
            <a:off x="4590288" y="1545336"/>
            <a:ext cx="3026664" cy="2670048"/>
          </a:xfrm>
          <a:prstGeom prst="rect">
            <a:avLst/>
          </a:prstGeom>
          <a:noFill/>
          <a:ln/>
        </p:spPr>
        <p:txBody>
          <a:bodyPr wrap="square" lIns="0" tIns="0" rIns="0" bIns="0" rtlCol="0" anchor="ctr">
            <a:normAutofit/>
          </a:bodyPr>
          <a:lstStyle/>
          <a:p>
            <a:pPr algn="ctr" indent="0" marL="0">
              <a:buNone/>
            </a:pPr>
            <a:r>
              <a:rPr lang="en-US" sz="1300" b="1" dirty="0">
                <a:solidFill>
                  <a:srgbClr val="333333"/>
                </a:solidFill>
              </a:rPr>
              <a:t>2</a:t>
            </a:r>
            <a:endParaRPr lang="en-US" sz="1300" dirty="0"/>
          </a:p>
          <a:p>
            <a:pPr algn="ctr" indent="0" marL="0">
              <a:buNone/>
            </a:pPr>
            <a:r>
              <a:rPr lang="en-US" sz="1300" b="1" dirty="0">
                <a:solidFill>
                  <a:srgbClr val="333333"/>
                </a:solidFill>
              </a:rPr>
              <a:t>Licence Usage</a:t>
            </a:r>
            <a:endParaRPr lang="en-US" sz="1300" dirty="0"/>
          </a:p>
          <a:p>
            <a:pPr algn="ctr" indent="0" marL="0">
              <a:buNone/>
            </a:pPr>
            <a:endParaRPr lang="en-US" sz="1300" dirty="0"/>
          </a:p>
          <a:p>
            <a:pPr algn="ctr" indent="0" marL="0">
              <a:buNone/>
            </a:pPr>
            <a:r>
              <a:rPr lang="en-US" sz="1300" b="1" dirty="0">
                <a:solidFill>
                  <a:srgbClr val="333333"/>
                </a:solidFill>
              </a:rPr>
              <a:t>After a declaration uses a licence, HMRC reports usage back to the issuing authority.</a:t>
            </a:r>
            <a:endParaRPr lang="en-US" sz="1300" dirty="0"/>
          </a:p>
        </p:txBody>
      </p:sp>
      <p:sp>
        <p:nvSpPr>
          <p:cNvPr id="11" name="Shape 9"/>
          <p:cNvSpPr/>
          <p:nvPr/>
        </p:nvSpPr>
        <p:spPr>
          <a:xfrm>
            <a:off x="8138160" y="1417320"/>
            <a:ext cx="3246120" cy="2926080"/>
          </a:xfrm>
          <a:prstGeom prst="roundRect">
            <a:avLst>
              <a:gd name="adj" fmla="val 1875"/>
            </a:avLst>
          </a:prstGeom>
          <a:solidFill>
            <a:srgbClr val="FCE8D8"/>
          </a:solidFill>
          <a:ln w="12700">
            <a:solidFill>
              <a:srgbClr val="E7A26D"/>
            </a:solidFill>
            <a:prstDash val="solid"/>
          </a:ln>
        </p:spPr>
      </p:sp>
      <p:sp>
        <p:nvSpPr>
          <p:cNvPr id="12" name="Text 10"/>
          <p:cNvSpPr/>
          <p:nvPr/>
        </p:nvSpPr>
        <p:spPr>
          <a:xfrm>
            <a:off x="8247888" y="1545336"/>
            <a:ext cx="3026664" cy="2670048"/>
          </a:xfrm>
          <a:prstGeom prst="rect">
            <a:avLst/>
          </a:prstGeom>
          <a:noFill/>
          <a:ln/>
        </p:spPr>
        <p:txBody>
          <a:bodyPr wrap="square" lIns="0" tIns="0" rIns="0" bIns="0" rtlCol="0" anchor="ctr">
            <a:normAutofit/>
          </a:bodyPr>
          <a:lstStyle/>
          <a:p>
            <a:pPr algn="ctr" indent="0" marL="0">
              <a:buNone/>
            </a:pPr>
            <a:r>
              <a:rPr lang="en-US" sz="1300" b="1" dirty="0">
                <a:solidFill>
                  <a:srgbClr val="333333"/>
                </a:solidFill>
              </a:rPr>
              <a:t>3</a:t>
            </a:r>
            <a:endParaRPr lang="en-US" sz="1300" dirty="0"/>
          </a:p>
          <a:p>
            <a:pPr algn="ctr" indent="0" marL="0">
              <a:buNone/>
            </a:pPr>
            <a:r>
              <a:rPr lang="en-US" sz="1300" b="1" dirty="0">
                <a:solidFill>
                  <a:srgbClr val="333333"/>
                </a:solidFill>
              </a:rPr>
              <a:t>Reservation / Confirmation</a:t>
            </a:r>
            <a:endParaRPr lang="en-US" sz="1300" dirty="0"/>
          </a:p>
          <a:p>
            <a:pPr algn="ctr" indent="0" marL="0">
              <a:buNone/>
            </a:pPr>
            <a:endParaRPr lang="en-US" sz="1300" dirty="0"/>
          </a:p>
          <a:p>
            <a:pPr algn="ctr" indent="0" marL="0">
              <a:buNone/>
            </a:pPr>
            <a:r>
              <a:rPr lang="en-US" sz="1300" b="1" dirty="0">
                <a:solidFill>
                  <a:srgbClr val="333333"/>
                </a:solidFill>
              </a:rPr>
              <a:t>DMS reserves, updates, confirms or releases licence usage during declaration processing.</a:t>
            </a:r>
            <a:endParaRPr lang="en-US" sz="1300" dirty="0"/>
          </a:p>
        </p:txBody>
      </p:sp>
      <p:sp>
        <p:nvSpPr>
          <p:cNvPr id="13" name="Text 11"/>
          <p:cNvSpPr/>
          <p:nvPr/>
        </p:nvSpPr>
        <p:spPr>
          <a:xfrm>
            <a:off x="1097280" y="4983480"/>
            <a:ext cx="9966960" cy="274320"/>
          </a:xfrm>
          <a:prstGeom prst="rect">
            <a:avLst/>
          </a:prstGeom>
          <a:noFill/>
          <a:ln/>
        </p:spPr>
        <p:txBody>
          <a:bodyPr wrap="square" lIns="0" tIns="0" rIns="0" bIns="0" rtlCol="0" anchor="ctr"/>
          <a:lstStyle/>
          <a:p>
            <a:pPr algn="ctr" indent="0" marL="0">
              <a:buNone/>
            </a:pPr>
            <a:r>
              <a:rPr lang="en-US" sz="1700" b="1" dirty="0">
                <a:solidFill>
                  <a:srgbClr val="003366"/>
                </a:solidFill>
              </a:rPr>
              <a:t>If IBM understand these three flows, they can navigate most of the ILMS codebase.</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0972800" cy="384048"/>
          </a:xfrm>
          <a:prstGeom prst="rect">
            <a:avLst/>
          </a:prstGeom>
          <a:noFill/>
          <a:ln/>
        </p:spPr>
        <p:txBody>
          <a:bodyPr wrap="square" lIns="0" tIns="0" rIns="0" bIns="0" rtlCol="0" anchor="ctr"/>
          <a:lstStyle/>
          <a:p>
            <a:pPr indent="0" marL="0">
              <a:buNone/>
            </a:pPr>
            <a:r>
              <a:rPr lang="en-US" sz="2600" b="1" dirty="0">
                <a:solidFill>
                  <a:srgbClr val="003366"/>
                </a:solidFill>
                <a:latin typeface="Arial" pitchFamily="34" charset="0"/>
                <a:ea typeface="Arial" pitchFamily="34" charset="-122"/>
                <a:cs typeface="Arial" pitchFamily="34" charset="-120"/>
              </a:rPr>
              <a:t>Flow 1: Licence Update</a:t>
            </a:r>
            <a:endParaRPr lang="en-US" sz="2600" dirty="0"/>
          </a:p>
        </p:txBody>
      </p:sp>
      <p:sp>
        <p:nvSpPr>
          <p:cNvPr id="3" name="Text 1"/>
          <p:cNvSpPr/>
          <p:nvPr/>
        </p:nvSpPr>
        <p:spPr>
          <a:xfrm>
            <a:off x="521208" y="749808"/>
            <a:ext cx="10515600" cy="228600"/>
          </a:xfrm>
          <a:prstGeom prst="rect">
            <a:avLst/>
          </a:prstGeom>
          <a:noFill/>
          <a:ln/>
        </p:spPr>
        <p:txBody>
          <a:bodyPr wrap="square" lIns="0" tIns="0" rIns="0" bIns="0" rtlCol="0" anchor="ctr"/>
          <a:lstStyle/>
          <a:p>
            <a:pPr indent="0" marL="0">
              <a:buNone/>
            </a:pPr>
            <a:r>
              <a:rPr lang="en-US" sz="1050" dirty="0">
                <a:solidFill>
                  <a:srgbClr val="666666"/>
                </a:solidFill>
              </a:rPr>
              <a:t>Incoming licence details from an issuing authority</a:t>
            </a:r>
            <a:endParaRPr lang="en-US" sz="1050" dirty="0"/>
          </a:p>
        </p:txBody>
      </p:sp>
      <p:sp>
        <p:nvSpPr>
          <p:cNvPr id="4" name="Shape 2"/>
          <p:cNvSpPr/>
          <p:nvPr/>
        </p:nvSpPr>
        <p:spPr>
          <a:xfrm>
            <a:off x="457200" y="6355080"/>
            <a:ext cx="11274552" cy="0"/>
          </a:xfrm>
          <a:prstGeom prst="line">
            <a:avLst/>
          </a:prstGeom>
          <a:noFill/>
          <a:ln w="8890">
            <a:solidFill>
              <a:srgbClr val="D9DEE3"/>
            </a:solidFill>
            <a:prstDash val="solid"/>
          </a:ln>
        </p:spPr>
      </p:sp>
      <p:sp>
        <p:nvSpPr>
          <p:cNvPr id="5" name="Text 3"/>
          <p:cNvSpPr/>
          <p:nvPr/>
        </p:nvSpPr>
        <p:spPr>
          <a:xfrm>
            <a:off x="457200" y="6419088"/>
            <a:ext cx="7315200" cy="228600"/>
          </a:xfrm>
          <a:prstGeom prst="rect">
            <a:avLst/>
          </a:prstGeom>
          <a:noFill/>
          <a:ln/>
        </p:spPr>
        <p:txBody>
          <a:bodyPr wrap="square" rtlCol="0" anchor="ctr"/>
          <a:lstStyle/>
          <a:p>
            <a:pPr indent="0" marL="0">
              <a:buNone/>
            </a:pPr>
            <a:r>
              <a:rPr lang="en-US" sz="850" dirty="0">
                <a:solidFill>
                  <a:srgbClr val="666666"/>
                </a:solidFill>
                <a:latin typeface="Arial" pitchFamily="34" charset="0"/>
                <a:ea typeface="Arial" pitchFamily="34" charset="-122"/>
                <a:cs typeface="Arial" pitchFamily="34" charset="-120"/>
              </a:rPr>
              <a:t>ILMS Knowledge Transfer | Architecture Overview</a:t>
            </a:r>
            <a:endParaRPr lang="en-US" sz="850" dirty="0"/>
          </a:p>
        </p:txBody>
      </p:sp>
      <p:sp>
        <p:nvSpPr>
          <p:cNvPr id="6" name="Text 4"/>
          <p:cNvSpPr/>
          <p:nvPr/>
        </p:nvSpPr>
        <p:spPr>
          <a:xfrm>
            <a:off x="11292840" y="6419088"/>
            <a:ext cx="457200" cy="228600"/>
          </a:xfrm>
          <a:prstGeom prst="rect">
            <a:avLst/>
          </a:prstGeom>
          <a:noFill/>
          <a:ln/>
        </p:spPr>
        <p:txBody>
          <a:bodyPr wrap="square" rtlCol="0" anchor="ctr"/>
          <a:lstStyle/>
          <a:p>
            <a:pPr algn="r" indent="0" marL="0">
              <a:buNone/>
            </a:pPr>
            <a:r>
              <a:rPr lang="en-US" sz="850" dirty="0">
                <a:solidFill>
                  <a:srgbClr val="666666"/>
                </a:solidFill>
              </a:rPr>
              <a:t>11</a:t>
            </a:r>
            <a:endParaRPr lang="en-US" sz="850" dirty="0"/>
          </a:p>
        </p:txBody>
      </p:sp>
      <p:sp>
        <p:nvSpPr>
          <p:cNvPr id="7" name="Shape 5"/>
          <p:cNvSpPr/>
          <p:nvPr/>
        </p:nvSpPr>
        <p:spPr>
          <a:xfrm>
            <a:off x="640080" y="1051560"/>
            <a:ext cx="6949440" cy="4800600"/>
          </a:xfrm>
          <a:prstGeom prst="rect">
            <a:avLst/>
          </a:prstGeom>
          <a:solidFill>
            <a:srgbClr val="F4F6F8">
              <a:alpha val="92000"/>
            </a:srgbClr>
          </a:solidFill>
          <a:ln w="17780">
            <a:solidFill>
              <a:srgbClr val="9AA7B2"/>
            </a:solidFill>
            <a:prstDash val="solid"/>
          </a:ln>
        </p:spPr>
      </p:sp>
      <p:sp>
        <p:nvSpPr>
          <p:cNvPr id="8" name="Text 6"/>
          <p:cNvSpPr/>
          <p:nvPr/>
        </p:nvSpPr>
        <p:spPr>
          <a:xfrm>
            <a:off x="777240" y="3287268"/>
            <a:ext cx="6675120" cy="292608"/>
          </a:xfrm>
          <a:prstGeom prst="rect">
            <a:avLst/>
          </a:prstGeom>
          <a:noFill/>
          <a:ln/>
        </p:spPr>
        <p:txBody>
          <a:bodyPr wrap="square" lIns="0" tIns="0" rIns="0" bIns="0" rtlCol="0" anchor="ctr"/>
          <a:lstStyle/>
          <a:p>
            <a:pPr algn="ctr" indent="0" marL="0">
              <a:buNone/>
            </a:pPr>
            <a:r>
              <a:rPr lang="en-US" sz="1800" b="1" dirty="0">
                <a:solidFill>
                  <a:srgbClr val="697886"/>
                </a:solidFill>
              </a:rPr>
              <a:t>INSERT LICENCE UPDATE FLOW / SEQUENCE DIAGRAM</a:t>
            </a:r>
            <a:endParaRPr lang="en-US" sz="1800" dirty="0"/>
          </a:p>
        </p:txBody>
      </p:sp>
      <p:sp>
        <p:nvSpPr>
          <p:cNvPr id="9" name="Text 7"/>
          <p:cNvSpPr/>
          <p:nvPr/>
        </p:nvSpPr>
        <p:spPr>
          <a:xfrm>
            <a:off x="868680" y="5468112"/>
            <a:ext cx="6492240" cy="228600"/>
          </a:xfrm>
          <a:prstGeom prst="rect">
            <a:avLst/>
          </a:prstGeom>
          <a:noFill/>
          <a:ln/>
        </p:spPr>
        <p:txBody>
          <a:bodyPr wrap="square" lIns="0" tIns="0" rIns="0" bIns="0" rtlCol="0" anchor="ctr"/>
          <a:lstStyle/>
          <a:p>
            <a:pPr algn="ctr" indent="0" marL="0">
              <a:buNone/>
            </a:pPr>
            <a:r>
              <a:rPr lang="en-US" sz="850" dirty="0">
                <a:solidFill>
                  <a:srgbClr val="697886"/>
                </a:solidFill>
              </a:rPr>
              <a:t>Suggested source: CDSP-2129 Licence API Solution Design</a:t>
            </a:r>
            <a:endParaRPr lang="en-US" sz="850" dirty="0"/>
          </a:p>
        </p:txBody>
      </p:sp>
      <p:sp>
        <p:nvSpPr>
          <p:cNvPr id="10" name="Shape 8"/>
          <p:cNvSpPr/>
          <p:nvPr/>
        </p:nvSpPr>
        <p:spPr>
          <a:xfrm>
            <a:off x="7863840" y="1143000"/>
            <a:ext cx="3566160" cy="1097280"/>
          </a:xfrm>
          <a:prstGeom prst="roundRect">
            <a:avLst>
              <a:gd name="adj" fmla="val 5000"/>
            </a:avLst>
          </a:prstGeom>
          <a:solidFill>
            <a:srgbClr val="F3F8FC"/>
          </a:solidFill>
          <a:ln w="12700">
            <a:solidFill>
              <a:srgbClr val="1F5E99"/>
            </a:solidFill>
            <a:prstDash val="solid"/>
          </a:ln>
        </p:spPr>
      </p:sp>
      <p:sp>
        <p:nvSpPr>
          <p:cNvPr id="11" name="Text 9"/>
          <p:cNvSpPr/>
          <p:nvPr/>
        </p:nvSpPr>
        <p:spPr>
          <a:xfrm>
            <a:off x="7973568" y="1271016"/>
            <a:ext cx="3346704" cy="841248"/>
          </a:xfrm>
          <a:prstGeom prst="rect">
            <a:avLst/>
          </a:prstGeom>
          <a:noFill/>
          <a:ln/>
        </p:spPr>
        <p:txBody>
          <a:bodyPr wrap="square" lIns="0" tIns="0" rIns="0" bIns="0" rtlCol="0" anchor="ctr">
            <a:normAutofit/>
          </a:bodyPr>
          <a:lstStyle/>
          <a:p>
            <a:pPr algn="ctr" indent="0" marL="0">
              <a:buNone/>
            </a:pPr>
            <a:r>
              <a:rPr lang="en-US" sz="1200" b="1" dirty="0">
                <a:solidFill>
                  <a:srgbClr val="333333"/>
                </a:solidFill>
              </a:rPr>
              <a:t>Business purpose</a:t>
            </a:r>
            <a:endParaRPr lang="en-US" sz="1200" dirty="0"/>
          </a:p>
          <a:p>
            <a:pPr algn="ctr" indent="0" marL="0">
              <a:buNone/>
            </a:pPr>
            <a:endParaRPr lang="en-US" sz="1200" dirty="0"/>
          </a:p>
          <a:p>
            <a:pPr algn="ctr" indent="0" marL="0">
              <a:buNone/>
            </a:pPr>
            <a:r>
              <a:rPr lang="en-US" sz="1200" b="1" dirty="0">
                <a:solidFill>
                  <a:srgbClr val="333333"/>
                </a:solidFill>
              </a:rPr>
              <a:t>Allow an issuing authority to send new or amended licence details to HMRC and receive an immediate success or rejection response.</a:t>
            </a:r>
            <a:endParaRPr lang="en-US" sz="1200" dirty="0"/>
          </a:p>
        </p:txBody>
      </p:sp>
      <p:sp>
        <p:nvSpPr>
          <p:cNvPr id="12" name="Text 10"/>
          <p:cNvSpPr/>
          <p:nvPr/>
        </p:nvSpPr>
        <p:spPr>
          <a:xfrm>
            <a:off x="8001000" y="2606040"/>
            <a:ext cx="3291840" cy="1600200"/>
          </a:xfrm>
          <a:prstGeom prst="rect">
            <a:avLst/>
          </a:prstGeom>
          <a:noFill/>
          <a:ln/>
        </p:spPr>
        <p:txBody>
          <a:bodyPr wrap="square" lIns="1016" tIns="1016" rIns="1016" bIns="1016" rtlCol="0" anchor="t">
            <a:normAutofit/>
          </a:bodyPr>
          <a:lstStyle/>
          <a:p>
            <a:r>
              <a:rPr lang="en-US" sz="1300" dirty="0">
                <a:solidFill>
                  <a:srgbClr val="333333"/>
                </a:solidFill>
              </a:rPr>
              <a:t>Receive payload</a:t>
            </a:r>
            <a:endParaRPr lang="en-US" sz="1300" dirty="0"/>
          </a:p>
          <a:p>
            <a:r>
              <a:rPr lang="en-US" sz="1300" dirty="0">
                <a:solidFill>
                  <a:srgbClr val="333333"/>
                </a:solidFill>
              </a:rPr>
              <a:t>Validate format and business rules</a:t>
            </a:r>
            <a:endParaRPr lang="en-US" sz="1300" dirty="0"/>
          </a:p>
          <a:p>
            <a:r>
              <a:rPr lang="en-US" sz="1300" dirty="0">
                <a:solidFill>
                  <a:srgbClr val="333333"/>
                </a:solidFill>
              </a:rPr>
              <a:t>Store valid licence data</a:t>
            </a:r>
            <a:endParaRPr lang="en-US" sz="1300" dirty="0"/>
          </a:p>
          <a:p>
            <a:r>
              <a:rPr lang="en-US" sz="1300" dirty="0">
                <a:solidFill>
                  <a:srgbClr val="333333"/>
                </a:solidFill>
              </a:rPr>
              <a:t>Return success or rejection response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0972800" cy="384048"/>
          </a:xfrm>
          <a:prstGeom prst="rect">
            <a:avLst/>
          </a:prstGeom>
          <a:noFill/>
          <a:ln/>
        </p:spPr>
        <p:txBody>
          <a:bodyPr wrap="square" lIns="0" tIns="0" rIns="0" bIns="0" rtlCol="0" anchor="ctr"/>
          <a:lstStyle/>
          <a:p>
            <a:pPr indent="0" marL="0">
              <a:buNone/>
            </a:pPr>
            <a:r>
              <a:rPr lang="en-US" sz="2600" b="1" dirty="0">
                <a:solidFill>
                  <a:srgbClr val="003366"/>
                </a:solidFill>
                <a:latin typeface="Arial" pitchFamily="34" charset="0"/>
                <a:ea typeface="Arial" pitchFamily="34" charset="-122"/>
                <a:cs typeface="Arial" pitchFamily="34" charset="-120"/>
              </a:rPr>
              <a:t>Licence Update Processing Pipeline</a:t>
            </a:r>
            <a:endParaRPr lang="en-US" sz="2600" dirty="0"/>
          </a:p>
        </p:txBody>
      </p:sp>
      <p:sp>
        <p:nvSpPr>
          <p:cNvPr id="3" name="Text 1"/>
          <p:cNvSpPr/>
          <p:nvPr/>
        </p:nvSpPr>
        <p:spPr>
          <a:xfrm>
            <a:off x="521208" y="749808"/>
            <a:ext cx="10515600" cy="228600"/>
          </a:xfrm>
          <a:prstGeom prst="rect">
            <a:avLst/>
          </a:prstGeom>
          <a:noFill/>
          <a:ln/>
        </p:spPr>
        <p:txBody>
          <a:bodyPr wrap="square" lIns="0" tIns="0" rIns="0" bIns="0" rtlCol="0" anchor="ctr"/>
          <a:lstStyle/>
          <a:p>
            <a:pPr indent="0" marL="0">
              <a:buNone/>
            </a:pPr>
            <a:r>
              <a:rPr lang="en-US" sz="1050" dirty="0">
                <a:solidFill>
                  <a:srgbClr val="666666"/>
                </a:solidFill>
              </a:rPr>
              <a:t>What happens once the request arrives</a:t>
            </a:r>
            <a:endParaRPr lang="en-US" sz="1050" dirty="0"/>
          </a:p>
        </p:txBody>
      </p:sp>
      <p:sp>
        <p:nvSpPr>
          <p:cNvPr id="4" name="Shape 2"/>
          <p:cNvSpPr/>
          <p:nvPr/>
        </p:nvSpPr>
        <p:spPr>
          <a:xfrm>
            <a:off x="457200" y="6355080"/>
            <a:ext cx="11274552" cy="0"/>
          </a:xfrm>
          <a:prstGeom prst="line">
            <a:avLst/>
          </a:prstGeom>
          <a:noFill/>
          <a:ln w="8890">
            <a:solidFill>
              <a:srgbClr val="D9DEE3"/>
            </a:solidFill>
            <a:prstDash val="solid"/>
          </a:ln>
        </p:spPr>
      </p:sp>
      <p:sp>
        <p:nvSpPr>
          <p:cNvPr id="5" name="Text 3"/>
          <p:cNvSpPr/>
          <p:nvPr/>
        </p:nvSpPr>
        <p:spPr>
          <a:xfrm>
            <a:off x="457200" y="6419088"/>
            <a:ext cx="7315200" cy="228600"/>
          </a:xfrm>
          <a:prstGeom prst="rect">
            <a:avLst/>
          </a:prstGeom>
          <a:noFill/>
          <a:ln/>
        </p:spPr>
        <p:txBody>
          <a:bodyPr wrap="square" rtlCol="0" anchor="ctr"/>
          <a:lstStyle/>
          <a:p>
            <a:pPr indent="0" marL="0">
              <a:buNone/>
            </a:pPr>
            <a:r>
              <a:rPr lang="en-US" sz="850" dirty="0">
                <a:solidFill>
                  <a:srgbClr val="666666"/>
                </a:solidFill>
                <a:latin typeface="Arial" pitchFamily="34" charset="0"/>
                <a:ea typeface="Arial" pitchFamily="34" charset="-122"/>
                <a:cs typeface="Arial" pitchFamily="34" charset="-120"/>
              </a:rPr>
              <a:t>ILMS Knowledge Transfer | Architecture Overview</a:t>
            </a:r>
            <a:endParaRPr lang="en-US" sz="850" dirty="0"/>
          </a:p>
        </p:txBody>
      </p:sp>
      <p:sp>
        <p:nvSpPr>
          <p:cNvPr id="6" name="Text 4"/>
          <p:cNvSpPr/>
          <p:nvPr/>
        </p:nvSpPr>
        <p:spPr>
          <a:xfrm>
            <a:off x="11292840" y="6419088"/>
            <a:ext cx="457200" cy="228600"/>
          </a:xfrm>
          <a:prstGeom prst="rect">
            <a:avLst/>
          </a:prstGeom>
          <a:noFill/>
          <a:ln/>
        </p:spPr>
        <p:txBody>
          <a:bodyPr wrap="square" rtlCol="0" anchor="ctr"/>
          <a:lstStyle/>
          <a:p>
            <a:pPr algn="r" indent="0" marL="0">
              <a:buNone/>
            </a:pPr>
            <a:r>
              <a:rPr lang="en-US" sz="850" dirty="0">
                <a:solidFill>
                  <a:srgbClr val="666666"/>
                </a:solidFill>
              </a:rPr>
              <a:t>12</a:t>
            </a:r>
            <a:endParaRPr lang="en-US" sz="850" dirty="0"/>
          </a:p>
        </p:txBody>
      </p:sp>
      <p:sp>
        <p:nvSpPr>
          <p:cNvPr id="7" name="Shape 5"/>
          <p:cNvSpPr/>
          <p:nvPr/>
        </p:nvSpPr>
        <p:spPr>
          <a:xfrm>
            <a:off x="685800" y="1965960"/>
            <a:ext cx="1051560" cy="685800"/>
          </a:xfrm>
          <a:prstGeom prst="roundRect">
            <a:avLst>
              <a:gd name="adj" fmla="val 8000"/>
            </a:avLst>
          </a:prstGeom>
          <a:solidFill>
            <a:srgbClr val="E9F5EB"/>
          </a:solidFill>
          <a:ln w="12700">
            <a:solidFill>
              <a:srgbClr val="1F5E99"/>
            </a:solidFill>
            <a:prstDash val="solid"/>
          </a:ln>
        </p:spPr>
      </p:sp>
      <p:sp>
        <p:nvSpPr>
          <p:cNvPr id="8" name="Text 6"/>
          <p:cNvSpPr/>
          <p:nvPr/>
        </p:nvSpPr>
        <p:spPr>
          <a:xfrm>
            <a:off x="795528" y="2093976"/>
            <a:ext cx="832104" cy="429768"/>
          </a:xfrm>
          <a:prstGeom prst="rect">
            <a:avLst/>
          </a:prstGeom>
          <a:noFill/>
          <a:ln/>
        </p:spPr>
        <p:txBody>
          <a:bodyPr wrap="square" lIns="0" tIns="0" rIns="0" bIns="0" rtlCol="0" anchor="ctr">
            <a:normAutofit/>
          </a:bodyPr>
          <a:lstStyle/>
          <a:p>
            <a:pPr algn="ctr" indent="0" marL="0">
              <a:buNone/>
            </a:pPr>
            <a:r>
              <a:rPr lang="en-US" sz="1000" b="1" dirty="0">
                <a:solidFill>
                  <a:srgbClr val="333333"/>
                </a:solidFill>
              </a:rPr>
              <a:t>API</a:t>
            </a:r>
            <a:endParaRPr lang="en-US" sz="1000" dirty="0"/>
          </a:p>
          <a:p>
            <a:pPr algn="ctr" indent="0" marL="0">
              <a:buNone/>
            </a:pPr>
            <a:r>
              <a:rPr lang="en-US" sz="1000" b="1" dirty="0">
                <a:solidFill>
                  <a:srgbClr val="333333"/>
                </a:solidFill>
              </a:rPr>
              <a:t>Request</a:t>
            </a:r>
            <a:endParaRPr lang="en-US" sz="1000" dirty="0"/>
          </a:p>
        </p:txBody>
      </p:sp>
      <p:sp>
        <p:nvSpPr>
          <p:cNvPr id="9" name="Shape 7"/>
          <p:cNvSpPr/>
          <p:nvPr/>
        </p:nvSpPr>
        <p:spPr>
          <a:xfrm>
            <a:off x="1737360" y="2304288"/>
            <a:ext cx="502920" cy="0"/>
          </a:xfrm>
          <a:prstGeom prst="line">
            <a:avLst/>
          </a:prstGeom>
          <a:noFill/>
          <a:ln w="22860">
            <a:solidFill>
              <a:srgbClr val="1F5E99"/>
            </a:solidFill>
            <a:prstDash val="solid"/>
            <a:headEnd type="none"/>
            <a:tailEnd type="triangle"/>
          </a:ln>
        </p:spPr>
      </p:sp>
      <p:sp>
        <p:nvSpPr>
          <p:cNvPr id="10" name="Shape 8"/>
          <p:cNvSpPr/>
          <p:nvPr/>
        </p:nvSpPr>
        <p:spPr>
          <a:xfrm>
            <a:off x="2240280" y="1965960"/>
            <a:ext cx="1051560" cy="685800"/>
          </a:xfrm>
          <a:prstGeom prst="roundRect">
            <a:avLst>
              <a:gd name="adj" fmla="val 8000"/>
            </a:avLst>
          </a:prstGeom>
          <a:solidFill>
            <a:srgbClr val="F3F8FC"/>
          </a:solidFill>
          <a:ln w="12700">
            <a:solidFill>
              <a:srgbClr val="1F5E99"/>
            </a:solidFill>
            <a:prstDash val="solid"/>
          </a:ln>
        </p:spPr>
      </p:sp>
      <p:sp>
        <p:nvSpPr>
          <p:cNvPr id="11" name="Text 9"/>
          <p:cNvSpPr/>
          <p:nvPr/>
        </p:nvSpPr>
        <p:spPr>
          <a:xfrm>
            <a:off x="2350008" y="2093976"/>
            <a:ext cx="832104" cy="429768"/>
          </a:xfrm>
          <a:prstGeom prst="rect">
            <a:avLst/>
          </a:prstGeom>
          <a:noFill/>
          <a:ln/>
        </p:spPr>
        <p:txBody>
          <a:bodyPr wrap="square" lIns="0" tIns="0" rIns="0" bIns="0" rtlCol="0" anchor="ctr">
            <a:normAutofit/>
          </a:bodyPr>
          <a:lstStyle/>
          <a:p>
            <a:pPr algn="ctr" indent="0" marL="0">
              <a:buNone/>
            </a:pPr>
            <a:r>
              <a:rPr lang="en-US" sz="1000" b="1" dirty="0">
                <a:solidFill>
                  <a:srgbClr val="333333"/>
                </a:solidFill>
              </a:rPr>
              <a:t>Controller</a:t>
            </a:r>
            <a:endParaRPr lang="en-US" sz="1000" dirty="0"/>
          </a:p>
        </p:txBody>
      </p:sp>
      <p:sp>
        <p:nvSpPr>
          <p:cNvPr id="12" name="Shape 10"/>
          <p:cNvSpPr/>
          <p:nvPr/>
        </p:nvSpPr>
        <p:spPr>
          <a:xfrm>
            <a:off x="3291840" y="2304288"/>
            <a:ext cx="502920" cy="0"/>
          </a:xfrm>
          <a:prstGeom prst="line">
            <a:avLst/>
          </a:prstGeom>
          <a:noFill/>
          <a:ln w="22860">
            <a:solidFill>
              <a:srgbClr val="1F5E99"/>
            </a:solidFill>
            <a:prstDash val="solid"/>
            <a:headEnd type="none"/>
            <a:tailEnd type="triangle"/>
          </a:ln>
        </p:spPr>
      </p:sp>
      <p:sp>
        <p:nvSpPr>
          <p:cNvPr id="13" name="Shape 11"/>
          <p:cNvSpPr/>
          <p:nvPr/>
        </p:nvSpPr>
        <p:spPr>
          <a:xfrm>
            <a:off x="3794760" y="1965960"/>
            <a:ext cx="1051560" cy="685800"/>
          </a:xfrm>
          <a:prstGeom prst="roundRect">
            <a:avLst>
              <a:gd name="adj" fmla="val 8000"/>
            </a:avLst>
          </a:prstGeom>
          <a:solidFill>
            <a:srgbClr val="F3F8FC"/>
          </a:solidFill>
          <a:ln w="12700">
            <a:solidFill>
              <a:srgbClr val="1F5E99"/>
            </a:solidFill>
            <a:prstDash val="solid"/>
          </a:ln>
        </p:spPr>
      </p:sp>
      <p:sp>
        <p:nvSpPr>
          <p:cNvPr id="14" name="Text 12"/>
          <p:cNvSpPr/>
          <p:nvPr/>
        </p:nvSpPr>
        <p:spPr>
          <a:xfrm>
            <a:off x="3904488" y="2093976"/>
            <a:ext cx="832104" cy="429768"/>
          </a:xfrm>
          <a:prstGeom prst="rect">
            <a:avLst/>
          </a:prstGeom>
          <a:noFill/>
          <a:ln/>
        </p:spPr>
        <p:txBody>
          <a:bodyPr wrap="square" lIns="0" tIns="0" rIns="0" bIns="0" rtlCol="0" anchor="ctr">
            <a:normAutofit/>
          </a:bodyPr>
          <a:lstStyle/>
          <a:p>
            <a:pPr algn="ctr" indent="0" marL="0">
              <a:buNone/>
            </a:pPr>
            <a:r>
              <a:rPr lang="en-US" sz="1000" b="1" dirty="0">
                <a:solidFill>
                  <a:srgbClr val="333333"/>
                </a:solidFill>
              </a:rPr>
              <a:t>Schema /</a:t>
            </a:r>
            <a:endParaRPr lang="en-US" sz="1000" dirty="0"/>
          </a:p>
          <a:p>
            <a:pPr algn="ctr" indent="0" marL="0">
              <a:buNone/>
            </a:pPr>
            <a:r>
              <a:rPr lang="en-US" sz="1000" b="1" dirty="0">
                <a:solidFill>
                  <a:srgbClr val="333333"/>
                </a:solidFill>
              </a:rPr>
              <a:t>Format</a:t>
            </a:r>
            <a:endParaRPr lang="en-US" sz="1000" dirty="0"/>
          </a:p>
        </p:txBody>
      </p:sp>
      <p:sp>
        <p:nvSpPr>
          <p:cNvPr id="15" name="Shape 13"/>
          <p:cNvSpPr/>
          <p:nvPr/>
        </p:nvSpPr>
        <p:spPr>
          <a:xfrm>
            <a:off x="4846320" y="2304288"/>
            <a:ext cx="502920" cy="0"/>
          </a:xfrm>
          <a:prstGeom prst="line">
            <a:avLst/>
          </a:prstGeom>
          <a:noFill/>
          <a:ln w="22860">
            <a:solidFill>
              <a:srgbClr val="1F5E99"/>
            </a:solidFill>
            <a:prstDash val="solid"/>
            <a:headEnd type="none"/>
            <a:tailEnd type="triangle"/>
          </a:ln>
        </p:spPr>
      </p:sp>
      <p:sp>
        <p:nvSpPr>
          <p:cNvPr id="16" name="Shape 14"/>
          <p:cNvSpPr/>
          <p:nvPr/>
        </p:nvSpPr>
        <p:spPr>
          <a:xfrm>
            <a:off x="5349240" y="1965960"/>
            <a:ext cx="1051560" cy="685800"/>
          </a:xfrm>
          <a:prstGeom prst="roundRect">
            <a:avLst>
              <a:gd name="adj" fmla="val 8000"/>
            </a:avLst>
          </a:prstGeom>
          <a:solidFill>
            <a:srgbClr val="F3F8FC"/>
          </a:solidFill>
          <a:ln w="12700">
            <a:solidFill>
              <a:srgbClr val="1F5E99"/>
            </a:solidFill>
            <a:prstDash val="solid"/>
          </a:ln>
        </p:spPr>
      </p:sp>
      <p:sp>
        <p:nvSpPr>
          <p:cNvPr id="17" name="Text 15"/>
          <p:cNvSpPr/>
          <p:nvPr/>
        </p:nvSpPr>
        <p:spPr>
          <a:xfrm>
            <a:off x="5458968" y="2093976"/>
            <a:ext cx="832104" cy="429768"/>
          </a:xfrm>
          <a:prstGeom prst="rect">
            <a:avLst/>
          </a:prstGeom>
          <a:noFill/>
          <a:ln/>
        </p:spPr>
        <p:txBody>
          <a:bodyPr wrap="square" lIns="0" tIns="0" rIns="0" bIns="0" rtlCol="0" anchor="ctr">
            <a:normAutofit/>
          </a:bodyPr>
          <a:lstStyle/>
          <a:p>
            <a:pPr algn="ctr" indent="0" marL="0">
              <a:buNone/>
            </a:pPr>
            <a:r>
              <a:rPr lang="en-US" sz="1000" b="1" dirty="0">
                <a:solidFill>
                  <a:srgbClr val="333333"/>
                </a:solidFill>
              </a:rPr>
              <a:t>Business</a:t>
            </a:r>
            <a:endParaRPr lang="en-US" sz="1000" dirty="0"/>
          </a:p>
          <a:p>
            <a:pPr algn="ctr" indent="0" marL="0">
              <a:buNone/>
            </a:pPr>
            <a:r>
              <a:rPr lang="en-US" sz="1000" b="1" dirty="0">
                <a:solidFill>
                  <a:srgbClr val="333333"/>
                </a:solidFill>
              </a:rPr>
              <a:t>Validation</a:t>
            </a:r>
            <a:endParaRPr lang="en-US" sz="1000" dirty="0"/>
          </a:p>
        </p:txBody>
      </p:sp>
      <p:sp>
        <p:nvSpPr>
          <p:cNvPr id="18" name="Shape 16"/>
          <p:cNvSpPr/>
          <p:nvPr/>
        </p:nvSpPr>
        <p:spPr>
          <a:xfrm>
            <a:off x="6400800" y="2304288"/>
            <a:ext cx="502920" cy="0"/>
          </a:xfrm>
          <a:prstGeom prst="line">
            <a:avLst/>
          </a:prstGeom>
          <a:noFill/>
          <a:ln w="22860">
            <a:solidFill>
              <a:srgbClr val="1F5E99"/>
            </a:solidFill>
            <a:prstDash val="solid"/>
            <a:headEnd type="none"/>
            <a:tailEnd type="triangle"/>
          </a:ln>
        </p:spPr>
      </p:sp>
      <p:sp>
        <p:nvSpPr>
          <p:cNvPr id="19" name="Shape 17"/>
          <p:cNvSpPr/>
          <p:nvPr/>
        </p:nvSpPr>
        <p:spPr>
          <a:xfrm>
            <a:off x="6903720" y="1965960"/>
            <a:ext cx="1051560" cy="685800"/>
          </a:xfrm>
          <a:prstGeom prst="roundRect">
            <a:avLst>
              <a:gd name="adj" fmla="val 8000"/>
            </a:avLst>
          </a:prstGeom>
          <a:solidFill>
            <a:srgbClr val="F3F8FC"/>
          </a:solidFill>
          <a:ln w="12700">
            <a:solidFill>
              <a:srgbClr val="1F5E99"/>
            </a:solidFill>
            <a:prstDash val="solid"/>
          </a:ln>
        </p:spPr>
      </p:sp>
      <p:sp>
        <p:nvSpPr>
          <p:cNvPr id="20" name="Text 18"/>
          <p:cNvSpPr/>
          <p:nvPr/>
        </p:nvSpPr>
        <p:spPr>
          <a:xfrm>
            <a:off x="7013448" y="2093976"/>
            <a:ext cx="832104" cy="429768"/>
          </a:xfrm>
          <a:prstGeom prst="rect">
            <a:avLst/>
          </a:prstGeom>
          <a:noFill/>
          <a:ln/>
        </p:spPr>
        <p:txBody>
          <a:bodyPr wrap="square" lIns="0" tIns="0" rIns="0" bIns="0" rtlCol="0" anchor="ctr">
            <a:normAutofit/>
          </a:bodyPr>
          <a:lstStyle/>
          <a:p>
            <a:pPr algn="ctr" indent="0" marL="0">
              <a:buNone/>
            </a:pPr>
            <a:r>
              <a:rPr lang="en-US" sz="1000" b="1" dirty="0">
                <a:solidFill>
                  <a:srgbClr val="333333"/>
                </a:solidFill>
              </a:rPr>
              <a:t>Repository</a:t>
            </a:r>
            <a:endParaRPr lang="en-US" sz="1000" dirty="0"/>
          </a:p>
        </p:txBody>
      </p:sp>
      <p:sp>
        <p:nvSpPr>
          <p:cNvPr id="21" name="Shape 19"/>
          <p:cNvSpPr/>
          <p:nvPr/>
        </p:nvSpPr>
        <p:spPr>
          <a:xfrm>
            <a:off x="7955280" y="2304288"/>
            <a:ext cx="502920" cy="0"/>
          </a:xfrm>
          <a:prstGeom prst="line">
            <a:avLst/>
          </a:prstGeom>
          <a:noFill/>
          <a:ln w="22860">
            <a:solidFill>
              <a:srgbClr val="1F5E99"/>
            </a:solidFill>
            <a:prstDash val="solid"/>
            <a:headEnd type="none"/>
            <a:tailEnd type="triangle"/>
          </a:ln>
        </p:spPr>
      </p:sp>
      <p:sp>
        <p:nvSpPr>
          <p:cNvPr id="22" name="Shape 20"/>
          <p:cNvSpPr/>
          <p:nvPr/>
        </p:nvSpPr>
        <p:spPr>
          <a:xfrm>
            <a:off x="8458200" y="1965960"/>
            <a:ext cx="1051560" cy="685800"/>
          </a:xfrm>
          <a:prstGeom prst="roundRect">
            <a:avLst>
              <a:gd name="adj" fmla="val 8000"/>
            </a:avLst>
          </a:prstGeom>
          <a:solidFill>
            <a:srgbClr val="F3F8FC"/>
          </a:solidFill>
          <a:ln w="12700">
            <a:solidFill>
              <a:srgbClr val="1F5E99"/>
            </a:solidFill>
            <a:prstDash val="solid"/>
          </a:ln>
        </p:spPr>
      </p:sp>
      <p:sp>
        <p:nvSpPr>
          <p:cNvPr id="23" name="Text 21"/>
          <p:cNvSpPr/>
          <p:nvPr/>
        </p:nvSpPr>
        <p:spPr>
          <a:xfrm>
            <a:off x="8567928" y="2093976"/>
            <a:ext cx="832104" cy="429768"/>
          </a:xfrm>
          <a:prstGeom prst="rect">
            <a:avLst/>
          </a:prstGeom>
          <a:noFill/>
          <a:ln/>
        </p:spPr>
        <p:txBody>
          <a:bodyPr wrap="square" lIns="0" tIns="0" rIns="0" bIns="0" rtlCol="0" anchor="ctr">
            <a:normAutofit/>
          </a:bodyPr>
          <a:lstStyle/>
          <a:p>
            <a:pPr algn="ctr" indent="0" marL="0">
              <a:buNone/>
            </a:pPr>
            <a:r>
              <a:rPr lang="en-US" sz="1000" b="1" dirty="0">
                <a:solidFill>
                  <a:srgbClr val="333333"/>
                </a:solidFill>
              </a:rPr>
              <a:t>Persist</a:t>
            </a:r>
            <a:endParaRPr lang="en-US" sz="1000" dirty="0"/>
          </a:p>
          <a:p>
            <a:pPr algn="ctr" indent="0" marL="0">
              <a:buNone/>
            </a:pPr>
            <a:r>
              <a:rPr lang="en-US" sz="1000" b="1" dirty="0">
                <a:solidFill>
                  <a:srgbClr val="333333"/>
                </a:solidFill>
              </a:rPr>
              <a:t>Licence</a:t>
            </a:r>
            <a:endParaRPr lang="en-US" sz="1000" dirty="0"/>
          </a:p>
        </p:txBody>
      </p:sp>
      <p:sp>
        <p:nvSpPr>
          <p:cNvPr id="24" name="Shape 22"/>
          <p:cNvSpPr/>
          <p:nvPr/>
        </p:nvSpPr>
        <p:spPr>
          <a:xfrm>
            <a:off x="9509760" y="2304288"/>
            <a:ext cx="502920" cy="0"/>
          </a:xfrm>
          <a:prstGeom prst="line">
            <a:avLst/>
          </a:prstGeom>
          <a:noFill/>
          <a:ln w="22860">
            <a:solidFill>
              <a:srgbClr val="1F5E99"/>
            </a:solidFill>
            <a:prstDash val="solid"/>
            <a:headEnd type="none"/>
            <a:tailEnd type="triangle"/>
          </a:ln>
        </p:spPr>
      </p:sp>
      <p:sp>
        <p:nvSpPr>
          <p:cNvPr id="25" name="Shape 23"/>
          <p:cNvSpPr/>
          <p:nvPr/>
        </p:nvSpPr>
        <p:spPr>
          <a:xfrm>
            <a:off x="10012680" y="1965960"/>
            <a:ext cx="1051560" cy="685800"/>
          </a:xfrm>
          <a:prstGeom prst="roundRect">
            <a:avLst>
              <a:gd name="adj" fmla="val 8000"/>
            </a:avLst>
          </a:prstGeom>
          <a:solidFill>
            <a:srgbClr val="E9F5EB"/>
          </a:solidFill>
          <a:ln w="12700">
            <a:solidFill>
              <a:srgbClr val="1F5E99"/>
            </a:solidFill>
            <a:prstDash val="solid"/>
          </a:ln>
        </p:spPr>
      </p:sp>
      <p:sp>
        <p:nvSpPr>
          <p:cNvPr id="26" name="Text 24"/>
          <p:cNvSpPr/>
          <p:nvPr/>
        </p:nvSpPr>
        <p:spPr>
          <a:xfrm>
            <a:off x="10122408" y="2093976"/>
            <a:ext cx="832104" cy="429768"/>
          </a:xfrm>
          <a:prstGeom prst="rect">
            <a:avLst/>
          </a:prstGeom>
          <a:noFill/>
          <a:ln/>
        </p:spPr>
        <p:txBody>
          <a:bodyPr wrap="square" lIns="0" tIns="0" rIns="0" bIns="0" rtlCol="0" anchor="ctr">
            <a:normAutofit/>
          </a:bodyPr>
          <a:lstStyle/>
          <a:p>
            <a:pPr algn="ctr" indent="0" marL="0">
              <a:buNone/>
            </a:pPr>
            <a:r>
              <a:rPr lang="en-US" sz="1000" b="1" dirty="0">
                <a:solidFill>
                  <a:srgbClr val="333333"/>
                </a:solidFill>
              </a:rPr>
              <a:t>Response</a:t>
            </a:r>
            <a:endParaRPr lang="en-US" sz="1000" dirty="0"/>
          </a:p>
        </p:txBody>
      </p:sp>
      <p:sp>
        <p:nvSpPr>
          <p:cNvPr id="27" name="Text 25"/>
          <p:cNvSpPr/>
          <p:nvPr/>
        </p:nvSpPr>
        <p:spPr>
          <a:xfrm>
            <a:off x="914400" y="3657600"/>
            <a:ext cx="10424160" cy="1280160"/>
          </a:xfrm>
          <a:prstGeom prst="rect">
            <a:avLst/>
          </a:prstGeom>
          <a:noFill/>
          <a:ln/>
        </p:spPr>
        <p:txBody>
          <a:bodyPr wrap="square" lIns="1016" tIns="1016" rIns="1016" bIns="1016" rtlCol="0" anchor="t">
            <a:normAutofit/>
          </a:bodyPr>
          <a:lstStyle/>
          <a:p>
            <a:r>
              <a:rPr lang="en-US" sz="1600" dirty="0">
                <a:solidFill>
                  <a:srgbClr val="333333"/>
                </a:solidFill>
              </a:rPr>
              <a:t>Format/data validation protects the service boundary.</a:t>
            </a:r>
            <a:endParaRPr lang="en-US" sz="1600" dirty="0"/>
          </a:p>
          <a:p>
            <a:r>
              <a:rPr lang="en-US" sz="1600" dirty="0">
                <a:solidFill>
                  <a:srgbClr val="333333"/>
                </a:solidFill>
              </a:rPr>
              <a:t>Business validation protects the licence domain rules.</a:t>
            </a:r>
            <a:endParaRPr lang="en-US" sz="1600" dirty="0"/>
          </a:p>
          <a:p>
            <a:r>
              <a:rPr lang="en-US" sz="1600" dirty="0">
                <a:solidFill>
                  <a:srgbClr val="333333"/>
                </a:solidFill>
              </a:rPr>
              <a:t>Only valid licence data should be persisted.</a:t>
            </a:r>
            <a:endParaRPr lang="en-US" sz="1600" dirty="0"/>
          </a:p>
          <a:p>
            <a:r>
              <a:rPr lang="en-US" sz="1600" dirty="0">
                <a:solidFill>
                  <a:srgbClr val="333333"/>
                </a:solidFill>
              </a:rPr>
              <a:t>Rejected requests should include clear failure location and message.</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0972800" cy="384048"/>
          </a:xfrm>
          <a:prstGeom prst="rect">
            <a:avLst/>
          </a:prstGeom>
          <a:noFill/>
          <a:ln/>
        </p:spPr>
        <p:txBody>
          <a:bodyPr wrap="square" lIns="0" tIns="0" rIns="0" bIns="0" rtlCol="0" anchor="ctr"/>
          <a:lstStyle/>
          <a:p>
            <a:pPr indent="0" marL="0">
              <a:buNone/>
            </a:pPr>
            <a:r>
              <a:rPr lang="en-US" sz="2600" b="1" dirty="0">
                <a:solidFill>
                  <a:srgbClr val="003366"/>
                </a:solidFill>
                <a:latin typeface="Arial" pitchFamily="34" charset="0"/>
                <a:ea typeface="Arial" pitchFamily="34" charset="-122"/>
                <a:cs typeface="Arial" pitchFamily="34" charset="-120"/>
              </a:rPr>
              <a:t>Flow 2: Licence Usage</a:t>
            </a:r>
            <a:endParaRPr lang="en-US" sz="2600" dirty="0"/>
          </a:p>
        </p:txBody>
      </p:sp>
      <p:sp>
        <p:nvSpPr>
          <p:cNvPr id="3" name="Text 1"/>
          <p:cNvSpPr/>
          <p:nvPr/>
        </p:nvSpPr>
        <p:spPr>
          <a:xfrm>
            <a:off x="521208" y="749808"/>
            <a:ext cx="10515600" cy="228600"/>
          </a:xfrm>
          <a:prstGeom prst="rect">
            <a:avLst/>
          </a:prstGeom>
          <a:noFill/>
          <a:ln/>
        </p:spPr>
        <p:txBody>
          <a:bodyPr wrap="square" lIns="0" tIns="0" rIns="0" bIns="0" rtlCol="0" anchor="ctr"/>
          <a:lstStyle/>
          <a:p>
            <a:pPr indent="0" marL="0">
              <a:buNone/>
            </a:pPr>
            <a:r>
              <a:rPr lang="en-US" sz="1050" dirty="0">
                <a:solidFill>
                  <a:srgbClr val="666666"/>
                </a:solidFill>
              </a:rPr>
              <a:t>Reporting licence consumption back to the issuing authority</a:t>
            </a:r>
            <a:endParaRPr lang="en-US" sz="1050" dirty="0"/>
          </a:p>
        </p:txBody>
      </p:sp>
      <p:sp>
        <p:nvSpPr>
          <p:cNvPr id="4" name="Shape 2"/>
          <p:cNvSpPr/>
          <p:nvPr/>
        </p:nvSpPr>
        <p:spPr>
          <a:xfrm>
            <a:off x="457200" y="6355080"/>
            <a:ext cx="11274552" cy="0"/>
          </a:xfrm>
          <a:prstGeom prst="line">
            <a:avLst/>
          </a:prstGeom>
          <a:noFill/>
          <a:ln w="8890">
            <a:solidFill>
              <a:srgbClr val="D9DEE3"/>
            </a:solidFill>
            <a:prstDash val="solid"/>
          </a:ln>
        </p:spPr>
      </p:sp>
      <p:sp>
        <p:nvSpPr>
          <p:cNvPr id="5" name="Text 3"/>
          <p:cNvSpPr/>
          <p:nvPr/>
        </p:nvSpPr>
        <p:spPr>
          <a:xfrm>
            <a:off x="457200" y="6419088"/>
            <a:ext cx="7315200" cy="228600"/>
          </a:xfrm>
          <a:prstGeom prst="rect">
            <a:avLst/>
          </a:prstGeom>
          <a:noFill/>
          <a:ln/>
        </p:spPr>
        <p:txBody>
          <a:bodyPr wrap="square" rtlCol="0" anchor="ctr"/>
          <a:lstStyle/>
          <a:p>
            <a:pPr indent="0" marL="0">
              <a:buNone/>
            </a:pPr>
            <a:r>
              <a:rPr lang="en-US" sz="850" dirty="0">
                <a:solidFill>
                  <a:srgbClr val="666666"/>
                </a:solidFill>
                <a:latin typeface="Arial" pitchFamily="34" charset="0"/>
                <a:ea typeface="Arial" pitchFamily="34" charset="-122"/>
                <a:cs typeface="Arial" pitchFamily="34" charset="-120"/>
              </a:rPr>
              <a:t>ILMS Knowledge Transfer | Architecture Overview</a:t>
            </a:r>
            <a:endParaRPr lang="en-US" sz="850" dirty="0"/>
          </a:p>
        </p:txBody>
      </p:sp>
      <p:sp>
        <p:nvSpPr>
          <p:cNvPr id="6" name="Text 4"/>
          <p:cNvSpPr/>
          <p:nvPr/>
        </p:nvSpPr>
        <p:spPr>
          <a:xfrm>
            <a:off x="11292840" y="6419088"/>
            <a:ext cx="457200" cy="228600"/>
          </a:xfrm>
          <a:prstGeom prst="rect">
            <a:avLst/>
          </a:prstGeom>
          <a:noFill/>
          <a:ln/>
        </p:spPr>
        <p:txBody>
          <a:bodyPr wrap="square" rtlCol="0" anchor="ctr"/>
          <a:lstStyle/>
          <a:p>
            <a:pPr algn="r" indent="0" marL="0">
              <a:buNone/>
            </a:pPr>
            <a:r>
              <a:rPr lang="en-US" sz="850" dirty="0">
                <a:solidFill>
                  <a:srgbClr val="666666"/>
                </a:solidFill>
              </a:rPr>
              <a:t>13</a:t>
            </a:r>
            <a:endParaRPr lang="en-US" sz="850" dirty="0"/>
          </a:p>
        </p:txBody>
      </p:sp>
      <p:sp>
        <p:nvSpPr>
          <p:cNvPr id="7" name="Shape 5"/>
          <p:cNvSpPr/>
          <p:nvPr/>
        </p:nvSpPr>
        <p:spPr>
          <a:xfrm>
            <a:off x="640080" y="1051560"/>
            <a:ext cx="6949440" cy="4800600"/>
          </a:xfrm>
          <a:prstGeom prst="rect">
            <a:avLst/>
          </a:prstGeom>
          <a:solidFill>
            <a:srgbClr val="F4F6F8">
              <a:alpha val="92000"/>
            </a:srgbClr>
          </a:solidFill>
          <a:ln w="17780">
            <a:solidFill>
              <a:srgbClr val="9AA7B2"/>
            </a:solidFill>
            <a:prstDash val="solid"/>
          </a:ln>
        </p:spPr>
      </p:sp>
      <p:sp>
        <p:nvSpPr>
          <p:cNvPr id="8" name="Text 6"/>
          <p:cNvSpPr/>
          <p:nvPr/>
        </p:nvSpPr>
        <p:spPr>
          <a:xfrm>
            <a:off x="777240" y="3287268"/>
            <a:ext cx="6675120" cy="292608"/>
          </a:xfrm>
          <a:prstGeom prst="rect">
            <a:avLst/>
          </a:prstGeom>
          <a:noFill/>
          <a:ln/>
        </p:spPr>
        <p:txBody>
          <a:bodyPr wrap="square" lIns="0" tIns="0" rIns="0" bIns="0" rtlCol="0" anchor="ctr"/>
          <a:lstStyle/>
          <a:p>
            <a:pPr algn="ctr" indent="0" marL="0">
              <a:buNone/>
            </a:pPr>
            <a:r>
              <a:rPr lang="en-US" sz="1800" b="1" dirty="0">
                <a:solidFill>
                  <a:srgbClr val="697886"/>
                </a:solidFill>
              </a:rPr>
              <a:t>INSERT LICENCE USAGE PROCESS DIAGRAM</a:t>
            </a:r>
            <a:endParaRPr lang="en-US" sz="1800" dirty="0"/>
          </a:p>
        </p:txBody>
      </p:sp>
      <p:sp>
        <p:nvSpPr>
          <p:cNvPr id="9" name="Text 7"/>
          <p:cNvSpPr/>
          <p:nvPr/>
        </p:nvSpPr>
        <p:spPr>
          <a:xfrm>
            <a:off x="868680" y="5468112"/>
            <a:ext cx="6492240" cy="228600"/>
          </a:xfrm>
          <a:prstGeom prst="rect">
            <a:avLst/>
          </a:prstGeom>
          <a:noFill/>
          <a:ln/>
        </p:spPr>
        <p:txBody>
          <a:bodyPr wrap="square" lIns="0" tIns="0" rIns="0" bIns="0" rtlCol="0" anchor="ctr"/>
          <a:lstStyle/>
          <a:p>
            <a:pPr algn="ctr" indent="0" marL="0">
              <a:buNone/>
            </a:pPr>
            <a:r>
              <a:rPr lang="en-US" sz="850" dirty="0">
                <a:solidFill>
                  <a:srgbClr val="697886"/>
                </a:solidFill>
              </a:rPr>
              <a:t>Suggested source: To-be Process 2 – Send Licence Usage Process</a:t>
            </a:r>
            <a:endParaRPr lang="en-US" sz="850" dirty="0"/>
          </a:p>
        </p:txBody>
      </p:sp>
      <p:sp>
        <p:nvSpPr>
          <p:cNvPr id="10" name="Shape 8"/>
          <p:cNvSpPr/>
          <p:nvPr/>
        </p:nvSpPr>
        <p:spPr>
          <a:xfrm>
            <a:off x="7863840" y="1143000"/>
            <a:ext cx="3566160" cy="1143000"/>
          </a:xfrm>
          <a:prstGeom prst="roundRect">
            <a:avLst>
              <a:gd name="adj" fmla="val 4800"/>
            </a:avLst>
          </a:prstGeom>
          <a:solidFill>
            <a:srgbClr val="E9F5EB"/>
          </a:solidFill>
          <a:ln w="12700">
            <a:solidFill>
              <a:srgbClr val="9CC49C"/>
            </a:solidFill>
            <a:prstDash val="solid"/>
          </a:ln>
        </p:spPr>
      </p:sp>
      <p:sp>
        <p:nvSpPr>
          <p:cNvPr id="11" name="Text 9"/>
          <p:cNvSpPr/>
          <p:nvPr/>
        </p:nvSpPr>
        <p:spPr>
          <a:xfrm>
            <a:off x="7973568" y="1271016"/>
            <a:ext cx="3346704" cy="886968"/>
          </a:xfrm>
          <a:prstGeom prst="rect">
            <a:avLst/>
          </a:prstGeom>
          <a:noFill/>
          <a:ln/>
        </p:spPr>
        <p:txBody>
          <a:bodyPr wrap="square" lIns="0" tIns="0" rIns="0" bIns="0" rtlCol="0" anchor="ctr">
            <a:normAutofit/>
          </a:bodyPr>
          <a:lstStyle/>
          <a:p>
            <a:pPr algn="ctr" indent="0" marL="0">
              <a:buNone/>
            </a:pPr>
            <a:r>
              <a:rPr lang="en-US" sz="1200" b="1" dirty="0">
                <a:solidFill>
                  <a:srgbClr val="333333"/>
                </a:solidFill>
              </a:rPr>
              <a:t>Business purpose</a:t>
            </a:r>
            <a:endParaRPr lang="en-US" sz="1200" dirty="0"/>
          </a:p>
          <a:p>
            <a:pPr algn="ctr" indent="0" marL="0">
              <a:buNone/>
            </a:pPr>
            <a:endParaRPr lang="en-US" sz="1200" dirty="0"/>
          </a:p>
          <a:p>
            <a:pPr algn="ctr" indent="0" marL="0">
              <a:buNone/>
            </a:pPr>
            <a:r>
              <a:rPr lang="en-US" sz="1200" b="1" dirty="0">
                <a:solidFill>
                  <a:srgbClr val="333333"/>
                </a:solidFill>
              </a:rPr>
              <a:t>HMRC must tell the issuing authority when a licence has been used, so the authority has an up-to-date view of the licence position.</a:t>
            </a:r>
            <a:endParaRPr lang="en-US" sz="1200" dirty="0"/>
          </a:p>
        </p:txBody>
      </p:sp>
      <p:sp>
        <p:nvSpPr>
          <p:cNvPr id="12" name="Text 10"/>
          <p:cNvSpPr/>
          <p:nvPr/>
        </p:nvSpPr>
        <p:spPr>
          <a:xfrm>
            <a:off x="8001000" y="2697480"/>
            <a:ext cx="3291840" cy="1600200"/>
          </a:xfrm>
          <a:prstGeom prst="rect">
            <a:avLst/>
          </a:prstGeom>
          <a:noFill/>
          <a:ln/>
        </p:spPr>
        <p:txBody>
          <a:bodyPr wrap="square" lIns="1016" tIns="1016" rIns="1016" bIns="1016" rtlCol="0" anchor="t">
            <a:normAutofit/>
          </a:bodyPr>
          <a:lstStyle/>
          <a:p>
            <a:r>
              <a:rPr lang="en-US" sz="1300" dirty="0">
                <a:solidFill>
                  <a:srgbClr val="333333"/>
                </a:solidFill>
              </a:rPr>
              <a:t>Triggered after declaration processing</a:t>
            </a:r>
            <a:endParaRPr lang="en-US" sz="1300" dirty="0"/>
          </a:p>
          <a:p>
            <a:r>
              <a:rPr lang="en-US" sz="1300" dirty="0">
                <a:solidFill>
                  <a:srgbClr val="333333"/>
                </a:solidFill>
              </a:rPr>
              <a:t>Usage message sent to issuing authority</a:t>
            </a:r>
            <a:endParaRPr lang="en-US" sz="1300" dirty="0"/>
          </a:p>
          <a:p>
            <a:r>
              <a:rPr lang="en-US" sz="1300" dirty="0">
                <a:solidFill>
                  <a:srgbClr val="333333"/>
                </a:solidFill>
              </a:rPr>
              <a:t>Authority accepts or rejects usage</a:t>
            </a:r>
            <a:endParaRPr lang="en-US" sz="1300" dirty="0"/>
          </a:p>
          <a:p>
            <a:r>
              <a:rPr lang="en-US" sz="1300" dirty="0">
                <a:solidFill>
                  <a:srgbClr val="333333"/>
                </a:solidFill>
              </a:rPr>
              <a:t>HMRC records outcome / handles exceptions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0972800" cy="384048"/>
          </a:xfrm>
          <a:prstGeom prst="rect">
            <a:avLst/>
          </a:prstGeom>
          <a:noFill/>
          <a:ln/>
        </p:spPr>
        <p:txBody>
          <a:bodyPr wrap="square" lIns="0" tIns="0" rIns="0" bIns="0" rtlCol="0" anchor="ctr"/>
          <a:lstStyle/>
          <a:p>
            <a:pPr indent="0" marL="0">
              <a:buNone/>
            </a:pPr>
            <a:r>
              <a:rPr lang="en-US" sz="2600" b="1" dirty="0">
                <a:solidFill>
                  <a:srgbClr val="003366"/>
                </a:solidFill>
                <a:latin typeface="Arial" pitchFamily="34" charset="0"/>
                <a:ea typeface="Arial" pitchFamily="34" charset="-122"/>
                <a:cs typeface="Arial" pitchFamily="34" charset="-120"/>
              </a:rPr>
              <a:t>Usage Triggers</a:t>
            </a:r>
            <a:endParaRPr lang="en-US" sz="2600" dirty="0"/>
          </a:p>
        </p:txBody>
      </p:sp>
      <p:sp>
        <p:nvSpPr>
          <p:cNvPr id="3" name="Text 1"/>
          <p:cNvSpPr/>
          <p:nvPr/>
        </p:nvSpPr>
        <p:spPr>
          <a:xfrm>
            <a:off x="521208" y="749808"/>
            <a:ext cx="10515600" cy="228600"/>
          </a:xfrm>
          <a:prstGeom prst="rect">
            <a:avLst/>
          </a:prstGeom>
          <a:noFill/>
          <a:ln/>
        </p:spPr>
        <p:txBody>
          <a:bodyPr wrap="square" lIns="0" tIns="0" rIns="0" bIns="0" rtlCol="0" anchor="ctr"/>
          <a:lstStyle/>
          <a:p>
            <a:pPr indent="0" marL="0">
              <a:buNone/>
            </a:pPr>
            <a:r>
              <a:rPr lang="en-US" sz="1050" dirty="0">
                <a:solidFill>
                  <a:srgbClr val="666666"/>
                </a:solidFill>
              </a:rPr>
              <a:t>When usage is generated</a:t>
            </a:r>
            <a:endParaRPr lang="en-US" sz="1050" dirty="0"/>
          </a:p>
        </p:txBody>
      </p:sp>
      <p:sp>
        <p:nvSpPr>
          <p:cNvPr id="4" name="Shape 2"/>
          <p:cNvSpPr/>
          <p:nvPr/>
        </p:nvSpPr>
        <p:spPr>
          <a:xfrm>
            <a:off x="457200" y="6355080"/>
            <a:ext cx="11274552" cy="0"/>
          </a:xfrm>
          <a:prstGeom prst="line">
            <a:avLst/>
          </a:prstGeom>
          <a:noFill/>
          <a:ln w="8890">
            <a:solidFill>
              <a:srgbClr val="D9DEE3"/>
            </a:solidFill>
            <a:prstDash val="solid"/>
          </a:ln>
        </p:spPr>
      </p:sp>
      <p:sp>
        <p:nvSpPr>
          <p:cNvPr id="5" name="Text 3"/>
          <p:cNvSpPr/>
          <p:nvPr/>
        </p:nvSpPr>
        <p:spPr>
          <a:xfrm>
            <a:off x="457200" y="6419088"/>
            <a:ext cx="7315200" cy="228600"/>
          </a:xfrm>
          <a:prstGeom prst="rect">
            <a:avLst/>
          </a:prstGeom>
          <a:noFill/>
          <a:ln/>
        </p:spPr>
        <p:txBody>
          <a:bodyPr wrap="square" rtlCol="0" anchor="ctr"/>
          <a:lstStyle/>
          <a:p>
            <a:pPr indent="0" marL="0">
              <a:buNone/>
            </a:pPr>
            <a:r>
              <a:rPr lang="en-US" sz="850" dirty="0">
                <a:solidFill>
                  <a:srgbClr val="666666"/>
                </a:solidFill>
                <a:latin typeface="Arial" pitchFamily="34" charset="0"/>
                <a:ea typeface="Arial" pitchFamily="34" charset="-122"/>
                <a:cs typeface="Arial" pitchFamily="34" charset="-120"/>
              </a:rPr>
              <a:t>ILMS Knowledge Transfer | Architecture Overview</a:t>
            </a:r>
            <a:endParaRPr lang="en-US" sz="850" dirty="0"/>
          </a:p>
        </p:txBody>
      </p:sp>
      <p:sp>
        <p:nvSpPr>
          <p:cNvPr id="6" name="Text 4"/>
          <p:cNvSpPr/>
          <p:nvPr/>
        </p:nvSpPr>
        <p:spPr>
          <a:xfrm>
            <a:off x="11292840" y="6419088"/>
            <a:ext cx="457200" cy="228600"/>
          </a:xfrm>
          <a:prstGeom prst="rect">
            <a:avLst/>
          </a:prstGeom>
          <a:noFill/>
          <a:ln/>
        </p:spPr>
        <p:txBody>
          <a:bodyPr wrap="square" rtlCol="0" anchor="ctr"/>
          <a:lstStyle/>
          <a:p>
            <a:pPr algn="r" indent="0" marL="0">
              <a:buNone/>
            </a:pPr>
            <a:r>
              <a:rPr lang="en-US" sz="850" dirty="0">
                <a:solidFill>
                  <a:srgbClr val="666666"/>
                </a:solidFill>
              </a:rPr>
              <a:t>14</a:t>
            </a:r>
            <a:endParaRPr lang="en-US" sz="850" dirty="0"/>
          </a:p>
        </p:txBody>
      </p:sp>
      <p:sp>
        <p:nvSpPr>
          <p:cNvPr id="7" name="Shape 5"/>
          <p:cNvSpPr/>
          <p:nvPr/>
        </p:nvSpPr>
        <p:spPr>
          <a:xfrm>
            <a:off x="640080" y="1051560"/>
            <a:ext cx="6949440" cy="4800600"/>
          </a:xfrm>
          <a:prstGeom prst="rect">
            <a:avLst/>
          </a:prstGeom>
          <a:solidFill>
            <a:srgbClr val="F4F6F8">
              <a:alpha val="92000"/>
            </a:srgbClr>
          </a:solidFill>
          <a:ln w="17780">
            <a:solidFill>
              <a:srgbClr val="9AA7B2"/>
            </a:solidFill>
            <a:prstDash val="solid"/>
          </a:ln>
        </p:spPr>
      </p:sp>
      <p:sp>
        <p:nvSpPr>
          <p:cNvPr id="8" name="Text 6"/>
          <p:cNvSpPr/>
          <p:nvPr/>
        </p:nvSpPr>
        <p:spPr>
          <a:xfrm>
            <a:off x="777240" y="3287268"/>
            <a:ext cx="6675120" cy="292608"/>
          </a:xfrm>
          <a:prstGeom prst="rect">
            <a:avLst/>
          </a:prstGeom>
          <a:noFill/>
          <a:ln/>
        </p:spPr>
        <p:txBody>
          <a:bodyPr wrap="square" lIns="0" tIns="0" rIns="0" bIns="0" rtlCol="0" anchor="ctr"/>
          <a:lstStyle/>
          <a:p>
            <a:pPr algn="ctr" indent="0" marL="0">
              <a:buNone/>
            </a:pPr>
            <a:r>
              <a:rPr lang="en-US" sz="1800" b="1" dirty="0">
                <a:solidFill>
                  <a:srgbClr val="697886"/>
                </a:solidFill>
              </a:rPr>
              <a:t>INSERT USAGE TRIGGER / RESERVATION PROCESS DIAGRAM</a:t>
            </a:r>
            <a:endParaRPr lang="en-US" sz="1800" dirty="0"/>
          </a:p>
        </p:txBody>
      </p:sp>
      <p:sp>
        <p:nvSpPr>
          <p:cNvPr id="9" name="Text 7"/>
          <p:cNvSpPr/>
          <p:nvPr/>
        </p:nvSpPr>
        <p:spPr>
          <a:xfrm>
            <a:off x="868680" y="5468112"/>
            <a:ext cx="6492240" cy="228600"/>
          </a:xfrm>
          <a:prstGeom prst="rect">
            <a:avLst/>
          </a:prstGeom>
          <a:noFill/>
          <a:ln/>
        </p:spPr>
        <p:txBody>
          <a:bodyPr wrap="square" lIns="0" tIns="0" rIns="0" bIns="0" rtlCol="0" anchor="ctr"/>
          <a:lstStyle/>
          <a:p>
            <a:pPr algn="ctr" indent="0" marL="0">
              <a:buNone/>
            </a:pPr>
            <a:r>
              <a:rPr lang="en-US" sz="850" dirty="0">
                <a:solidFill>
                  <a:srgbClr val="697886"/>
                </a:solidFill>
              </a:rPr>
              <a:t>Suggested source: Licence Reservation Process / Usage Amendment Process</a:t>
            </a:r>
            <a:endParaRPr lang="en-US" sz="850" dirty="0"/>
          </a:p>
        </p:txBody>
      </p:sp>
      <p:sp>
        <p:nvSpPr>
          <p:cNvPr id="10" name="Text 8"/>
          <p:cNvSpPr/>
          <p:nvPr/>
        </p:nvSpPr>
        <p:spPr>
          <a:xfrm>
            <a:off x="7955280" y="1234440"/>
            <a:ext cx="3383280" cy="2194560"/>
          </a:xfrm>
          <a:prstGeom prst="rect">
            <a:avLst/>
          </a:prstGeom>
          <a:noFill/>
          <a:ln/>
        </p:spPr>
        <p:txBody>
          <a:bodyPr wrap="square" lIns="1016" tIns="1016" rIns="1016" bIns="1016" rtlCol="0" anchor="t">
            <a:normAutofit/>
          </a:bodyPr>
          <a:lstStyle/>
          <a:p>
            <a:r>
              <a:rPr lang="en-US" sz="1300" dirty="0">
                <a:solidFill>
                  <a:srgbClr val="333333"/>
                </a:solidFill>
              </a:rPr>
              <a:t>Most common trigger: declaration finalised and licence reservation confirmed.</a:t>
            </a:r>
            <a:endParaRPr lang="en-US" sz="1300" dirty="0"/>
          </a:p>
          <a:p>
            <a:r>
              <a:rPr lang="en-US" sz="1300" dirty="0">
                <a:solidFill>
                  <a:srgbClr val="333333"/>
                </a:solidFill>
              </a:rPr>
              <a:t>Pending usage may be stored until resolved.</a:t>
            </a:r>
            <a:endParaRPr lang="en-US" sz="1300" dirty="0"/>
          </a:p>
          <a:p>
            <a:r>
              <a:rPr lang="en-US" sz="1300" dirty="0">
                <a:solidFill>
                  <a:srgbClr val="333333"/>
                </a:solidFill>
              </a:rPr>
              <a:t>Manual usage amendment can be triggered through Licence UI / operational process.</a:t>
            </a:r>
            <a:endParaRPr lang="en-US" sz="1300" dirty="0"/>
          </a:p>
          <a:p>
            <a:r>
              <a:rPr lang="en-US" sz="1300" dirty="0">
                <a:solidFill>
                  <a:srgbClr val="333333"/>
                </a:solidFill>
              </a:rPr>
              <a:t>Cancellation can also trigger usage/completion behaviour depending on licence state.</a:t>
            </a:r>
            <a:endParaRPr lang="en-US" sz="1300" dirty="0"/>
          </a:p>
        </p:txBody>
      </p:sp>
      <p:sp>
        <p:nvSpPr>
          <p:cNvPr id="11" name="Shape 9"/>
          <p:cNvSpPr/>
          <p:nvPr/>
        </p:nvSpPr>
        <p:spPr>
          <a:xfrm>
            <a:off x="7909560" y="3977640"/>
            <a:ext cx="3520440" cy="868680"/>
          </a:xfrm>
          <a:prstGeom prst="roundRect">
            <a:avLst>
              <a:gd name="adj" fmla="val 6316"/>
            </a:avLst>
          </a:prstGeom>
          <a:solidFill>
            <a:srgbClr val="FFF3CD"/>
          </a:solidFill>
          <a:ln w="12700">
            <a:solidFill>
              <a:srgbClr val="E0B000"/>
            </a:solidFill>
            <a:prstDash val="solid"/>
          </a:ln>
        </p:spPr>
      </p:sp>
      <p:sp>
        <p:nvSpPr>
          <p:cNvPr id="12" name="Text 10"/>
          <p:cNvSpPr/>
          <p:nvPr/>
        </p:nvSpPr>
        <p:spPr>
          <a:xfrm>
            <a:off x="8019288" y="4105656"/>
            <a:ext cx="3300984" cy="612648"/>
          </a:xfrm>
          <a:prstGeom prst="rect">
            <a:avLst/>
          </a:prstGeom>
          <a:noFill/>
          <a:ln/>
        </p:spPr>
        <p:txBody>
          <a:bodyPr wrap="square" lIns="0" tIns="0" rIns="0" bIns="0" rtlCol="0" anchor="ctr">
            <a:normAutofit/>
          </a:bodyPr>
          <a:lstStyle/>
          <a:p>
            <a:pPr algn="ctr" indent="0" marL="0">
              <a:buNone/>
            </a:pPr>
            <a:r>
              <a:rPr lang="en-US" sz="1200" b="1" dirty="0">
                <a:solidFill>
                  <a:srgbClr val="333333"/>
                </a:solidFill>
              </a:rPr>
              <a:t>Presenter note</a:t>
            </a:r>
            <a:endParaRPr lang="en-US" sz="1200" dirty="0"/>
          </a:p>
          <a:p>
            <a:pPr algn="ctr" indent="0" marL="0">
              <a:buNone/>
            </a:pPr>
            <a:endParaRPr lang="en-US" sz="1200" dirty="0"/>
          </a:p>
          <a:p>
            <a:pPr algn="ctr" indent="0" marL="0">
              <a:buNone/>
            </a:pPr>
            <a:r>
              <a:rPr lang="en-US" sz="1200" b="1" dirty="0">
                <a:solidFill>
                  <a:srgbClr val="333333"/>
                </a:solidFill>
              </a:rPr>
              <a:t>Explain the business event before explaining the code path.</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0972800" cy="384048"/>
          </a:xfrm>
          <a:prstGeom prst="rect">
            <a:avLst/>
          </a:prstGeom>
          <a:noFill/>
          <a:ln/>
        </p:spPr>
        <p:txBody>
          <a:bodyPr wrap="square" lIns="0" tIns="0" rIns="0" bIns="0" rtlCol="0" anchor="ctr"/>
          <a:lstStyle/>
          <a:p>
            <a:pPr indent="0" marL="0">
              <a:buNone/>
            </a:pPr>
            <a:r>
              <a:rPr lang="en-US" sz="2600" b="1" dirty="0">
                <a:solidFill>
                  <a:srgbClr val="003366"/>
                </a:solidFill>
                <a:latin typeface="Arial" pitchFamily="34" charset="0"/>
                <a:ea typeface="Arial" pitchFamily="34" charset="-122"/>
                <a:cs typeface="Arial" pitchFamily="34" charset="-120"/>
              </a:rPr>
              <a:t>Flow 3: Reservation and Authorisation</a:t>
            </a:r>
            <a:endParaRPr lang="en-US" sz="2600" dirty="0"/>
          </a:p>
        </p:txBody>
      </p:sp>
      <p:sp>
        <p:nvSpPr>
          <p:cNvPr id="3" name="Text 1"/>
          <p:cNvSpPr/>
          <p:nvPr/>
        </p:nvSpPr>
        <p:spPr>
          <a:xfrm>
            <a:off x="521208" y="749808"/>
            <a:ext cx="10515600" cy="228600"/>
          </a:xfrm>
          <a:prstGeom prst="rect">
            <a:avLst/>
          </a:prstGeom>
          <a:noFill/>
          <a:ln/>
        </p:spPr>
        <p:txBody>
          <a:bodyPr wrap="square" lIns="0" tIns="0" rIns="0" bIns="0" rtlCol="0" anchor="ctr"/>
          <a:lstStyle/>
          <a:p>
            <a:pPr indent="0" marL="0">
              <a:buNone/>
            </a:pPr>
            <a:r>
              <a:rPr lang="en-US" sz="1050" dirty="0">
                <a:solidFill>
                  <a:srgbClr val="666666"/>
                </a:solidFill>
              </a:rPr>
              <a:t>DMS interactions during declaration processing</a:t>
            </a:r>
            <a:endParaRPr lang="en-US" sz="1050" dirty="0"/>
          </a:p>
        </p:txBody>
      </p:sp>
      <p:sp>
        <p:nvSpPr>
          <p:cNvPr id="4" name="Shape 2"/>
          <p:cNvSpPr/>
          <p:nvPr/>
        </p:nvSpPr>
        <p:spPr>
          <a:xfrm>
            <a:off x="457200" y="6355080"/>
            <a:ext cx="11274552" cy="0"/>
          </a:xfrm>
          <a:prstGeom prst="line">
            <a:avLst/>
          </a:prstGeom>
          <a:noFill/>
          <a:ln w="8890">
            <a:solidFill>
              <a:srgbClr val="D9DEE3"/>
            </a:solidFill>
            <a:prstDash val="solid"/>
          </a:ln>
        </p:spPr>
      </p:sp>
      <p:sp>
        <p:nvSpPr>
          <p:cNvPr id="5" name="Text 3"/>
          <p:cNvSpPr/>
          <p:nvPr/>
        </p:nvSpPr>
        <p:spPr>
          <a:xfrm>
            <a:off x="457200" y="6419088"/>
            <a:ext cx="7315200" cy="228600"/>
          </a:xfrm>
          <a:prstGeom prst="rect">
            <a:avLst/>
          </a:prstGeom>
          <a:noFill/>
          <a:ln/>
        </p:spPr>
        <p:txBody>
          <a:bodyPr wrap="square" rtlCol="0" anchor="ctr"/>
          <a:lstStyle/>
          <a:p>
            <a:pPr indent="0" marL="0">
              <a:buNone/>
            </a:pPr>
            <a:r>
              <a:rPr lang="en-US" sz="850" dirty="0">
                <a:solidFill>
                  <a:srgbClr val="666666"/>
                </a:solidFill>
                <a:latin typeface="Arial" pitchFamily="34" charset="0"/>
                <a:ea typeface="Arial" pitchFamily="34" charset="-122"/>
                <a:cs typeface="Arial" pitchFamily="34" charset="-120"/>
              </a:rPr>
              <a:t>ILMS Knowledge Transfer | Architecture Overview</a:t>
            </a:r>
            <a:endParaRPr lang="en-US" sz="850" dirty="0"/>
          </a:p>
        </p:txBody>
      </p:sp>
      <p:sp>
        <p:nvSpPr>
          <p:cNvPr id="6" name="Text 4"/>
          <p:cNvSpPr/>
          <p:nvPr/>
        </p:nvSpPr>
        <p:spPr>
          <a:xfrm>
            <a:off x="11292840" y="6419088"/>
            <a:ext cx="457200" cy="228600"/>
          </a:xfrm>
          <a:prstGeom prst="rect">
            <a:avLst/>
          </a:prstGeom>
          <a:noFill/>
          <a:ln/>
        </p:spPr>
        <p:txBody>
          <a:bodyPr wrap="square" rtlCol="0" anchor="ctr"/>
          <a:lstStyle/>
          <a:p>
            <a:pPr algn="r" indent="0" marL="0">
              <a:buNone/>
            </a:pPr>
            <a:r>
              <a:rPr lang="en-US" sz="850" dirty="0">
                <a:solidFill>
                  <a:srgbClr val="666666"/>
                </a:solidFill>
              </a:rPr>
              <a:t>15</a:t>
            </a:r>
            <a:endParaRPr lang="en-US" sz="850" dirty="0"/>
          </a:p>
        </p:txBody>
      </p:sp>
      <p:sp>
        <p:nvSpPr>
          <p:cNvPr id="7" name="Shape 5"/>
          <p:cNvSpPr/>
          <p:nvPr/>
        </p:nvSpPr>
        <p:spPr>
          <a:xfrm>
            <a:off x="640080" y="1051560"/>
            <a:ext cx="6949440" cy="4800600"/>
          </a:xfrm>
          <a:prstGeom prst="rect">
            <a:avLst/>
          </a:prstGeom>
          <a:solidFill>
            <a:srgbClr val="F4F6F8">
              <a:alpha val="92000"/>
            </a:srgbClr>
          </a:solidFill>
          <a:ln w="17780">
            <a:solidFill>
              <a:srgbClr val="9AA7B2"/>
            </a:solidFill>
            <a:prstDash val="solid"/>
          </a:ln>
        </p:spPr>
      </p:sp>
      <p:sp>
        <p:nvSpPr>
          <p:cNvPr id="8" name="Text 6"/>
          <p:cNvSpPr/>
          <p:nvPr/>
        </p:nvSpPr>
        <p:spPr>
          <a:xfrm>
            <a:off x="777240" y="3287268"/>
            <a:ext cx="6675120" cy="292608"/>
          </a:xfrm>
          <a:prstGeom prst="rect">
            <a:avLst/>
          </a:prstGeom>
          <a:noFill/>
          <a:ln/>
        </p:spPr>
        <p:txBody>
          <a:bodyPr wrap="square" lIns="0" tIns="0" rIns="0" bIns="0" rtlCol="0" anchor="ctr"/>
          <a:lstStyle/>
          <a:p>
            <a:pPr algn="ctr" indent="0" marL="0">
              <a:buNone/>
            </a:pPr>
            <a:r>
              <a:rPr lang="en-US" sz="1800" b="1" dirty="0">
                <a:solidFill>
                  <a:srgbClr val="697886"/>
                </a:solidFill>
              </a:rPr>
              <a:t>INSERT REQUEST / RESERVATION FLOW DIAGRAM</a:t>
            </a:r>
            <a:endParaRPr lang="en-US" sz="1800" dirty="0"/>
          </a:p>
        </p:txBody>
      </p:sp>
      <p:sp>
        <p:nvSpPr>
          <p:cNvPr id="9" name="Text 7"/>
          <p:cNvSpPr/>
          <p:nvPr/>
        </p:nvSpPr>
        <p:spPr>
          <a:xfrm>
            <a:off x="868680" y="5468112"/>
            <a:ext cx="6492240" cy="228600"/>
          </a:xfrm>
          <a:prstGeom prst="rect">
            <a:avLst/>
          </a:prstGeom>
          <a:noFill/>
          <a:ln/>
        </p:spPr>
        <p:txBody>
          <a:bodyPr wrap="square" lIns="0" tIns="0" rIns="0" bIns="0" rtlCol="0" anchor="ctr"/>
          <a:lstStyle/>
          <a:p>
            <a:pPr algn="ctr" indent="0" marL="0">
              <a:buNone/>
            </a:pPr>
            <a:r>
              <a:rPr lang="en-US" sz="850" dirty="0">
                <a:solidFill>
                  <a:srgbClr val="697886"/>
                </a:solidFill>
              </a:rPr>
              <a:t>Suggested source: Request Party Authorisations / Reservation operations</a:t>
            </a:r>
            <a:endParaRPr lang="en-US" sz="850" dirty="0"/>
          </a:p>
        </p:txBody>
      </p:sp>
      <p:sp>
        <p:nvSpPr>
          <p:cNvPr id="10" name="Text 8"/>
          <p:cNvSpPr/>
          <p:nvPr/>
        </p:nvSpPr>
        <p:spPr>
          <a:xfrm>
            <a:off x="7955280" y="1234440"/>
            <a:ext cx="3383280" cy="2148840"/>
          </a:xfrm>
          <a:prstGeom prst="rect">
            <a:avLst/>
          </a:prstGeom>
          <a:noFill/>
          <a:ln/>
        </p:spPr>
        <p:txBody>
          <a:bodyPr wrap="square" lIns="1016" tIns="1016" rIns="1016" bIns="1016" rtlCol="0" anchor="t">
            <a:normAutofit/>
          </a:bodyPr>
          <a:lstStyle/>
          <a:p>
            <a:r>
              <a:rPr lang="en-US" sz="1300" dirty="0">
                <a:solidFill>
                  <a:srgbClr val="333333"/>
                </a:solidFill>
              </a:rPr>
              <a:t>DMS requests licence/authorisation details.</a:t>
            </a:r>
            <a:endParaRPr lang="en-US" sz="1300" dirty="0"/>
          </a:p>
          <a:p>
            <a:r>
              <a:rPr lang="en-US" sz="1300" dirty="0">
                <a:solidFill>
                  <a:srgbClr val="333333"/>
                </a:solidFill>
              </a:rPr>
              <a:t>ILMS checks licence reference, dates, traders, countries and commodities.</a:t>
            </a:r>
            <a:endParaRPr lang="en-US" sz="1300" dirty="0"/>
          </a:p>
          <a:p>
            <a:r>
              <a:rPr lang="en-US" sz="1300" dirty="0">
                <a:solidFill>
                  <a:srgbClr val="333333"/>
                </a:solidFill>
              </a:rPr>
              <a:t>Reservation operations create, update, delete or confirm licence usage.</a:t>
            </a:r>
            <a:endParaRPr lang="en-US" sz="1300" dirty="0"/>
          </a:p>
          <a:p>
            <a:r>
              <a:rPr lang="en-US" sz="1300" dirty="0">
                <a:solidFill>
                  <a:srgbClr val="333333"/>
                </a:solidFill>
              </a:rPr>
              <a:t>Responses are returned back to the caller through the relevant integration path.</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0972800" cy="384048"/>
          </a:xfrm>
          <a:prstGeom prst="rect">
            <a:avLst/>
          </a:prstGeom>
          <a:noFill/>
          <a:ln/>
        </p:spPr>
        <p:txBody>
          <a:bodyPr wrap="square" lIns="0" tIns="0" rIns="0" bIns="0" rtlCol="0" anchor="ctr"/>
          <a:lstStyle/>
          <a:p>
            <a:pPr indent="0" marL="0">
              <a:buNone/>
            </a:pPr>
            <a:r>
              <a:rPr lang="en-US" sz="2600" b="1" dirty="0">
                <a:solidFill>
                  <a:srgbClr val="003366"/>
                </a:solidFill>
                <a:latin typeface="Arial" pitchFamily="34" charset="0"/>
                <a:ea typeface="Arial" pitchFamily="34" charset="-122"/>
                <a:cs typeface="Arial" pitchFamily="34" charset="-120"/>
              </a:rPr>
              <a:t>Validation Framework</a:t>
            </a:r>
            <a:endParaRPr lang="en-US" sz="2600" dirty="0"/>
          </a:p>
        </p:txBody>
      </p:sp>
      <p:sp>
        <p:nvSpPr>
          <p:cNvPr id="3" name="Text 1"/>
          <p:cNvSpPr/>
          <p:nvPr/>
        </p:nvSpPr>
        <p:spPr>
          <a:xfrm>
            <a:off x="521208" y="749808"/>
            <a:ext cx="10515600" cy="228600"/>
          </a:xfrm>
          <a:prstGeom prst="rect">
            <a:avLst/>
          </a:prstGeom>
          <a:noFill/>
          <a:ln/>
        </p:spPr>
        <p:txBody>
          <a:bodyPr wrap="square" lIns="0" tIns="0" rIns="0" bIns="0" rtlCol="0" anchor="ctr"/>
          <a:lstStyle/>
          <a:p>
            <a:pPr indent="0" marL="0">
              <a:buNone/>
            </a:pPr>
            <a:r>
              <a:rPr lang="en-US" sz="1050" dirty="0">
                <a:solidFill>
                  <a:srgbClr val="666666"/>
                </a:solidFill>
              </a:rPr>
              <a:t>Design point: keep rules small, testable and extensible</a:t>
            </a:r>
            <a:endParaRPr lang="en-US" sz="1050" dirty="0"/>
          </a:p>
        </p:txBody>
      </p:sp>
      <p:sp>
        <p:nvSpPr>
          <p:cNvPr id="4" name="Shape 2"/>
          <p:cNvSpPr/>
          <p:nvPr/>
        </p:nvSpPr>
        <p:spPr>
          <a:xfrm>
            <a:off x="457200" y="6355080"/>
            <a:ext cx="11274552" cy="0"/>
          </a:xfrm>
          <a:prstGeom prst="line">
            <a:avLst/>
          </a:prstGeom>
          <a:noFill/>
          <a:ln w="8890">
            <a:solidFill>
              <a:srgbClr val="D9DEE3"/>
            </a:solidFill>
            <a:prstDash val="solid"/>
          </a:ln>
        </p:spPr>
      </p:sp>
      <p:sp>
        <p:nvSpPr>
          <p:cNvPr id="5" name="Text 3"/>
          <p:cNvSpPr/>
          <p:nvPr/>
        </p:nvSpPr>
        <p:spPr>
          <a:xfrm>
            <a:off x="457200" y="6419088"/>
            <a:ext cx="7315200" cy="228600"/>
          </a:xfrm>
          <a:prstGeom prst="rect">
            <a:avLst/>
          </a:prstGeom>
          <a:noFill/>
          <a:ln/>
        </p:spPr>
        <p:txBody>
          <a:bodyPr wrap="square" rtlCol="0" anchor="ctr"/>
          <a:lstStyle/>
          <a:p>
            <a:pPr indent="0" marL="0">
              <a:buNone/>
            </a:pPr>
            <a:r>
              <a:rPr lang="en-US" sz="850" dirty="0">
                <a:solidFill>
                  <a:srgbClr val="666666"/>
                </a:solidFill>
                <a:latin typeface="Arial" pitchFamily="34" charset="0"/>
                <a:ea typeface="Arial" pitchFamily="34" charset="-122"/>
                <a:cs typeface="Arial" pitchFamily="34" charset="-120"/>
              </a:rPr>
              <a:t>ILMS Knowledge Transfer | Architecture Overview</a:t>
            </a:r>
            <a:endParaRPr lang="en-US" sz="850" dirty="0"/>
          </a:p>
        </p:txBody>
      </p:sp>
      <p:sp>
        <p:nvSpPr>
          <p:cNvPr id="6" name="Text 4"/>
          <p:cNvSpPr/>
          <p:nvPr/>
        </p:nvSpPr>
        <p:spPr>
          <a:xfrm>
            <a:off x="11292840" y="6419088"/>
            <a:ext cx="457200" cy="228600"/>
          </a:xfrm>
          <a:prstGeom prst="rect">
            <a:avLst/>
          </a:prstGeom>
          <a:noFill/>
          <a:ln/>
        </p:spPr>
        <p:txBody>
          <a:bodyPr wrap="square" rtlCol="0" anchor="ctr"/>
          <a:lstStyle/>
          <a:p>
            <a:pPr algn="r" indent="0" marL="0">
              <a:buNone/>
            </a:pPr>
            <a:r>
              <a:rPr lang="en-US" sz="850" dirty="0">
                <a:solidFill>
                  <a:srgbClr val="666666"/>
                </a:solidFill>
              </a:rPr>
              <a:t>16</a:t>
            </a:r>
            <a:endParaRPr lang="en-US" sz="850" dirty="0"/>
          </a:p>
        </p:txBody>
      </p:sp>
      <p:sp>
        <p:nvSpPr>
          <p:cNvPr id="7" name="Shape 5"/>
          <p:cNvSpPr/>
          <p:nvPr/>
        </p:nvSpPr>
        <p:spPr>
          <a:xfrm>
            <a:off x="777240" y="2468880"/>
            <a:ext cx="1508760" cy="594360"/>
          </a:xfrm>
          <a:prstGeom prst="roundRect">
            <a:avLst>
              <a:gd name="adj" fmla="val 9231"/>
            </a:avLst>
          </a:prstGeom>
          <a:solidFill>
            <a:srgbClr val="F3F8FC"/>
          </a:solidFill>
          <a:ln w="12700">
            <a:solidFill>
              <a:srgbClr val="1F5E99"/>
            </a:solidFill>
            <a:prstDash val="solid"/>
          </a:ln>
        </p:spPr>
      </p:sp>
      <p:sp>
        <p:nvSpPr>
          <p:cNvPr id="8" name="Text 6"/>
          <p:cNvSpPr/>
          <p:nvPr/>
        </p:nvSpPr>
        <p:spPr>
          <a:xfrm>
            <a:off x="886968" y="2596896"/>
            <a:ext cx="1289304" cy="338328"/>
          </a:xfrm>
          <a:prstGeom prst="rect">
            <a:avLst/>
          </a:prstGeom>
          <a:noFill/>
          <a:ln/>
        </p:spPr>
        <p:txBody>
          <a:bodyPr wrap="square" lIns="0" tIns="0" rIns="0" bIns="0" rtlCol="0" anchor="ctr">
            <a:normAutofit/>
          </a:bodyPr>
          <a:lstStyle/>
          <a:p>
            <a:pPr algn="ctr" indent="0" marL="0">
              <a:buNone/>
            </a:pPr>
            <a:r>
              <a:rPr lang="en-US" sz="1200" b="1" dirty="0">
                <a:solidFill>
                  <a:srgbClr val="333333"/>
                </a:solidFill>
              </a:rPr>
              <a:t>Controller</a:t>
            </a:r>
            <a:endParaRPr lang="en-US" sz="1200" dirty="0"/>
          </a:p>
        </p:txBody>
      </p:sp>
      <p:sp>
        <p:nvSpPr>
          <p:cNvPr id="9" name="Shape 7"/>
          <p:cNvSpPr/>
          <p:nvPr/>
        </p:nvSpPr>
        <p:spPr>
          <a:xfrm>
            <a:off x="2286000" y="2761488"/>
            <a:ext cx="822960" cy="0"/>
          </a:xfrm>
          <a:prstGeom prst="line">
            <a:avLst/>
          </a:prstGeom>
          <a:noFill/>
          <a:ln w="22860">
            <a:solidFill>
              <a:srgbClr val="1F5E99"/>
            </a:solidFill>
            <a:prstDash val="solid"/>
            <a:headEnd type="none"/>
            <a:tailEnd type="triangle"/>
          </a:ln>
        </p:spPr>
      </p:sp>
      <p:sp>
        <p:nvSpPr>
          <p:cNvPr id="10" name="Shape 8"/>
          <p:cNvSpPr/>
          <p:nvPr/>
        </p:nvSpPr>
        <p:spPr>
          <a:xfrm>
            <a:off x="3108960" y="2468880"/>
            <a:ext cx="1508760" cy="594360"/>
          </a:xfrm>
          <a:prstGeom prst="roundRect">
            <a:avLst>
              <a:gd name="adj" fmla="val 9231"/>
            </a:avLst>
          </a:prstGeom>
          <a:solidFill>
            <a:srgbClr val="F3F8FC"/>
          </a:solidFill>
          <a:ln w="12700">
            <a:solidFill>
              <a:srgbClr val="1F5E99"/>
            </a:solidFill>
            <a:prstDash val="solid"/>
          </a:ln>
        </p:spPr>
      </p:sp>
      <p:sp>
        <p:nvSpPr>
          <p:cNvPr id="11" name="Text 9"/>
          <p:cNvSpPr/>
          <p:nvPr/>
        </p:nvSpPr>
        <p:spPr>
          <a:xfrm>
            <a:off x="3218688" y="2596896"/>
            <a:ext cx="1289304" cy="338328"/>
          </a:xfrm>
          <a:prstGeom prst="rect">
            <a:avLst/>
          </a:prstGeom>
          <a:noFill/>
          <a:ln/>
        </p:spPr>
        <p:txBody>
          <a:bodyPr wrap="square" lIns="0" tIns="0" rIns="0" bIns="0" rtlCol="0" anchor="ctr">
            <a:normAutofit/>
          </a:bodyPr>
          <a:lstStyle/>
          <a:p>
            <a:pPr algn="ctr" indent="0" marL="0">
              <a:buNone/>
            </a:pPr>
            <a:r>
              <a:rPr lang="en-US" sz="1200" b="1" dirty="0">
                <a:solidFill>
                  <a:srgbClr val="333333"/>
                </a:solidFill>
              </a:rPr>
              <a:t>Service</a:t>
            </a:r>
            <a:endParaRPr lang="en-US" sz="1200" dirty="0"/>
          </a:p>
        </p:txBody>
      </p:sp>
      <p:sp>
        <p:nvSpPr>
          <p:cNvPr id="12" name="Shape 10"/>
          <p:cNvSpPr/>
          <p:nvPr/>
        </p:nvSpPr>
        <p:spPr>
          <a:xfrm>
            <a:off x="4617720" y="2761488"/>
            <a:ext cx="822960" cy="0"/>
          </a:xfrm>
          <a:prstGeom prst="line">
            <a:avLst/>
          </a:prstGeom>
          <a:noFill/>
          <a:ln w="22860">
            <a:solidFill>
              <a:srgbClr val="1F5E99"/>
            </a:solidFill>
            <a:prstDash val="solid"/>
            <a:headEnd type="none"/>
            <a:tailEnd type="triangle"/>
          </a:ln>
        </p:spPr>
      </p:sp>
      <p:sp>
        <p:nvSpPr>
          <p:cNvPr id="13" name="Shape 11"/>
          <p:cNvSpPr/>
          <p:nvPr/>
        </p:nvSpPr>
        <p:spPr>
          <a:xfrm>
            <a:off x="5440680" y="2331720"/>
            <a:ext cx="1737360" cy="868680"/>
          </a:xfrm>
          <a:prstGeom prst="roundRect">
            <a:avLst>
              <a:gd name="adj" fmla="val 6316"/>
            </a:avLst>
          </a:prstGeom>
          <a:solidFill>
            <a:srgbClr val="FCE8D8"/>
          </a:solidFill>
          <a:ln w="12700">
            <a:solidFill>
              <a:srgbClr val="E7A26D"/>
            </a:solidFill>
            <a:prstDash val="solid"/>
          </a:ln>
        </p:spPr>
      </p:sp>
      <p:sp>
        <p:nvSpPr>
          <p:cNvPr id="14" name="Text 12"/>
          <p:cNvSpPr/>
          <p:nvPr/>
        </p:nvSpPr>
        <p:spPr>
          <a:xfrm>
            <a:off x="5550408" y="2459736"/>
            <a:ext cx="1517904" cy="612648"/>
          </a:xfrm>
          <a:prstGeom prst="rect">
            <a:avLst/>
          </a:prstGeom>
          <a:noFill/>
          <a:ln/>
        </p:spPr>
        <p:txBody>
          <a:bodyPr wrap="square" lIns="0" tIns="0" rIns="0" bIns="0" rtlCol="0" anchor="ctr">
            <a:normAutofit/>
          </a:bodyPr>
          <a:lstStyle/>
          <a:p>
            <a:pPr algn="ctr" indent="0" marL="0">
              <a:buNone/>
            </a:pPr>
            <a:r>
              <a:rPr lang="en-US" sz="1200" b="1" dirty="0">
                <a:solidFill>
                  <a:srgbClr val="333333"/>
                </a:solidFill>
              </a:rPr>
              <a:t>Validation</a:t>
            </a:r>
            <a:endParaRPr lang="en-US" sz="1200" dirty="0"/>
          </a:p>
          <a:p>
            <a:pPr algn="ctr" indent="0" marL="0">
              <a:buNone/>
            </a:pPr>
            <a:r>
              <a:rPr lang="en-US" sz="1200" b="1" dirty="0">
                <a:solidFill>
                  <a:srgbClr val="333333"/>
                </a:solidFill>
              </a:rPr>
              <a:t>Framework</a:t>
            </a:r>
            <a:endParaRPr lang="en-US" sz="1200" dirty="0"/>
          </a:p>
        </p:txBody>
      </p:sp>
      <p:sp>
        <p:nvSpPr>
          <p:cNvPr id="15" name="Shape 13"/>
          <p:cNvSpPr/>
          <p:nvPr/>
        </p:nvSpPr>
        <p:spPr>
          <a:xfrm>
            <a:off x="7178040" y="2761488"/>
            <a:ext cx="822960" cy="0"/>
          </a:xfrm>
          <a:prstGeom prst="line">
            <a:avLst/>
          </a:prstGeom>
          <a:noFill/>
          <a:ln w="22860">
            <a:solidFill>
              <a:srgbClr val="1F5E99"/>
            </a:solidFill>
            <a:prstDash val="solid"/>
            <a:headEnd type="none"/>
            <a:tailEnd type="triangle"/>
          </a:ln>
        </p:spPr>
      </p:sp>
      <p:sp>
        <p:nvSpPr>
          <p:cNvPr id="16" name="Shape 14"/>
          <p:cNvSpPr/>
          <p:nvPr/>
        </p:nvSpPr>
        <p:spPr>
          <a:xfrm>
            <a:off x="8001000" y="2468880"/>
            <a:ext cx="1508760" cy="594360"/>
          </a:xfrm>
          <a:prstGeom prst="roundRect">
            <a:avLst>
              <a:gd name="adj" fmla="val 9231"/>
            </a:avLst>
          </a:prstGeom>
          <a:solidFill>
            <a:srgbClr val="F3F8FC"/>
          </a:solidFill>
          <a:ln w="12700">
            <a:solidFill>
              <a:srgbClr val="1F5E99"/>
            </a:solidFill>
            <a:prstDash val="solid"/>
          </a:ln>
        </p:spPr>
      </p:sp>
      <p:sp>
        <p:nvSpPr>
          <p:cNvPr id="17" name="Text 15"/>
          <p:cNvSpPr/>
          <p:nvPr/>
        </p:nvSpPr>
        <p:spPr>
          <a:xfrm>
            <a:off x="8110728" y="2596896"/>
            <a:ext cx="1289304" cy="338328"/>
          </a:xfrm>
          <a:prstGeom prst="rect">
            <a:avLst/>
          </a:prstGeom>
          <a:noFill/>
          <a:ln/>
        </p:spPr>
        <p:txBody>
          <a:bodyPr wrap="square" lIns="0" tIns="0" rIns="0" bIns="0" rtlCol="0" anchor="ctr">
            <a:normAutofit/>
          </a:bodyPr>
          <a:lstStyle/>
          <a:p>
            <a:pPr algn="ctr" indent="0" marL="0">
              <a:buNone/>
            </a:pPr>
            <a:r>
              <a:rPr lang="en-US" sz="1200" b="1" dirty="0">
                <a:solidFill>
                  <a:srgbClr val="333333"/>
                </a:solidFill>
              </a:rPr>
              <a:t>Repository</a:t>
            </a:r>
            <a:endParaRPr lang="en-US" sz="1200" dirty="0"/>
          </a:p>
        </p:txBody>
      </p:sp>
      <p:sp>
        <p:nvSpPr>
          <p:cNvPr id="18" name="Shape 16"/>
          <p:cNvSpPr/>
          <p:nvPr/>
        </p:nvSpPr>
        <p:spPr>
          <a:xfrm>
            <a:off x="9509760" y="2761488"/>
            <a:ext cx="822960" cy="0"/>
          </a:xfrm>
          <a:prstGeom prst="line">
            <a:avLst/>
          </a:prstGeom>
          <a:noFill/>
          <a:ln w="22860">
            <a:solidFill>
              <a:srgbClr val="1F5E99"/>
            </a:solidFill>
            <a:prstDash val="solid"/>
            <a:headEnd type="none"/>
            <a:tailEnd type="triangle"/>
          </a:ln>
        </p:spPr>
      </p:sp>
      <p:sp>
        <p:nvSpPr>
          <p:cNvPr id="19" name="Shape 17"/>
          <p:cNvSpPr/>
          <p:nvPr/>
        </p:nvSpPr>
        <p:spPr>
          <a:xfrm>
            <a:off x="10332720" y="2468880"/>
            <a:ext cx="1234440" cy="594360"/>
          </a:xfrm>
          <a:prstGeom prst="roundRect">
            <a:avLst>
              <a:gd name="adj" fmla="val 9231"/>
            </a:avLst>
          </a:prstGeom>
          <a:solidFill>
            <a:srgbClr val="F4F6F8"/>
          </a:solidFill>
          <a:ln w="12700">
            <a:solidFill>
              <a:srgbClr val="D9DEE3"/>
            </a:solidFill>
            <a:prstDash val="solid"/>
          </a:ln>
        </p:spPr>
      </p:sp>
      <p:sp>
        <p:nvSpPr>
          <p:cNvPr id="20" name="Text 18"/>
          <p:cNvSpPr/>
          <p:nvPr/>
        </p:nvSpPr>
        <p:spPr>
          <a:xfrm>
            <a:off x="10442448" y="2596896"/>
            <a:ext cx="1014984" cy="338328"/>
          </a:xfrm>
          <a:prstGeom prst="rect">
            <a:avLst/>
          </a:prstGeom>
          <a:noFill/>
          <a:ln/>
        </p:spPr>
        <p:txBody>
          <a:bodyPr wrap="square" lIns="0" tIns="0" rIns="0" bIns="0" rtlCol="0" anchor="ctr">
            <a:normAutofit/>
          </a:bodyPr>
          <a:lstStyle/>
          <a:p>
            <a:pPr algn="ctr" indent="0" marL="0">
              <a:buNone/>
            </a:pPr>
            <a:r>
              <a:rPr lang="en-US" sz="1200" b="1" dirty="0">
                <a:solidFill>
                  <a:srgbClr val="333333"/>
                </a:solidFill>
              </a:rPr>
              <a:t>Database</a:t>
            </a:r>
            <a:endParaRPr lang="en-US" sz="1200" dirty="0"/>
          </a:p>
        </p:txBody>
      </p:sp>
      <p:sp>
        <p:nvSpPr>
          <p:cNvPr id="21" name="Text 19"/>
          <p:cNvSpPr/>
          <p:nvPr/>
        </p:nvSpPr>
        <p:spPr>
          <a:xfrm>
            <a:off x="4434840" y="3840480"/>
            <a:ext cx="3566160" cy="320040"/>
          </a:xfrm>
          <a:prstGeom prst="rect">
            <a:avLst/>
          </a:prstGeom>
          <a:noFill/>
          <a:ln/>
        </p:spPr>
        <p:txBody>
          <a:bodyPr wrap="square" lIns="0" tIns="0" rIns="0" bIns="0" rtlCol="0" anchor="ctr"/>
          <a:lstStyle/>
          <a:p>
            <a:pPr algn="ctr" indent="0" marL="0">
              <a:buNone/>
            </a:pPr>
            <a:r>
              <a:rPr lang="en-US" sz="1800" b="1" dirty="0">
                <a:solidFill>
                  <a:srgbClr val="003366"/>
                </a:solidFill>
              </a:rPr>
              <a:t>ValidationRule interface</a:t>
            </a:r>
            <a:endParaRPr lang="en-US" sz="1800" dirty="0"/>
          </a:p>
        </p:txBody>
      </p:sp>
      <p:sp>
        <p:nvSpPr>
          <p:cNvPr id="22" name="Text 20"/>
          <p:cNvSpPr/>
          <p:nvPr/>
        </p:nvSpPr>
        <p:spPr>
          <a:xfrm>
            <a:off x="1920240" y="4343400"/>
            <a:ext cx="8595360" cy="1005840"/>
          </a:xfrm>
          <a:prstGeom prst="rect">
            <a:avLst/>
          </a:prstGeom>
          <a:noFill/>
          <a:ln/>
        </p:spPr>
        <p:txBody>
          <a:bodyPr wrap="square" lIns="1016" tIns="1016" rIns="1016" bIns="1016" rtlCol="0" anchor="t">
            <a:normAutofit/>
          </a:bodyPr>
          <a:lstStyle/>
          <a:p>
            <a:r>
              <a:rPr lang="en-US" sz="1500" dirty="0">
                <a:solidFill>
                  <a:srgbClr val="333333"/>
                </a:solidFill>
              </a:rPr>
              <a:t>Each rule implements the same contract.</a:t>
            </a:r>
            <a:endParaRPr lang="en-US" sz="1500" dirty="0"/>
          </a:p>
          <a:p>
            <a:r>
              <a:rPr lang="en-US" sz="1500" dirty="0">
                <a:solidFill>
                  <a:srgbClr val="333333"/>
                </a:solidFill>
              </a:rPr>
              <a:t>Avoids one large procedural validation method.</a:t>
            </a:r>
            <a:endParaRPr lang="en-US" sz="1500" dirty="0"/>
          </a:p>
          <a:p>
            <a:r>
              <a:rPr lang="en-US" sz="1500" dirty="0">
                <a:solidFill>
                  <a:srgbClr val="333333"/>
                </a:solidFill>
              </a:rPr>
              <a:t>Makes rules easier to test and extend.</a:t>
            </a:r>
            <a:endParaRPr lang="en-US" sz="1500" dirty="0"/>
          </a:p>
          <a:p>
            <a:r>
              <a:rPr lang="en-US" sz="1500" dirty="0">
                <a:solidFill>
                  <a:srgbClr val="333333"/>
                </a:solidFill>
              </a:rPr>
              <a:t>Supports clearer failure handling.</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0972800" cy="384048"/>
          </a:xfrm>
          <a:prstGeom prst="rect">
            <a:avLst/>
          </a:prstGeom>
          <a:noFill/>
          <a:ln/>
        </p:spPr>
        <p:txBody>
          <a:bodyPr wrap="square" lIns="0" tIns="0" rIns="0" bIns="0" rtlCol="0" anchor="ctr"/>
          <a:lstStyle/>
          <a:p>
            <a:pPr indent="0" marL="0">
              <a:buNone/>
            </a:pPr>
            <a:r>
              <a:rPr lang="en-US" sz="2600" b="1" dirty="0">
                <a:solidFill>
                  <a:srgbClr val="003366"/>
                </a:solidFill>
                <a:latin typeface="Arial" pitchFamily="34" charset="0"/>
                <a:ea typeface="Arial" pitchFamily="34" charset="-122"/>
                <a:cs typeface="Arial" pitchFamily="34" charset="-120"/>
              </a:rPr>
              <a:t>EORI / RPTID Validation</a:t>
            </a:r>
            <a:endParaRPr lang="en-US" sz="2600" dirty="0"/>
          </a:p>
        </p:txBody>
      </p:sp>
      <p:sp>
        <p:nvSpPr>
          <p:cNvPr id="3" name="Text 1"/>
          <p:cNvSpPr/>
          <p:nvPr/>
        </p:nvSpPr>
        <p:spPr>
          <a:xfrm>
            <a:off x="521208" y="749808"/>
            <a:ext cx="10515600" cy="228600"/>
          </a:xfrm>
          <a:prstGeom prst="rect">
            <a:avLst/>
          </a:prstGeom>
          <a:noFill/>
          <a:ln/>
        </p:spPr>
        <p:txBody>
          <a:bodyPr wrap="square" lIns="0" tIns="0" rIns="0" bIns="0" rtlCol="0" anchor="ctr"/>
          <a:lstStyle/>
          <a:p>
            <a:pPr indent="0" marL="0">
              <a:buNone/>
            </a:pPr>
            <a:r>
              <a:rPr lang="en-US" sz="1050" dirty="0">
                <a:solidFill>
                  <a:srgbClr val="666666"/>
                </a:solidFill>
              </a:rPr>
              <a:t>Important ownership validation problem</a:t>
            </a:r>
            <a:endParaRPr lang="en-US" sz="1050" dirty="0"/>
          </a:p>
        </p:txBody>
      </p:sp>
      <p:sp>
        <p:nvSpPr>
          <p:cNvPr id="4" name="Shape 2"/>
          <p:cNvSpPr/>
          <p:nvPr/>
        </p:nvSpPr>
        <p:spPr>
          <a:xfrm>
            <a:off x="457200" y="6355080"/>
            <a:ext cx="11274552" cy="0"/>
          </a:xfrm>
          <a:prstGeom prst="line">
            <a:avLst/>
          </a:prstGeom>
          <a:noFill/>
          <a:ln w="8890">
            <a:solidFill>
              <a:srgbClr val="D9DEE3"/>
            </a:solidFill>
            <a:prstDash val="solid"/>
          </a:ln>
        </p:spPr>
      </p:sp>
      <p:sp>
        <p:nvSpPr>
          <p:cNvPr id="5" name="Text 3"/>
          <p:cNvSpPr/>
          <p:nvPr/>
        </p:nvSpPr>
        <p:spPr>
          <a:xfrm>
            <a:off x="457200" y="6419088"/>
            <a:ext cx="7315200" cy="228600"/>
          </a:xfrm>
          <a:prstGeom prst="rect">
            <a:avLst/>
          </a:prstGeom>
          <a:noFill/>
          <a:ln/>
        </p:spPr>
        <p:txBody>
          <a:bodyPr wrap="square" rtlCol="0" anchor="ctr"/>
          <a:lstStyle/>
          <a:p>
            <a:pPr indent="0" marL="0">
              <a:buNone/>
            </a:pPr>
            <a:r>
              <a:rPr lang="en-US" sz="850" dirty="0">
                <a:solidFill>
                  <a:srgbClr val="666666"/>
                </a:solidFill>
                <a:latin typeface="Arial" pitchFamily="34" charset="0"/>
                <a:ea typeface="Arial" pitchFamily="34" charset="-122"/>
                <a:cs typeface="Arial" pitchFamily="34" charset="-120"/>
              </a:rPr>
              <a:t>ILMS Knowledge Transfer | Architecture Overview</a:t>
            </a:r>
            <a:endParaRPr lang="en-US" sz="850" dirty="0"/>
          </a:p>
        </p:txBody>
      </p:sp>
      <p:sp>
        <p:nvSpPr>
          <p:cNvPr id="6" name="Text 4"/>
          <p:cNvSpPr/>
          <p:nvPr/>
        </p:nvSpPr>
        <p:spPr>
          <a:xfrm>
            <a:off x="11292840" y="6419088"/>
            <a:ext cx="457200" cy="228600"/>
          </a:xfrm>
          <a:prstGeom prst="rect">
            <a:avLst/>
          </a:prstGeom>
          <a:noFill/>
          <a:ln/>
        </p:spPr>
        <p:txBody>
          <a:bodyPr wrap="square" rtlCol="0" anchor="ctr"/>
          <a:lstStyle/>
          <a:p>
            <a:pPr algn="r" indent="0" marL="0">
              <a:buNone/>
            </a:pPr>
            <a:r>
              <a:rPr lang="en-US" sz="850" dirty="0">
                <a:solidFill>
                  <a:srgbClr val="666666"/>
                </a:solidFill>
              </a:rPr>
              <a:t>17</a:t>
            </a:r>
            <a:endParaRPr lang="en-US" sz="850" dirty="0"/>
          </a:p>
        </p:txBody>
      </p:sp>
      <p:sp>
        <p:nvSpPr>
          <p:cNvPr id="7" name="Text 5"/>
          <p:cNvSpPr/>
          <p:nvPr/>
        </p:nvSpPr>
        <p:spPr>
          <a:xfrm>
            <a:off x="731520" y="1188720"/>
            <a:ext cx="5760720" cy="2468880"/>
          </a:xfrm>
          <a:prstGeom prst="rect">
            <a:avLst/>
          </a:prstGeom>
          <a:noFill/>
          <a:ln/>
        </p:spPr>
        <p:txBody>
          <a:bodyPr wrap="square" lIns="1016" tIns="1016" rIns="1016" bIns="1016" rtlCol="0" anchor="t">
            <a:normAutofit/>
          </a:bodyPr>
          <a:lstStyle/>
          <a:p>
            <a:r>
              <a:rPr lang="en-US" sz="1600" dirty="0">
                <a:solidFill>
                  <a:srgbClr val="333333"/>
                </a:solidFill>
              </a:rPr>
              <a:t>DIT licences used an internal permitted trader identifier (RPTID).</a:t>
            </a:r>
            <a:endParaRPr lang="en-US" sz="1600" dirty="0"/>
          </a:p>
          <a:p>
            <a:r>
              <a:rPr lang="en-US" sz="1600" dirty="0">
                <a:solidFill>
                  <a:srgbClr val="333333"/>
                </a:solidFill>
              </a:rPr>
              <a:t>DMS business rules expected ownership validation using EORI.</a:t>
            </a:r>
            <a:endParaRPr lang="en-US" sz="1600" dirty="0"/>
          </a:p>
          <a:p>
            <a:r>
              <a:rPr lang="en-US" sz="1600" dirty="0">
                <a:solidFill>
                  <a:srgbClr val="333333"/>
                </a:solidFill>
              </a:rPr>
              <a:t>Mismatch meant the correct trader could not always be validated directly.</a:t>
            </a:r>
            <a:endParaRPr lang="en-US" sz="1600" dirty="0"/>
          </a:p>
          <a:p>
            <a:r>
              <a:rPr lang="en-US" sz="1600" dirty="0">
                <a:solidFill>
                  <a:srgbClr val="333333"/>
                </a:solidFill>
              </a:rPr>
              <a:t>Solution options included converting or resolving RPTID to EORI during migration / lookup.</a:t>
            </a:r>
            <a:endParaRPr lang="en-US" sz="1600" dirty="0"/>
          </a:p>
        </p:txBody>
      </p:sp>
      <p:sp>
        <p:nvSpPr>
          <p:cNvPr id="8" name="Shape 6"/>
          <p:cNvSpPr/>
          <p:nvPr/>
        </p:nvSpPr>
        <p:spPr>
          <a:xfrm>
            <a:off x="6766560" y="1143000"/>
            <a:ext cx="4572000" cy="2971800"/>
          </a:xfrm>
          <a:prstGeom prst="rect">
            <a:avLst/>
          </a:prstGeom>
          <a:solidFill>
            <a:srgbClr val="F4F6F8">
              <a:alpha val="92000"/>
            </a:srgbClr>
          </a:solidFill>
          <a:ln w="17780">
            <a:solidFill>
              <a:srgbClr val="9AA7B2"/>
            </a:solidFill>
            <a:prstDash val="solid"/>
          </a:ln>
        </p:spPr>
      </p:sp>
      <p:sp>
        <p:nvSpPr>
          <p:cNvPr id="9" name="Text 7"/>
          <p:cNvSpPr/>
          <p:nvPr/>
        </p:nvSpPr>
        <p:spPr>
          <a:xfrm>
            <a:off x="6903720" y="2464308"/>
            <a:ext cx="4297680" cy="292608"/>
          </a:xfrm>
          <a:prstGeom prst="rect">
            <a:avLst/>
          </a:prstGeom>
          <a:noFill/>
          <a:ln/>
        </p:spPr>
        <p:txBody>
          <a:bodyPr wrap="square" lIns="0" tIns="0" rIns="0" bIns="0" rtlCol="0" anchor="ctr"/>
          <a:lstStyle/>
          <a:p>
            <a:pPr algn="ctr" indent="0" marL="0">
              <a:buNone/>
            </a:pPr>
            <a:r>
              <a:rPr lang="en-US" sz="1800" b="1" dirty="0">
                <a:solidFill>
                  <a:srgbClr val="697886"/>
                </a:solidFill>
              </a:rPr>
              <a:t>INSERT EORI / RPTID DESIGN SCREENSHOT OR NOTES</a:t>
            </a:r>
            <a:endParaRPr lang="en-US" sz="1800" dirty="0"/>
          </a:p>
        </p:txBody>
      </p:sp>
      <p:sp>
        <p:nvSpPr>
          <p:cNvPr id="10" name="Text 8"/>
          <p:cNvSpPr/>
          <p:nvPr/>
        </p:nvSpPr>
        <p:spPr>
          <a:xfrm>
            <a:off x="6995160" y="3730752"/>
            <a:ext cx="4114800" cy="228600"/>
          </a:xfrm>
          <a:prstGeom prst="rect">
            <a:avLst/>
          </a:prstGeom>
          <a:noFill/>
          <a:ln/>
        </p:spPr>
        <p:txBody>
          <a:bodyPr wrap="square" lIns="0" tIns="0" rIns="0" bIns="0" rtlCol="0" anchor="ctr"/>
          <a:lstStyle/>
          <a:p>
            <a:pPr algn="ctr" indent="0" marL="0">
              <a:buNone/>
            </a:pPr>
            <a:r>
              <a:rPr lang="en-US" sz="850" dirty="0">
                <a:solidFill>
                  <a:srgbClr val="697886"/>
                </a:solidFill>
              </a:rPr>
              <a:t>Optional: use if ownership validation comes up</a:t>
            </a:r>
            <a:endParaRPr lang="en-US" sz="850" dirty="0"/>
          </a:p>
        </p:txBody>
      </p:sp>
      <p:sp>
        <p:nvSpPr>
          <p:cNvPr id="11" name="Shape 9"/>
          <p:cNvSpPr/>
          <p:nvPr/>
        </p:nvSpPr>
        <p:spPr>
          <a:xfrm>
            <a:off x="914400" y="4251960"/>
            <a:ext cx="10149840" cy="960120"/>
          </a:xfrm>
          <a:prstGeom prst="roundRect">
            <a:avLst>
              <a:gd name="adj" fmla="val 5714"/>
            </a:avLst>
          </a:prstGeom>
          <a:solidFill>
            <a:srgbClr val="F3F8FC"/>
          </a:solidFill>
          <a:ln w="12700">
            <a:solidFill>
              <a:srgbClr val="1F5E99"/>
            </a:solidFill>
            <a:prstDash val="solid"/>
          </a:ln>
        </p:spPr>
      </p:sp>
      <p:sp>
        <p:nvSpPr>
          <p:cNvPr id="12" name="Text 10"/>
          <p:cNvSpPr/>
          <p:nvPr/>
        </p:nvSpPr>
        <p:spPr>
          <a:xfrm>
            <a:off x="1024128" y="4379976"/>
            <a:ext cx="9930384" cy="704088"/>
          </a:xfrm>
          <a:prstGeom prst="rect">
            <a:avLst/>
          </a:prstGeom>
          <a:noFill/>
          <a:ln/>
        </p:spPr>
        <p:txBody>
          <a:bodyPr wrap="square" lIns="0" tIns="0" rIns="0" bIns="0" rtlCol="0" anchor="ctr">
            <a:normAutofit/>
          </a:bodyPr>
          <a:lstStyle/>
          <a:p>
            <a:pPr algn="ctr" indent="0" marL="0">
              <a:buNone/>
            </a:pPr>
            <a:r>
              <a:rPr lang="en-US" sz="1400" b="1" dirty="0">
                <a:solidFill>
                  <a:srgbClr val="333333"/>
                </a:solidFill>
              </a:rPr>
              <a:t>Why this matters</a:t>
            </a:r>
            <a:endParaRPr lang="en-US" sz="1400" dirty="0"/>
          </a:p>
          <a:p>
            <a:pPr algn="ctr" indent="0" marL="0">
              <a:buNone/>
            </a:pPr>
            <a:endParaRPr lang="en-US" sz="1400" dirty="0"/>
          </a:p>
          <a:p>
            <a:pPr algn="ctr" indent="0" marL="0">
              <a:buNone/>
            </a:pPr>
            <a:r>
              <a:rPr lang="en-US" sz="1400" b="1" dirty="0">
                <a:solidFill>
                  <a:srgbClr val="333333"/>
                </a:solidFill>
              </a:rPr>
              <a:t>Only the permitted trader should be able to use a licence. Ownership validation protects the declaration process and reduces policy/compliance risk.</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0972800" cy="384048"/>
          </a:xfrm>
          <a:prstGeom prst="rect">
            <a:avLst/>
          </a:prstGeom>
          <a:noFill/>
          <a:ln/>
        </p:spPr>
        <p:txBody>
          <a:bodyPr wrap="square" lIns="0" tIns="0" rIns="0" bIns="0" rtlCol="0" anchor="ctr"/>
          <a:lstStyle/>
          <a:p>
            <a:pPr indent="0" marL="0">
              <a:buNone/>
            </a:pPr>
            <a:r>
              <a:rPr lang="en-US" sz="2600" b="1" dirty="0">
                <a:solidFill>
                  <a:srgbClr val="003366"/>
                </a:solidFill>
                <a:latin typeface="Arial" pitchFamily="34" charset="0"/>
                <a:ea typeface="Arial" pitchFamily="34" charset="-122"/>
                <a:cs typeface="Arial" pitchFamily="34" charset="-120"/>
              </a:rPr>
              <a:t>Interface Catalogue</a:t>
            </a:r>
            <a:endParaRPr lang="en-US" sz="2600" dirty="0"/>
          </a:p>
        </p:txBody>
      </p:sp>
      <p:sp>
        <p:nvSpPr>
          <p:cNvPr id="3" name="Text 1"/>
          <p:cNvSpPr/>
          <p:nvPr/>
        </p:nvSpPr>
        <p:spPr>
          <a:xfrm>
            <a:off x="521208" y="749808"/>
            <a:ext cx="10515600" cy="228600"/>
          </a:xfrm>
          <a:prstGeom prst="rect">
            <a:avLst/>
          </a:prstGeom>
          <a:noFill/>
          <a:ln/>
        </p:spPr>
        <p:txBody>
          <a:bodyPr wrap="square" lIns="0" tIns="0" rIns="0" bIns="0" rtlCol="0" anchor="ctr"/>
          <a:lstStyle/>
          <a:p>
            <a:pPr indent="0" marL="0">
              <a:buNone/>
            </a:pPr>
            <a:r>
              <a:rPr lang="en-US" sz="1050" dirty="0">
                <a:solidFill>
                  <a:srgbClr val="666666"/>
                </a:solidFill>
              </a:rPr>
              <a:t>What comes into and out of ILMS</a:t>
            </a:r>
            <a:endParaRPr lang="en-US" sz="1050" dirty="0"/>
          </a:p>
        </p:txBody>
      </p:sp>
      <p:sp>
        <p:nvSpPr>
          <p:cNvPr id="4" name="Shape 2"/>
          <p:cNvSpPr/>
          <p:nvPr/>
        </p:nvSpPr>
        <p:spPr>
          <a:xfrm>
            <a:off x="457200" y="6355080"/>
            <a:ext cx="11274552" cy="0"/>
          </a:xfrm>
          <a:prstGeom prst="line">
            <a:avLst/>
          </a:prstGeom>
          <a:noFill/>
          <a:ln w="8890">
            <a:solidFill>
              <a:srgbClr val="D9DEE3"/>
            </a:solidFill>
            <a:prstDash val="solid"/>
          </a:ln>
        </p:spPr>
      </p:sp>
      <p:sp>
        <p:nvSpPr>
          <p:cNvPr id="5" name="Text 3"/>
          <p:cNvSpPr/>
          <p:nvPr/>
        </p:nvSpPr>
        <p:spPr>
          <a:xfrm>
            <a:off x="457200" y="6419088"/>
            <a:ext cx="7315200" cy="228600"/>
          </a:xfrm>
          <a:prstGeom prst="rect">
            <a:avLst/>
          </a:prstGeom>
          <a:noFill/>
          <a:ln/>
        </p:spPr>
        <p:txBody>
          <a:bodyPr wrap="square" rtlCol="0" anchor="ctr"/>
          <a:lstStyle/>
          <a:p>
            <a:pPr indent="0" marL="0">
              <a:buNone/>
            </a:pPr>
            <a:r>
              <a:rPr lang="en-US" sz="850" dirty="0">
                <a:solidFill>
                  <a:srgbClr val="666666"/>
                </a:solidFill>
                <a:latin typeface="Arial" pitchFamily="34" charset="0"/>
                <a:ea typeface="Arial" pitchFamily="34" charset="-122"/>
                <a:cs typeface="Arial" pitchFamily="34" charset="-120"/>
              </a:rPr>
              <a:t>ILMS Knowledge Transfer | Architecture Overview</a:t>
            </a:r>
            <a:endParaRPr lang="en-US" sz="850" dirty="0"/>
          </a:p>
        </p:txBody>
      </p:sp>
      <p:sp>
        <p:nvSpPr>
          <p:cNvPr id="6" name="Text 4"/>
          <p:cNvSpPr/>
          <p:nvPr/>
        </p:nvSpPr>
        <p:spPr>
          <a:xfrm>
            <a:off x="11292840" y="6419088"/>
            <a:ext cx="457200" cy="228600"/>
          </a:xfrm>
          <a:prstGeom prst="rect">
            <a:avLst/>
          </a:prstGeom>
          <a:noFill/>
          <a:ln/>
        </p:spPr>
        <p:txBody>
          <a:bodyPr wrap="square" rtlCol="0" anchor="ctr"/>
          <a:lstStyle/>
          <a:p>
            <a:pPr algn="r" indent="0" marL="0">
              <a:buNone/>
            </a:pPr>
            <a:r>
              <a:rPr lang="en-US" sz="850" dirty="0">
                <a:solidFill>
                  <a:srgbClr val="666666"/>
                </a:solidFill>
              </a:rPr>
              <a:t>18</a:t>
            </a:r>
            <a:endParaRPr lang="en-US" sz="850" dirty="0"/>
          </a:p>
        </p:txBody>
      </p:sp>
      <p:sp>
        <p:nvSpPr>
          <p:cNvPr id="7" name="Shape 5"/>
          <p:cNvSpPr/>
          <p:nvPr/>
        </p:nvSpPr>
        <p:spPr>
          <a:xfrm>
            <a:off x="502920" y="1078992"/>
            <a:ext cx="1417320" cy="411480"/>
          </a:xfrm>
          <a:prstGeom prst="roundRect">
            <a:avLst>
              <a:gd name="adj" fmla="val 13333"/>
            </a:avLst>
          </a:prstGeom>
          <a:solidFill>
            <a:srgbClr val="003366"/>
          </a:solidFill>
          <a:ln w="12700">
            <a:solidFill>
              <a:srgbClr val="003366"/>
            </a:solidFill>
            <a:prstDash val="solid"/>
          </a:ln>
        </p:spPr>
      </p:sp>
      <p:sp>
        <p:nvSpPr>
          <p:cNvPr id="8" name="Text 6"/>
          <p:cNvSpPr/>
          <p:nvPr/>
        </p:nvSpPr>
        <p:spPr>
          <a:xfrm>
            <a:off x="612648" y="1207008"/>
            <a:ext cx="1197864" cy="155448"/>
          </a:xfrm>
          <a:prstGeom prst="rect">
            <a:avLst/>
          </a:prstGeom>
          <a:noFill/>
          <a:ln/>
        </p:spPr>
        <p:txBody>
          <a:bodyPr wrap="square" lIns="0" tIns="0" rIns="0" bIns="0" rtlCol="0" anchor="ctr">
            <a:normAutofit/>
          </a:bodyPr>
          <a:lstStyle/>
          <a:p>
            <a:pPr algn="ctr" indent="0" marL="0">
              <a:buNone/>
            </a:pPr>
            <a:r>
              <a:rPr lang="en-US" sz="1000" b="1" dirty="0">
                <a:solidFill>
                  <a:srgbClr val="333333"/>
                </a:solidFill>
              </a:rPr>
              <a:t>Area</a:t>
            </a:r>
            <a:endParaRPr lang="en-US" sz="1000" dirty="0"/>
          </a:p>
        </p:txBody>
      </p:sp>
      <p:sp>
        <p:nvSpPr>
          <p:cNvPr id="9" name="Shape 7"/>
          <p:cNvSpPr/>
          <p:nvPr/>
        </p:nvSpPr>
        <p:spPr>
          <a:xfrm>
            <a:off x="1920240" y="1078992"/>
            <a:ext cx="1188720" cy="411480"/>
          </a:xfrm>
          <a:prstGeom prst="roundRect">
            <a:avLst>
              <a:gd name="adj" fmla="val 13333"/>
            </a:avLst>
          </a:prstGeom>
          <a:solidFill>
            <a:srgbClr val="003366"/>
          </a:solidFill>
          <a:ln w="12700">
            <a:solidFill>
              <a:srgbClr val="003366"/>
            </a:solidFill>
            <a:prstDash val="solid"/>
          </a:ln>
        </p:spPr>
      </p:sp>
      <p:sp>
        <p:nvSpPr>
          <p:cNvPr id="10" name="Text 8"/>
          <p:cNvSpPr/>
          <p:nvPr/>
        </p:nvSpPr>
        <p:spPr>
          <a:xfrm>
            <a:off x="2029968" y="1207008"/>
            <a:ext cx="969264" cy="155448"/>
          </a:xfrm>
          <a:prstGeom prst="rect">
            <a:avLst/>
          </a:prstGeom>
          <a:noFill/>
          <a:ln/>
        </p:spPr>
        <p:txBody>
          <a:bodyPr wrap="square" lIns="0" tIns="0" rIns="0" bIns="0" rtlCol="0" anchor="ctr">
            <a:normAutofit/>
          </a:bodyPr>
          <a:lstStyle/>
          <a:p>
            <a:pPr algn="ctr" indent="0" marL="0">
              <a:buNone/>
            </a:pPr>
            <a:r>
              <a:rPr lang="en-US" sz="1000" b="1" dirty="0">
                <a:solidFill>
                  <a:srgbClr val="333333"/>
                </a:solidFill>
              </a:rPr>
              <a:t>Direction</a:t>
            </a:r>
            <a:endParaRPr lang="en-US" sz="1000" dirty="0"/>
          </a:p>
        </p:txBody>
      </p:sp>
      <p:sp>
        <p:nvSpPr>
          <p:cNvPr id="11" name="Shape 9"/>
          <p:cNvSpPr/>
          <p:nvPr/>
        </p:nvSpPr>
        <p:spPr>
          <a:xfrm>
            <a:off x="3108960" y="1078992"/>
            <a:ext cx="2926080" cy="411480"/>
          </a:xfrm>
          <a:prstGeom prst="roundRect">
            <a:avLst>
              <a:gd name="adj" fmla="val 13333"/>
            </a:avLst>
          </a:prstGeom>
          <a:solidFill>
            <a:srgbClr val="003366"/>
          </a:solidFill>
          <a:ln w="12700">
            <a:solidFill>
              <a:srgbClr val="003366"/>
            </a:solidFill>
            <a:prstDash val="solid"/>
          </a:ln>
        </p:spPr>
      </p:sp>
      <p:sp>
        <p:nvSpPr>
          <p:cNvPr id="12" name="Text 10"/>
          <p:cNvSpPr/>
          <p:nvPr/>
        </p:nvSpPr>
        <p:spPr>
          <a:xfrm>
            <a:off x="3218688" y="1207008"/>
            <a:ext cx="2706624" cy="155448"/>
          </a:xfrm>
          <a:prstGeom prst="rect">
            <a:avLst/>
          </a:prstGeom>
          <a:noFill/>
          <a:ln/>
        </p:spPr>
        <p:txBody>
          <a:bodyPr wrap="square" lIns="0" tIns="0" rIns="0" bIns="0" rtlCol="0" anchor="ctr">
            <a:normAutofit/>
          </a:bodyPr>
          <a:lstStyle/>
          <a:p>
            <a:pPr algn="ctr" indent="0" marL="0">
              <a:buNone/>
            </a:pPr>
            <a:r>
              <a:rPr lang="en-US" sz="1000" b="1" dirty="0">
                <a:solidFill>
                  <a:srgbClr val="333333"/>
                </a:solidFill>
              </a:rPr>
              <a:t>Example payload / operation</a:t>
            </a:r>
            <a:endParaRPr lang="en-US" sz="1000" dirty="0"/>
          </a:p>
        </p:txBody>
      </p:sp>
      <p:sp>
        <p:nvSpPr>
          <p:cNvPr id="13" name="Shape 11"/>
          <p:cNvSpPr/>
          <p:nvPr/>
        </p:nvSpPr>
        <p:spPr>
          <a:xfrm>
            <a:off x="6035040" y="1078992"/>
            <a:ext cx="5486400" cy="411480"/>
          </a:xfrm>
          <a:prstGeom prst="roundRect">
            <a:avLst>
              <a:gd name="adj" fmla="val 13333"/>
            </a:avLst>
          </a:prstGeom>
          <a:solidFill>
            <a:srgbClr val="003366"/>
          </a:solidFill>
          <a:ln w="12700">
            <a:solidFill>
              <a:srgbClr val="003366"/>
            </a:solidFill>
            <a:prstDash val="solid"/>
          </a:ln>
        </p:spPr>
      </p:sp>
      <p:sp>
        <p:nvSpPr>
          <p:cNvPr id="14" name="Text 12"/>
          <p:cNvSpPr/>
          <p:nvPr/>
        </p:nvSpPr>
        <p:spPr>
          <a:xfrm>
            <a:off x="6144768" y="1207008"/>
            <a:ext cx="5266944" cy="155448"/>
          </a:xfrm>
          <a:prstGeom prst="rect">
            <a:avLst/>
          </a:prstGeom>
          <a:noFill/>
          <a:ln/>
        </p:spPr>
        <p:txBody>
          <a:bodyPr wrap="square" lIns="0" tIns="0" rIns="0" bIns="0" rtlCol="0" anchor="ctr">
            <a:normAutofit/>
          </a:bodyPr>
          <a:lstStyle/>
          <a:p>
            <a:pPr algn="ctr" indent="0" marL="0">
              <a:buNone/>
            </a:pPr>
            <a:r>
              <a:rPr lang="en-US" sz="1000" b="1" dirty="0">
                <a:solidFill>
                  <a:srgbClr val="333333"/>
                </a:solidFill>
              </a:rPr>
              <a:t>Notes</a:t>
            </a:r>
            <a:endParaRPr lang="en-US" sz="1000" dirty="0"/>
          </a:p>
        </p:txBody>
      </p:sp>
      <p:sp>
        <p:nvSpPr>
          <p:cNvPr id="15" name="Shape 13"/>
          <p:cNvSpPr/>
          <p:nvPr/>
        </p:nvSpPr>
        <p:spPr>
          <a:xfrm>
            <a:off x="502920" y="1499616"/>
            <a:ext cx="1417320" cy="530352"/>
          </a:xfrm>
          <a:prstGeom prst="roundRect">
            <a:avLst>
              <a:gd name="adj" fmla="val 10345"/>
            </a:avLst>
          </a:prstGeom>
          <a:solidFill>
            <a:srgbClr val="F4F6F8"/>
          </a:solidFill>
          <a:ln w="12700">
            <a:solidFill>
              <a:srgbClr val="D9DEE3"/>
            </a:solidFill>
            <a:prstDash val="solid"/>
          </a:ln>
        </p:spPr>
      </p:sp>
      <p:sp>
        <p:nvSpPr>
          <p:cNvPr id="16" name="Text 14"/>
          <p:cNvSpPr/>
          <p:nvPr/>
        </p:nvSpPr>
        <p:spPr>
          <a:xfrm>
            <a:off x="612648" y="1627632"/>
            <a:ext cx="1197864" cy="274320"/>
          </a:xfrm>
          <a:prstGeom prst="rect">
            <a:avLst/>
          </a:prstGeom>
          <a:noFill/>
          <a:ln/>
        </p:spPr>
        <p:txBody>
          <a:bodyPr wrap="square" lIns="0" tIns="0" rIns="0" bIns="0" rtlCol="0" anchor="ctr">
            <a:normAutofit/>
          </a:bodyPr>
          <a:lstStyle/>
          <a:p>
            <a:pPr algn="ctr" indent="0" marL="0">
              <a:buNone/>
            </a:pPr>
            <a:r>
              <a:rPr lang="en-US" sz="880" b="1" dirty="0">
                <a:solidFill>
                  <a:srgbClr val="333333"/>
                </a:solidFill>
              </a:rPr>
              <a:t>REST API</a:t>
            </a:r>
            <a:endParaRPr lang="en-US" sz="880" dirty="0"/>
          </a:p>
        </p:txBody>
      </p:sp>
      <p:sp>
        <p:nvSpPr>
          <p:cNvPr id="17" name="Shape 15"/>
          <p:cNvSpPr/>
          <p:nvPr/>
        </p:nvSpPr>
        <p:spPr>
          <a:xfrm>
            <a:off x="1920240" y="1499616"/>
            <a:ext cx="1188720" cy="530352"/>
          </a:xfrm>
          <a:prstGeom prst="roundRect">
            <a:avLst>
              <a:gd name="adj" fmla="val 10345"/>
            </a:avLst>
          </a:prstGeom>
          <a:solidFill>
            <a:srgbClr val="F4F6F8"/>
          </a:solidFill>
          <a:ln w="12700">
            <a:solidFill>
              <a:srgbClr val="D9DEE3"/>
            </a:solidFill>
            <a:prstDash val="solid"/>
          </a:ln>
        </p:spPr>
      </p:sp>
      <p:sp>
        <p:nvSpPr>
          <p:cNvPr id="18" name="Text 16"/>
          <p:cNvSpPr/>
          <p:nvPr/>
        </p:nvSpPr>
        <p:spPr>
          <a:xfrm>
            <a:off x="2029968" y="1627632"/>
            <a:ext cx="969264" cy="274320"/>
          </a:xfrm>
          <a:prstGeom prst="rect">
            <a:avLst/>
          </a:prstGeom>
          <a:noFill/>
          <a:ln/>
        </p:spPr>
        <p:txBody>
          <a:bodyPr wrap="square" lIns="0" tIns="0" rIns="0" bIns="0" rtlCol="0" anchor="ctr">
            <a:normAutofit/>
          </a:bodyPr>
          <a:lstStyle/>
          <a:p>
            <a:pPr algn="ctr" indent="0" marL="0">
              <a:buNone/>
            </a:pPr>
            <a:r>
              <a:rPr lang="en-US" sz="880" dirty="0">
                <a:solidFill>
                  <a:srgbClr val="333333"/>
                </a:solidFill>
              </a:rPr>
              <a:t>Inbound</a:t>
            </a:r>
            <a:endParaRPr lang="en-US" sz="880" dirty="0"/>
          </a:p>
        </p:txBody>
      </p:sp>
      <p:sp>
        <p:nvSpPr>
          <p:cNvPr id="19" name="Shape 17"/>
          <p:cNvSpPr/>
          <p:nvPr/>
        </p:nvSpPr>
        <p:spPr>
          <a:xfrm>
            <a:off x="3108960" y="1499616"/>
            <a:ext cx="2926080" cy="530352"/>
          </a:xfrm>
          <a:prstGeom prst="roundRect">
            <a:avLst>
              <a:gd name="adj" fmla="val 10345"/>
            </a:avLst>
          </a:prstGeom>
          <a:solidFill>
            <a:srgbClr val="F4F6F8"/>
          </a:solidFill>
          <a:ln w="12700">
            <a:solidFill>
              <a:srgbClr val="D9DEE3"/>
            </a:solidFill>
            <a:prstDash val="solid"/>
          </a:ln>
        </p:spPr>
      </p:sp>
      <p:sp>
        <p:nvSpPr>
          <p:cNvPr id="20" name="Text 18"/>
          <p:cNvSpPr/>
          <p:nvPr/>
        </p:nvSpPr>
        <p:spPr>
          <a:xfrm>
            <a:off x="3218688" y="1627632"/>
            <a:ext cx="2706624" cy="274320"/>
          </a:xfrm>
          <a:prstGeom prst="rect">
            <a:avLst/>
          </a:prstGeom>
          <a:noFill/>
          <a:ln/>
        </p:spPr>
        <p:txBody>
          <a:bodyPr wrap="square" lIns="0" tIns="0" rIns="0" bIns="0" rtlCol="0" anchor="ctr">
            <a:normAutofit/>
          </a:bodyPr>
          <a:lstStyle/>
          <a:p>
            <a:pPr algn="ctr" indent="0" marL="0">
              <a:buNone/>
            </a:pPr>
            <a:r>
              <a:rPr lang="en-US" sz="880" dirty="0">
                <a:solidFill>
                  <a:srgbClr val="333333"/>
                </a:solidFill>
              </a:rPr>
              <a:t>Licence Update API</a:t>
            </a:r>
            <a:endParaRPr lang="en-US" sz="880" dirty="0"/>
          </a:p>
        </p:txBody>
      </p:sp>
      <p:sp>
        <p:nvSpPr>
          <p:cNvPr id="21" name="Shape 19"/>
          <p:cNvSpPr/>
          <p:nvPr/>
        </p:nvSpPr>
        <p:spPr>
          <a:xfrm>
            <a:off x="6035040" y="1499616"/>
            <a:ext cx="5486400" cy="530352"/>
          </a:xfrm>
          <a:prstGeom prst="roundRect">
            <a:avLst>
              <a:gd name="adj" fmla="val 10345"/>
            </a:avLst>
          </a:prstGeom>
          <a:solidFill>
            <a:srgbClr val="F4F6F8"/>
          </a:solidFill>
          <a:ln w="12700">
            <a:solidFill>
              <a:srgbClr val="D9DEE3"/>
            </a:solidFill>
            <a:prstDash val="solid"/>
          </a:ln>
        </p:spPr>
      </p:sp>
      <p:sp>
        <p:nvSpPr>
          <p:cNvPr id="22" name="Text 20"/>
          <p:cNvSpPr/>
          <p:nvPr/>
        </p:nvSpPr>
        <p:spPr>
          <a:xfrm>
            <a:off x="6144768" y="1627632"/>
            <a:ext cx="5266944" cy="274320"/>
          </a:xfrm>
          <a:prstGeom prst="rect">
            <a:avLst/>
          </a:prstGeom>
          <a:noFill/>
          <a:ln/>
        </p:spPr>
        <p:txBody>
          <a:bodyPr wrap="square" lIns="0" tIns="0" rIns="0" bIns="0" rtlCol="0" anchor="ctr">
            <a:normAutofit/>
          </a:bodyPr>
          <a:lstStyle/>
          <a:p>
            <a:pPr algn="ctr" indent="0" marL="0">
              <a:buNone/>
            </a:pPr>
            <a:r>
              <a:rPr lang="en-US" sz="880" dirty="0">
                <a:solidFill>
                  <a:srgbClr val="333333"/>
                </a:solidFill>
              </a:rPr>
              <a:t>Issuing authorities send licence details; ILMS validates and stores.</a:t>
            </a:r>
            <a:endParaRPr lang="en-US" sz="880" dirty="0"/>
          </a:p>
        </p:txBody>
      </p:sp>
      <p:sp>
        <p:nvSpPr>
          <p:cNvPr id="23" name="Shape 21"/>
          <p:cNvSpPr/>
          <p:nvPr/>
        </p:nvSpPr>
        <p:spPr>
          <a:xfrm>
            <a:off x="502920" y="2029968"/>
            <a:ext cx="1417320" cy="530352"/>
          </a:xfrm>
          <a:prstGeom prst="roundRect">
            <a:avLst>
              <a:gd name="adj" fmla="val 10345"/>
            </a:avLst>
          </a:prstGeom>
          <a:solidFill>
            <a:srgbClr val="FFFFFF"/>
          </a:solidFill>
          <a:ln w="12700">
            <a:solidFill>
              <a:srgbClr val="D9DEE3"/>
            </a:solidFill>
            <a:prstDash val="solid"/>
          </a:ln>
        </p:spPr>
      </p:sp>
      <p:sp>
        <p:nvSpPr>
          <p:cNvPr id="24" name="Text 22"/>
          <p:cNvSpPr/>
          <p:nvPr/>
        </p:nvSpPr>
        <p:spPr>
          <a:xfrm>
            <a:off x="612648" y="2157984"/>
            <a:ext cx="1197864" cy="274320"/>
          </a:xfrm>
          <a:prstGeom prst="rect">
            <a:avLst/>
          </a:prstGeom>
          <a:noFill/>
          <a:ln/>
        </p:spPr>
        <p:txBody>
          <a:bodyPr wrap="square" lIns="0" tIns="0" rIns="0" bIns="0" rtlCol="0" anchor="ctr">
            <a:normAutofit/>
          </a:bodyPr>
          <a:lstStyle/>
          <a:p>
            <a:pPr algn="ctr" indent="0" marL="0">
              <a:buNone/>
            </a:pPr>
            <a:r>
              <a:rPr lang="en-US" sz="880" b="1" dirty="0">
                <a:solidFill>
                  <a:srgbClr val="333333"/>
                </a:solidFill>
              </a:rPr>
              <a:t>REST API</a:t>
            </a:r>
            <a:endParaRPr lang="en-US" sz="880" dirty="0"/>
          </a:p>
        </p:txBody>
      </p:sp>
      <p:sp>
        <p:nvSpPr>
          <p:cNvPr id="25" name="Shape 23"/>
          <p:cNvSpPr/>
          <p:nvPr/>
        </p:nvSpPr>
        <p:spPr>
          <a:xfrm>
            <a:off x="1920240" y="2029968"/>
            <a:ext cx="1188720" cy="530352"/>
          </a:xfrm>
          <a:prstGeom prst="roundRect">
            <a:avLst>
              <a:gd name="adj" fmla="val 10345"/>
            </a:avLst>
          </a:prstGeom>
          <a:solidFill>
            <a:srgbClr val="FFFFFF"/>
          </a:solidFill>
          <a:ln w="12700">
            <a:solidFill>
              <a:srgbClr val="D9DEE3"/>
            </a:solidFill>
            <a:prstDash val="solid"/>
          </a:ln>
        </p:spPr>
      </p:sp>
      <p:sp>
        <p:nvSpPr>
          <p:cNvPr id="26" name="Text 24"/>
          <p:cNvSpPr/>
          <p:nvPr/>
        </p:nvSpPr>
        <p:spPr>
          <a:xfrm>
            <a:off x="2029968" y="2157984"/>
            <a:ext cx="969264" cy="274320"/>
          </a:xfrm>
          <a:prstGeom prst="rect">
            <a:avLst/>
          </a:prstGeom>
          <a:noFill/>
          <a:ln/>
        </p:spPr>
        <p:txBody>
          <a:bodyPr wrap="square" lIns="0" tIns="0" rIns="0" bIns="0" rtlCol="0" anchor="ctr">
            <a:normAutofit/>
          </a:bodyPr>
          <a:lstStyle/>
          <a:p>
            <a:pPr algn="ctr" indent="0" marL="0">
              <a:buNone/>
            </a:pPr>
            <a:r>
              <a:rPr lang="en-US" sz="880" dirty="0">
                <a:solidFill>
                  <a:srgbClr val="333333"/>
                </a:solidFill>
              </a:rPr>
              <a:t>Outbound</a:t>
            </a:r>
            <a:endParaRPr lang="en-US" sz="880" dirty="0"/>
          </a:p>
        </p:txBody>
      </p:sp>
      <p:sp>
        <p:nvSpPr>
          <p:cNvPr id="27" name="Shape 25"/>
          <p:cNvSpPr/>
          <p:nvPr/>
        </p:nvSpPr>
        <p:spPr>
          <a:xfrm>
            <a:off x="3108960" y="2029968"/>
            <a:ext cx="2926080" cy="530352"/>
          </a:xfrm>
          <a:prstGeom prst="roundRect">
            <a:avLst>
              <a:gd name="adj" fmla="val 10345"/>
            </a:avLst>
          </a:prstGeom>
          <a:solidFill>
            <a:srgbClr val="FFFFFF"/>
          </a:solidFill>
          <a:ln w="12700">
            <a:solidFill>
              <a:srgbClr val="D9DEE3"/>
            </a:solidFill>
            <a:prstDash val="solid"/>
          </a:ln>
        </p:spPr>
      </p:sp>
      <p:sp>
        <p:nvSpPr>
          <p:cNvPr id="28" name="Text 26"/>
          <p:cNvSpPr/>
          <p:nvPr/>
        </p:nvSpPr>
        <p:spPr>
          <a:xfrm>
            <a:off x="3218688" y="2157984"/>
            <a:ext cx="2706624" cy="274320"/>
          </a:xfrm>
          <a:prstGeom prst="rect">
            <a:avLst/>
          </a:prstGeom>
          <a:noFill/>
          <a:ln/>
        </p:spPr>
        <p:txBody>
          <a:bodyPr wrap="square" lIns="0" tIns="0" rIns="0" bIns="0" rtlCol="0" anchor="ctr">
            <a:normAutofit/>
          </a:bodyPr>
          <a:lstStyle/>
          <a:p>
            <a:pPr algn="ctr" indent="0" marL="0">
              <a:buNone/>
            </a:pPr>
            <a:r>
              <a:rPr lang="en-US" sz="880" dirty="0">
                <a:solidFill>
                  <a:srgbClr val="333333"/>
                </a:solidFill>
              </a:rPr>
              <a:t>Licence Usage API / callback</a:t>
            </a:r>
            <a:endParaRPr lang="en-US" sz="880" dirty="0"/>
          </a:p>
        </p:txBody>
      </p:sp>
      <p:sp>
        <p:nvSpPr>
          <p:cNvPr id="29" name="Shape 27"/>
          <p:cNvSpPr/>
          <p:nvPr/>
        </p:nvSpPr>
        <p:spPr>
          <a:xfrm>
            <a:off x="6035040" y="2029968"/>
            <a:ext cx="5486400" cy="530352"/>
          </a:xfrm>
          <a:prstGeom prst="roundRect">
            <a:avLst>
              <a:gd name="adj" fmla="val 10345"/>
            </a:avLst>
          </a:prstGeom>
          <a:solidFill>
            <a:srgbClr val="FFFFFF"/>
          </a:solidFill>
          <a:ln w="12700">
            <a:solidFill>
              <a:srgbClr val="D9DEE3"/>
            </a:solidFill>
            <a:prstDash val="solid"/>
          </a:ln>
        </p:spPr>
      </p:sp>
      <p:sp>
        <p:nvSpPr>
          <p:cNvPr id="30" name="Text 28"/>
          <p:cNvSpPr/>
          <p:nvPr/>
        </p:nvSpPr>
        <p:spPr>
          <a:xfrm>
            <a:off x="6144768" y="2157984"/>
            <a:ext cx="5266944" cy="274320"/>
          </a:xfrm>
          <a:prstGeom prst="rect">
            <a:avLst/>
          </a:prstGeom>
          <a:noFill/>
          <a:ln/>
        </p:spPr>
        <p:txBody>
          <a:bodyPr wrap="square" lIns="0" tIns="0" rIns="0" bIns="0" rtlCol="0" anchor="ctr">
            <a:normAutofit/>
          </a:bodyPr>
          <a:lstStyle/>
          <a:p>
            <a:pPr algn="ctr" indent="0" marL="0">
              <a:buNone/>
            </a:pPr>
            <a:r>
              <a:rPr lang="en-US" sz="880" dirty="0">
                <a:solidFill>
                  <a:srgbClr val="333333"/>
                </a:solidFill>
              </a:rPr>
              <a:t>HMRC reports usage back to issuing authority.</a:t>
            </a:r>
            <a:endParaRPr lang="en-US" sz="880" dirty="0"/>
          </a:p>
        </p:txBody>
      </p:sp>
      <p:sp>
        <p:nvSpPr>
          <p:cNvPr id="31" name="Shape 29"/>
          <p:cNvSpPr/>
          <p:nvPr/>
        </p:nvSpPr>
        <p:spPr>
          <a:xfrm>
            <a:off x="502920" y="2560320"/>
            <a:ext cx="1417320" cy="530352"/>
          </a:xfrm>
          <a:prstGeom prst="roundRect">
            <a:avLst>
              <a:gd name="adj" fmla="val 10345"/>
            </a:avLst>
          </a:prstGeom>
          <a:solidFill>
            <a:srgbClr val="F4F6F8"/>
          </a:solidFill>
          <a:ln w="12700">
            <a:solidFill>
              <a:srgbClr val="D9DEE3"/>
            </a:solidFill>
            <a:prstDash val="solid"/>
          </a:ln>
        </p:spPr>
      </p:sp>
      <p:sp>
        <p:nvSpPr>
          <p:cNvPr id="32" name="Text 30"/>
          <p:cNvSpPr/>
          <p:nvPr/>
        </p:nvSpPr>
        <p:spPr>
          <a:xfrm>
            <a:off x="612648" y="2688336"/>
            <a:ext cx="1197864" cy="274320"/>
          </a:xfrm>
          <a:prstGeom prst="rect">
            <a:avLst/>
          </a:prstGeom>
          <a:noFill/>
          <a:ln/>
        </p:spPr>
        <p:txBody>
          <a:bodyPr wrap="square" lIns="0" tIns="0" rIns="0" bIns="0" rtlCol="0" anchor="ctr">
            <a:normAutofit/>
          </a:bodyPr>
          <a:lstStyle/>
          <a:p>
            <a:pPr algn="ctr" indent="0" marL="0">
              <a:buNone/>
            </a:pPr>
            <a:r>
              <a:rPr lang="en-US" sz="880" b="1" dirty="0">
                <a:solidFill>
                  <a:srgbClr val="333333"/>
                </a:solidFill>
              </a:rPr>
              <a:t>Licence UI REST</a:t>
            </a:r>
            <a:endParaRPr lang="en-US" sz="880" dirty="0"/>
          </a:p>
        </p:txBody>
      </p:sp>
      <p:sp>
        <p:nvSpPr>
          <p:cNvPr id="33" name="Shape 31"/>
          <p:cNvSpPr/>
          <p:nvPr/>
        </p:nvSpPr>
        <p:spPr>
          <a:xfrm>
            <a:off x="1920240" y="2560320"/>
            <a:ext cx="1188720" cy="530352"/>
          </a:xfrm>
          <a:prstGeom prst="roundRect">
            <a:avLst>
              <a:gd name="adj" fmla="val 10345"/>
            </a:avLst>
          </a:prstGeom>
          <a:solidFill>
            <a:srgbClr val="F4F6F8"/>
          </a:solidFill>
          <a:ln w="12700">
            <a:solidFill>
              <a:srgbClr val="D9DEE3"/>
            </a:solidFill>
            <a:prstDash val="solid"/>
          </a:ln>
        </p:spPr>
      </p:sp>
      <p:sp>
        <p:nvSpPr>
          <p:cNvPr id="34" name="Text 32"/>
          <p:cNvSpPr/>
          <p:nvPr/>
        </p:nvSpPr>
        <p:spPr>
          <a:xfrm>
            <a:off x="2029968" y="2688336"/>
            <a:ext cx="969264" cy="274320"/>
          </a:xfrm>
          <a:prstGeom prst="rect">
            <a:avLst/>
          </a:prstGeom>
          <a:noFill/>
          <a:ln/>
        </p:spPr>
        <p:txBody>
          <a:bodyPr wrap="square" lIns="0" tIns="0" rIns="0" bIns="0" rtlCol="0" anchor="ctr">
            <a:normAutofit/>
          </a:bodyPr>
          <a:lstStyle/>
          <a:p>
            <a:pPr algn="ctr" indent="0" marL="0">
              <a:buNone/>
            </a:pPr>
            <a:r>
              <a:rPr lang="en-US" sz="880" dirty="0">
                <a:solidFill>
                  <a:srgbClr val="333333"/>
                </a:solidFill>
              </a:rPr>
              <a:t>Inbound</a:t>
            </a:r>
            <a:endParaRPr lang="en-US" sz="880" dirty="0"/>
          </a:p>
        </p:txBody>
      </p:sp>
      <p:sp>
        <p:nvSpPr>
          <p:cNvPr id="35" name="Shape 33"/>
          <p:cNvSpPr/>
          <p:nvPr/>
        </p:nvSpPr>
        <p:spPr>
          <a:xfrm>
            <a:off x="3108960" y="2560320"/>
            <a:ext cx="2926080" cy="530352"/>
          </a:xfrm>
          <a:prstGeom prst="roundRect">
            <a:avLst>
              <a:gd name="adj" fmla="val 10345"/>
            </a:avLst>
          </a:prstGeom>
          <a:solidFill>
            <a:srgbClr val="F4F6F8"/>
          </a:solidFill>
          <a:ln w="12700">
            <a:solidFill>
              <a:srgbClr val="D9DEE3"/>
            </a:solidFill>
            <a:prstDash val="solid"/>
          </a:ln>
        </p:spPr>
      </p:sp>
      <p:sp>
        <p:nvSpPr>
          <p:cNvPr id="36" name="Text 34"/>
          <p:cNvSpPr/>
          <p:nvPr/>
        </p:nvSpPr>
        <p:spPr>
          <a:xfrm>
            <a:off x="3218688" y="2688336"/>
            <a:ext cx="2706624" cy="274320"/>
          </a:xfrm>
          <a:prstGeom prst="rect">
            <a:avLst/>
          </a:prstGeom>
          <a:noFill/>
          <a:ln/>
        </p:spPr>
        <p:txBody>
          <a:bodyPr wrap="square" lIns="0" tIns="0" rIns="0" bIns="0" rtlCol="0" anchor="ctr">
            <a:normAutofit/>
          </a:bodyPr>
          <a:lstStyle/>
          <a:p>
            <a:pPr algn="ctr" indent="0" marL="0">
              <a:buNone/>
            </a:pPr>
            <a:r>
              <a:rPr lang="en-US" sz="880" dirty="0">
                <a:solidFill>
                  <a:srgbClr val="333333"/>
                </a:solidFill>
              </a:rPr>
              <a:t>Create / amend licence</a:t>
            </a:r>
            <a:endParaRPr lang="en-US" sz="880" dirty="0"/>
          </a:p>
        </p:txBody>
      </p:sp>
      <p:sp>
        <p:nvSpPr>
          <p:cNvPr id="37" name="Shape 35"/>
          <p:cNvSpPr/>
          <p:nvPr/>
        </p:nvSpPr>
        <p:spPr>
          <a:xfrm>
            <a:off x="6035040" y="2560320"/>
            <a:ext cx="5486400" cy="530352"/>
          </a:xfrm>
          <a:prstGeom prst="roundRect">
            <a:avLst>
              <a:gd name="adj" fmla="val 10345"/>
            </a:avLst>
          </a:prstGeom>
          <a:solidFill>
            <a:srgbClr val="F4F6F8"/>
          </a:solidFill>
          <a:ln w="12700">
            <a:solidFill>
              <a:srgbClr val="D9DEE3"/>
            </a:solidFill>
            <a:prstDash val="solid"/>
          </a:ln>
        </p:spPr>
      </p:sp>
      <p:sp>
        <p:nvSpPr>
          <p:cNvPr id="38" name="Text 36"/>
          <p:cNvSpPr/>
          <p:nvPr/>
        </p:nvSpPr>
        <p:spPr>
          <a:xfrm>
            <a:off x="6144768" y="2688336"/>
            <a:ext cx="5266944" cy="274320"/>
          </a:xfrm>
          <a:prstGeom prst="rect">
            <a:avLst/>
          </a:prstGeom>
          <a:noFill/>
          <a:ln/>
        </p:spPr>
        <p:txBody>
          <a:bodyPr wrap="square" lIns="0" tIns="0" rIns="0" bIns="0" rtlCol="0" anchor="ctr">
            <a:normAutofit/>
          </a:bodyPr>
          <a:lstStyle/>
          <a:p>
            <a:pPr algn="ctr" indent="0" marL="0">
              <a:buNone/>
            </a:pPr>
            <a:r>
              <a:rPr lang="en-US" sz="880" dirty="0">
                <a:solidFill>
                  <a:srgbClr val="333333"/>
                </a:solidFill>
              </a:rPr>
              <a:t>Operational manual maintenance path.</a:t>
            </a:r>
            <a:endParaRPr lang="en-US" sz="880" dirty="0"/>
          </a:p>
        </p:txBody>
      </p:sp>
      <p:sp>
        <p:nvSpPr>
          <p:cNvPr id="39" name="Shape 37"/>
          <p:cNvSpPr/>
          <p:nvPr/>
        </p:nvSpPr>
        <p:spPr>
          <a:xfrm>
            <a:off x="502920" y="3090672"/>
            <a:ext cx="1417320" cy="530352"/>
          </a:xfrm>
          <a:prstGeom prst="roundRect">
            <a:avLst>
              <a:gd name="adj" fmla="val 10345"/>
            </a:avLst>
          </a:prstGeom>
          <a:solidFill>
            <a:srgbClr val="FFFFFF"/>
          </a:solidFill>
          <a:ln w="12700">
            <a:solidFill>
              <a:srgbClr val="D9DEE3"/>
            </a:solidFill>
            <a:prstDash val="solid"/>
          </a:ln>
        </p:spPr>
      </p:sp>
      <p:sp>
        <p:nvSpPr>
          <p:cNvPr id="40" name="Text 38"/>
          <p:cNvSpPr/>
          <p:nvPr/>
        </p:nvSpPr>
        <p:spPr>
          <a:xfrm>
            <a:off x="612648" y="3218688"/>
            <a:ext cx="1197864" cy="274320"/>
          </a:xfrm>
          <a:prstGeom prst="rect">
            <a:avLst/>
          </a:prstGeom>
          <a:noFill/>
          <a:ln/>
        </p:spPr>
        <p:txBody>
          <a:bodyPr wrap="square" lIns="0" tIns="0" rIns="0" bIns="0" rtlCol="0" anchor="ctr">
            <a:normAutofit/>
          </a:bodyPr>
          <a:lstStyle/>
          <a:p>
            <a:pPr algn="ctr" indent="0" marL="0">
              <a:buNone/>
            </a:pPr>
            <a:r>
              <a:rPr lang="en-US" sz="880" b="1" dirty="0">
                <a:solidFill>
                  <a:srgbClr val="333333"/>
                </a:solidFill>
              </a:rPr>
              <a:t>JMS / MQ</a:t>
            </a:r>
            <a:endParaRPr lang="en-US" sz="880" dirty="0"/>
          </a:p>
        </p:txBody>
      </p:sp>
      <p:sp>
        <p:nvSpPr>
          <p:cNvPr id="41" name="Shape 39"/>
          <p:cNvSpPr/>
          <p:nvPr/>
        </p:nvSpPr>
        <p:spPr>
          <a:xfrm>
            <a:off x="1920240" y="3090672"/>
            <a:ext cx="1188720" cy="530352"/>
          </a:xfrm>
          <a:prstGeom prst="roundRect">
            <a:avLst>
              <a:gd name="adj" fmla="val 10345"/>
            </a:avLst>
          </a:prstGeom>
          <a:solidFill>
            <a:srgbClr val="FFFFFF"/>
          </a:solidFill>
          <a:ln w="12700">
            <a:solidFill>
              <a:srgbClr val="D9DEE3"/>
            </a:solidFill>
            <a:prstDash val="solid"/>
          </a:ln>
        </p:spPr>
      </p:sp>
      <p:sp>
        <p:nvSpPr>
          <p:cNvPr id="42" name="Text 40"/>
          <p:cNvSpPr/>
          <p:nvPr/>
        </p:nvSpPr>
        <p:spPr>
          <a:xfrm>
            <a:off x="2029968" y="3218688"/>
            <a:ext cx="969264" cy="274320"/>
          </a:xfrm>
          <a:prstGeom prst="rect">
            <a:avLst/>
          </a:prstGeom>
          <a:noFill/>
          <a:ln/>
        </p:spPr>
        <p:txBody>
          <a:bodyPr wrap="square" lIns="0" tIns="0" rIns="0" bIns="0" rtlCol="0" anchor="ctr">
            <a:normAutofit/>
          </a:bodyPr>
          <a:lstStyle/>
          <a:p>
            <a:pPr algn="ctr" indent="0" marL="0">
              <a:buNone/>
            </a:pPr>
            <a:r>
              <a:rPr lang="en-US" sz="880" dirty="0">
                <a:solidFill>
                  <a:srgbClr val="333333"/>
                </a:solidFill>
              </a:rPr>
              <a:t>Inbound</a:t>
            </a:r>
            <a:endParaRPr lang="en-US" sz="880" dirty="0"/>
          </a:p>
        </p:txBody>
      </p:sp>
      <p:sp>
        <p:nvSpPr>
          <p:cNvPr id="43" name="Shape 41"/>
          <p:cNvSpPr/>
          <p:nvPr/>
        </p:nvSpPr>
        <p:spPr>
          <a:xfrm>
            <a:off x="3108960" y="3090672"/>
            <a:ext cx="2926080" cy="530352"/>
          </a:xfrm>
          <a:prstGeom prst="roundRect">
            <a:avLst>
              <a:gd name="adj" fmla="val 10345"/>
            </a:avLst>
          </a:prstGeom>
          <a:solidFill>
            <a:srgbClr val="FFFFFF"/>
          </a:solidFill>
          <a:ln w="12700">
            <a:solidFill>
              <a:srgbClr val="D9DEE3"/>
            </a:solidFill>
            <a:prstDash val="solid"/>
          </a:ln>
        </p:spPr>
      </p:sp>
      <p:sp>
        <p:nvSpPr>
          <p:cNvPr id="44" name="Text 42"/>
          <p:cNvSpPr/>
          <p:nvPr/>
        </p:nvSpPr>
        <p:spPr>
          <a:xfrm>
            <a:off x="3218688" y="3218688"/>
            <a:ext cx="2706624" cy="274320"/>
          </a:xfrm>
          <a:prstGeom prst="rect">
            <a:avLst/>
          </a:prstGeom>
          <a:noFill/>
          <a:ln/>
        </p:spPr>
        <p:txBody>
          <a:bodyPr wrap="square" lIns="0" tIns="0" rIns="0" bIns="0" rtlCol="0" anchor="ctr">
            <a:normAutofit/>
          </a:bodyPr>
          <a:lstStyle/>
          <a:p>
            <a:pPr algn="ctr" indent="0" marL="0">
              <a:buNone/>
            </a:pPr>
            <a:r>
              <a:rPr lang="en-US" sz="880" dirty="0">
                <a:solidFill>
                  <a:srgbClr val="333333"/>
                </a:solidFill>
              </a:rPr>
              <a:t>Authorisation reservation messages</a:t>
            </a:r>
            <a:endParaRPr lang="en-US" sz="880" dirty="0"/>
          </a:p>
        </p:txBody>
      </p:sp>
      <p:sp>
        <p:nvSpPr>
          <p:cNvPr id="45" name="Shape 43"/>
          <p:cNvSpPr/>
          <p:nvPr/>
        </p:nvSpPr>
        <p:spPr>
          <a:xfrm>
            <a:off x="6035040" y="3090672"/>
            <a:ext cx="5486400" cy="530352"/>
          </a:xfrm>
          <a:prstGeom prst="roundRect">
            <a:avLst>
              <a:gd name="adj" fmla="val 10345"/>
            </a:avLst>
          </a:prstGeom>
          <a:solidFill>
            <a:srgbClr val="FFFFFF"/>
          </a:solidFill>
          <a:ln w="12700">
            <a:solidFill>
              <a:srgbClr val="D9DEE3"/>
            </a:solidFill>
            <a:prstDash val="solid"/>
          </a:ln>
        </p:spPr>
      </p:sp>
      <p:sp>
        <p:nvSpPr>
          <p:cNvPr id="46" name="Text 44"/>
          <p:cNvSpPr/>
          <p:nvPr/>
        </p:nvSpPr>
        <p:spPr>
          <a:xfrm>
            <a:off x="6144768" y="3218688"/>
            <a:ext cx="5266944" cy="274320"/>
          </a:xfrm>
          <a:prstGeom prst="rect">
            <a:avLst/>
          </a:prstGeom>
          <a:noFill/>
          <a:ln/>
        </p:spPr>
        <p:txBody>
          <a:bodyPr wrap="square" lIns="0" tIns="0" rIns="0" bIns="0" rtlCol="0" anchor="ctr">
            <a:normAutofit/>
          </a:bodyPr>
          <a:lstStyle/>
          <a:p>
            <a:pPr algn="ctr" indent="0" marL="0">
              <a:buNone/>
            </a:pPr>
            <a:r>
              <a:rPr lang="en-US" sz="880" dirty="0">
                <a:solidFill>
                  <a:srgbClr val="333333"/>
                </a:solidFill>
              </a:rPr>
              <a:t>DMS-driven declaration/licence processing.</a:t>
            </a:r>
            <a:endParaRPr lang="en-US" sz="880" dirty="0"/>
          </a:p>
        </p:txBody>
      </p:sp>
      <p:sp>
        <p:nvSpPr>
          <p:cNvPr id="47" name="Shape 45"/>
          <p:cNvSpPr/>
          <p:nvPr/>
        </p:nvSpPr>
        <p:spPr>
          <a:xfrm>
            <a:off x="502920" y="3621024"/>
            <a:ext cx="1417320" cy="530352"/>
          </a:xfrm>
          <a:prstGeom prst="roundRect">
            <a:avLst>
              <a:gd name="adj" fmla="val 10345"/>
            </a:avLst>
          </a:prstGeom>
          <a:solidFill>
            <a:srgbClr val="F4F6F8"/>
          </a:solidFill>
          <a:ln w="12700">
            <a:solidFill>
              <a:srgbClr val="D9DEE3"/>
            </a:solidFill>
            <a:prstDash val="solid"/>
          </a:ln>
        </p:spPr>
      </p:sp>
      <p:sp>
        <p:nvSpPr>
          <p:cNvPr id="48" name="Text 46"/>
          <p:cNvSpPr/>
          <p:nvPr/>
        </p:nvSpPr>
        <p:spPr>
          <a:xfrm>
            <a:off x="612648" y="3749040"/>
            <a:ext cx="1197864" cy="274320"/>
          </a:xfrm>
          <a:prstGeom prst="rect">
            <a:avLst/>
          </a:prstGeom>
          <a:noFill/>
          <a:ln/>
        </p:spPr>
        <p:txBody>
          <a:bodyPr wrap="square" lIns="0" tIns="0" rIns="0" bIns="0" rtlCol="0" anchor="ctr">
            <a:normAutofit/>
          </a:bodyPr>
          <a:lstStyle/>
          <a:p>
            <a:pPr algn="ctr" indent="0" marL="0">
              <a:buNone/>
            </a:pPr>
            <a:r>
              <a:rPr lang="en-US" sz="880" b="1" dirty="0">
                <a:solidFill>
                  <a:srgbClr val="333333"/>
                </a:solidFill>
              </a:rPr>
              <a:t>JMS / MQ</a:t>
            </a:r>
            <a:endParaRPr lang="en-US" sz="880" dirty="0"/>
          </a:p>
        </p:txBody>
      </p:sp>
      <p:sp>
        <p:nvSpPr>
          <p:cNvPr id="49" name="Shape 47"/>
          <p:cNvSpPr/>
          <p:nvPr/>
        </p:nvSpPr>
        <p:spPr>
          <a:xfrm>
            <a:off x="1920240" y="3621024"/>
            <a:ext cx="1188720" cy="530352"/>
          </a:xfrm>
          <a:prstGeom prst="roundRect">
            <a:avLst>
              <a:gd name="adj" fmla="val 10345"/>
            </a:avLst>
          </a:prstGeom>
          <a:solidFill>
            <a:srgbClr val="F4F6F8"/>
          </a:solidFill>
          <a:ln w="12700">
            <a:solidFill>
              <a:srgbClr val="D9DEE3"/>
            </a:solidFill>
            <a:prstDash val="solid"/>
          </a:ln>
        </p:spPr>
      </p:sp>
      <p:sp>
        <p:nvSpPr>
          <p:cNvPr id="50" name="Text 48"/>
          <p:cNvSpPr/>
          <p:nvPr/>
        </p:nvSpPr>
        <p:spPr>
          <a:xfrm>
            <a:off x="2029968" y="3749040"/>
            <a:ext cx="969264" cy="274320"/>
          </a:xfrm>
          <a:prstGeom prst="rect">
            <a:avLst/>
          </a:prstGeom>
          <a:noFill/>
          <a:ln/>
        </p:spPr>
        <p:txBody>
          <a:bodyPr wrap="square" lIns="0" tIns="0" rIns="0" bIns="0" rtlCol="0" anchor="ctr">
            <a:normAutofit/>
          </a:bodyPr>
          <a:lstStyle/>
          <a:p>
            <a:pPr algn="ctr" indent="0" marL="0">
              <a:buNone/>
            </a:pPr>
            <a:r>
              <a:rPr lang="en-US" sz="880" dirty="0">
                <a:solidFill>
                  <a:srgbClr val="333333"/>
                </a:solidFill>
              </a:rPr>
              <a:t>Outbound</a:t>
            </a:r>
            <a:endParaRPr lang="en-US" sz="880" dirty="0"/>
          </a:p>
        </p:txBody>
      </p:sp>
      <p:sp>
        <p:nvSpPr>
          <p:cNvPr id="51" name="Shape 49"/>
          <p:cNvSpPr/>
          <p:nvPr/>
        </p:nvSpPr>
        <p:spPr>
          <a:xfrm>
            <a:off x="3108960" y="3621024"/>
            <a:ext cx="2926080" cy="530352"/>
          </a:xfrm>
          <a:prstGeom prst="roundRect">
            <a:avLst>
              <a:gd name="adj" fmla="val 10345"/>
            </a:avLst>
          </a:prstGeom>
          <a:solidFill>
            <a:srgbClr val="F4F6F8"/>
          </a:solidFill>
          <a:ln w="12700">
            <a:solidFill>
              <a:srgbClr val="D9DEE3"/>
            </a:solidFill>
            <a:prstDash val="solid"/>
          </a:ln>
        </p:spPr>
      </p:sp>
      <p:sp>
        <p:nvSpPr>
          <p:cNvPr id="52" name="Text 50"/>
          <p:cNvSpPr/>
          <p:nvPr/>
        </p:nvSpPr>
        <p:spPr>
          <a:xfrm>
            <a:off x="3218688" y="3749040"/>
            <a:ext cx="2706624" cy="274320"/>
          </a:xfrm>
          <a:prstGeom prst="rect">
            <a:avLst/>
          </a:prstGeom>
          <a:noFill/>
          <a:ln/>
        </p:spPr>
        <p:txBody>
          <a:bodyPr wrap="square" lIns="0" tIns="0" rIns="0" bIns="0" rtlCol="0" anchor="ctr">
            <a:normAutofit/>
          </a:bodyPr>
          <a:lstStyle/>
          <a:p>
            <a:pPr algn="ctr" indent="0" marL="0">
              <a:buNone/>
            </a:pPr>
            <a:r>
              <a:rPr lang="en-US" sz="880" dirty="0">
                <a:solidFill>
                  <a:srgbClr val="333333"/>
                </a:solidFill>
              </a:rPr>
              <a:t>Reservation / authorisation responses</a:t>
            </a:r>
            <a:endParaRPr lang="en-US" sz="880" dirty="0"/>
          </a:p>
        </p:txBody>
      </p:sp>
      <p:sp>
        <p:nvSpPr>
          <p:cNvPr id="53" name="Shape 51"/>
          <p:cNvSpPr/>
          <p:nvPr/>
        </p:nvSpPr>
        <p:spPr>
          <a:xfrm>
            <a:off x="6035040" y="3621024"/>
            <a:ext cx="5486400" cy="530352"/>
          </a:xfrm>
          <a:prstGeom prst="roundRect">
            <a:avLst>
              <a:gd name="adj" fmla="val 10345"/>
            </a:avLst>
          </a:prstGeom>
          <a:solidFill>
            <a:srgbClr val="F4F6F8"/>
          </a:solidFill>
          <a:ln w="12700">
            <a:solidFill>
              <a:srgbClr val="D9DEE3"/>
            </a:solidFill>
            <a:prstDash val="solid"/>
          </a:ln>
        </p:spPr>
      </p:sp>
      <p:sp>
        <p:nvSpPr>
          <p:cNvPr id="54" name="Text 52"/>
          <p:cNvSpPr/>
          <p:nvPr/>
        </p:nvSpPr>
        <p:spPr>
          <a:xfrm>
            <a:off x="6144768" y="3749040"/>
            <a:ext cx="5266944" cy="274320"/>
          </a:xfrm>
          <a:prstGeom prst="rect">
            <a:avLst/>
          </a:prstGeom>
          <a:noFill/>
          <a:ln/>
        </p:spPr>
        <p:txBody>
          <a:bodyPr wrap="square" lIns="0" tIns="0" rIns="0" bIns="0" rtlCol="0" anchor="ctr">
            <a:normAutofit/>
          </a:bodyPr>
          <a:lstStyle/>
          <a:p>
            <a:pPr algn="ctr" indent="0" marL="0">
              <a:buNone/>
            </a:pPr>
            <a:r>
              <a:rPr lang="en-US" sz="880" dirty="0">
                <a:solidFill>
                  <a:srgbClr val="333333"/>
                </a:solidFill>
              </a:rPr>
              <a:t>ILMS response path back to caller.</a:t>
            </a:r>
            <a:endParaRPr lang="en-US" sz="880" dirty="0"/>
          </a:p>
        </p:txBody>
      </p:sp>
      <p:sp>
        <p:nvSpPr>
          <p:cNvPr id="55" name="Shape 53"/>
          <p:cNvSpPr/>
          <p:nvPr/>
        </p:nvSpPr>
        <p:spPr>
          <a:xfrm>
            <a:off x="502920" y="4151376"/>
            <a:ext cx="1417320" cy="530352"/>
          </a:xfrm>
          <a:prstGeom prst="roundRect">
            <a:avLst>
              <a:gd name="adj" fmla="val 10345"/>
            </a:avLst>
          </a:prstGeom>
          <a:solidFill>
            <a:srgbClr val="FFFFFF"/>
          </a:solidFill>
          <a:ln w="12700">
            <a:solidFill>
              <a:srgbClr val="D9DEE3"/>
            </a:solidFill>
            <a:prstDash val="solid"/>
          </a:ln>
        </p:spPr>
      </p:sp>
      <p:sp>
        <p:nvSpPr>
          <p:cNvPr id="56" name="Text 54"/>
          <p:cNvSpPr/>
          <p:nvPr/>
        </p:nvSpPr>
        <p:spPr>
          <a:xfrm>
            <a:off x="612648" y="4279392"/>
            <a:ext cx="1197864" cy="274320"/>
          </a:xfrm>
          <a:prstGeom prst="rect">
            <a:avLst/>
          </a:prstGeom>
          <a:noFill/>
          <a:ln/>
        </p:spPr>
        <p:txBody>
          <a:bodyPr wrap="square" lIns="0" tIns="0" rIns="0" bIns="0" rtlCol="0" anchor="ctr">
            <a:normAutofit/>
          </a:bodyPr>
          <a:lstStyle/>
          <a:p>
            <a:pPr algn="ctr" indent="0" marL="0">
              <a:buNone/>
            </a:pPr>
            <a:r>
              <a:rPr lang="en-US" sz="880" b="1" dirty="0">
                <a:solidFill>
                  <a:srgbClr val="333333"/>
                </a:solidFill>
              </a:rPr>
              <a:t>File transfer</a:t>
            </a:r>
            <a:endParaRPr lang="en-US" sz="880" dirty="0"/>
          </a:p>
        </p:txBody>
      </p:sp>
      <p:sp>
        <p:nvSpPr>
          <p:cNvPr id="57" name="Shape 55"/>
          <p:cNvSpPr/>
          <p:nvPr/>
        </p:nvSpPr>
        <p:spPr>
          <a:xfrm>
            <a:off x="1920240" y="4151376"/>
            <a:ext cx="1188720" cy="530352"/>
          </a:xfrm>
          <a:prstGeom prst="roundRect">
            <a:avLst>
              <a:gd name="adj" fmla="val 10345"/>
            </a:avLst>
          </a:prstGeom>
          <a:solidFill>
            <a:srgbClr val="FFFFFF"/>
          </a:solidFill>
          <a:ln w="12700">
            <a:solidFill>
              <a:srgbClr val="D9DEE3"/>
            </a:solidFill>
            <a:prstDash val="solid"/>
          </a:ln>
        </p:spPr>
      </p:sp>
      <p:sp>
        <p:nvSpPr>
          <p:cNvPr id="58" name="Text 56"/>
          <p:cNvSpPr/>
          <p:nvPr/>
        </p:nvSpPr>
        <p:spPr>
          <a:xfrm>
            <a:off x="2029968" y="4279392"/>
            <a:ext cx="969264" cy="274320"/>
          </a:xfrm>
          <a:prstGeom prst="rect">
            <a:avLst/>
          </a:prstGeom>
          <a:noFill/>
          <a:ln/>
        </p:spPr>
        <p:txBody>
          <a:bodyPr wrap="square" lIns="0" tIns="0" rIns="0" bIns="0" rtlCol="0" anchor="ctr">
            <a:normAutofit/>
          </a:bodyPr>
          <a:lstStyle/>
          <a:p>
            <a:pPr algn="ctr" indent="0" marL="0">
              <a:buNone/>
            </a:pPr>
            <a:r>
              <a:rPr lang="en-US" sz="880" dirty="0">
                <a:solidFill>
                  <a:srgbClr val="333333"/>
                </a:solidFill>
              </a:rPr>
              <a:t>In / Out</a:t>
            </a:r>
            <a:endParaRPr lang="en-US" sz="880" dirty="0"/>
          </a:p>
        </p:txBody>
      </p:sp>
      <p:sp>
        <p:nvSpPr>
          <p:cNvPr id="59" name="Shape 57"/>
          <p:cNvSpPr/>
          <p:nvPr/>
        </p:nvSpPr>
        <p:spPr>
          <a:xfrm>
            <a:off x="3108960" y="4151376"/>
            <a:ext cx="2926080" cy="530352"/>
          </a:xfrm>
          <a:prstGeom prst="roundRect">
            <a:avLst>
              <a:gd name="adj" fmla="val 10345"/>
            </a:avLst>
          </a:prstGeom>
          <a:solidFill>
            <a:srgbClr val="FFFFFF"/>
          </a:solidFill>
          <a:ln w="12700">
            <a:solidFill>
              <a:srgbClr val="D9DEE3"/>
            </a:solidFill>
            <a:prstDash val="solid"/>
          </a:ln>
        </p:spPr>
      </p:sp>
      <p:sp>
        <p:nvSpPr>
          <p:cNvPr id="60" name="Text 58"/>
          <p:cNvSpPr/>
          <p:nvPr/>
        </p:nvSpPr>
        <p:spPr>
          <a:xfrm>
            <a:off x="3218688" y="4279392"/>
            <a:ext cx="2706624" cy="274320"/>
          </a:xfrm>
          <a:prstGeom prst="rect">
            <a:avLst/>
          </a:prstGeom>
          <a:noFill/>
          <a:ln/>
        </p:spPr>
        <p:txBody>
          <a:bodyPr wrap="square" lIns="0" tIns="0" rIns="0" bIns="0" rtlCol="0" anchor="ctr">
            <a:normAutofit/>
          </a:bodyPr>
          <a:lstStyle/>
          <a:p>
            <a:pPr algn="ctr" indent="0" marL="0">
              <a:buNone/>
            </a:pPr>
            <a:r>
              <a:rPr lang="en-US" sz="880" dirty="0">
                <a:solidFill>
                  <a:srgbClr val="333333"/>
                </a:solidFill>
              </a:rPr>
              <a:t>Legacy OGD update and usage files</a:t>
            </a:r>
            <a:endParaRPr lang="en-US" sz="880" dirty="0"/>
          </a:p>
        </p:txBody>
      </p:sp>
      <p:sp>
        <p:nvSpPr>
          <p:cNvPr id="61" name="Shape 59"/>
          <p:cNvSpPr/>
          <p:nvPr/>
        </p:nvSpPr>
        <p:spPr>
          <a:xfrm>
            <a:off x="6035040" y="4151376"/>
            <a:ext cx="5486400" cy="530352"/>
          </a:xfrm>
          <a:prstGeom prst="roundRect">
            <a:avLst>
              <a:gd name="adj" fmla="val 10345"/>
            </a:avLst>
          </a:prstGeom>
          <a:solidFill>
            <a:srgbClr val="FFFFFF"/>
          </a:solidFill>
          <a:ln w="12700">
            <a:solidFill>
              <a:srgbClr val="D9DEE3"/>
            </a:solidFill>
            <a:prstDash val="solid"/>
          </a:ln>
        </p:spPr>
      </p:sp>
      <p:sp>
        <p:nvSpPr>
          <p:cNvPr id="62" name="Text 60"/>
          <p:cNvSpPr/>
          <p:nvPr/>
        </p:nvSpPr>
        <p:spPr>
          <a:xfrm>
            <a:off x="6144768" y="4279392"/>
            <a:ext cx="5266944" cy="274320"/>
          </a:xfrm>
          <a:prstGeom prst="rect">
            <a:avLst/>
          </a:prstGeom>
          <a:noFill/>
          <a:ln/>
        </p:spPr>
        <p:txBody>
          <a:bodyPr wrap="square" lIns="0" tIns="0" rIns="0" bIns="0" rtlCol="0" anchor="ctr">
            <a:normAutofit/>
          </a:bodyPr>
          <a:lstStyle/>
          <a:p>
            <a:pPr algn="ctr" indent="0" marL="0">
              <a:buNone/>
            </a:pPr>
            <a:r>
              <a:rPr lang="en-US" sz="880" dirty="0">
                <a:solidFill>
                  <a:srgbClr val="333333"/>
                </a:solidFill>
              </a:rPr>
              <a:t>Batch/file-based model still appears in historic flows.</a:t>
            </a:r>
            <a:endParaRPr lang="en-US" sz="880" dirty="0"/>
          </a:p>
        </p:txBody>
      </p:sp>
      <p:sp>
        <p:nvSpPr>
          <p:cNvPr id="63" name="Text 61"/>
          <p:cNvSpPr/>
          <p:nvPr/>
        </p:nvSpPr>
        <p:spPr>
          <a:xfrm>
            <a:off x="731520" y="5623560"/>
            <a:ext cx="10789920" cy="256032"/>
          </a:xfrm>
          <a:prstGeom prst="rect">
            <a:avLst/>
          </a:prstGeom>
          <a:noFill/>
          <a:ln/>
        </p:spPr>
        <p:txBody>
          <a:bodyPr wrap="square" lIns="0" tIns="0" rIns="0" bIns="0" rtlCol="0" anchor="ctr"/>
          <a:lstStyle/>
          <a:p>
            <a:pPr algn="ctr" indent="0" marL="0">
              <a:buNone/>
            </a:pPr>
            <a:r>
              <a:rPr lang="en-US" sz="1300" b="1" dirty="0">
                <a:solidFill>
                  <a:srgbClr val="003366"/>
                </a:solidFill>
              </a:rPr>
              <a:t>Presenter prompt: confirm names against code/config during the code walkthrough.</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0972800" cy="384048"/>
          </a:xfrm>
          <a:prstGeom prst="rect">
            <a:avLst/>
          </a:prstGeom>
          <a:noFill/>
          <a:ln/>
        </p:spPr>
        <p:txBody>
          <a:bodyPr wrap="square" lIns="0" tIns="0" rIns="0" bIns="0" rtlCol="0" anchor="ctr"/>
          <a:lstStyle/>
          <a:p>
            <a:pPr indent="0" marL="0">
              <a:buNone/>
            </a:pPr>
            <a:r>
              <a:rPr lang="en-US" sz="2600" b="1" dirty="0">
                <a:solidFill>
                  <a:srgbClr val="003366"/>
                </a:solidFill>
                <a:latin typeface="Arial" pitchFamily="34" charset="0"/>
                <a:ea typeface="Arial" pitchFamily="34" charset="-122"/>
                <a:cs typeface="Arial" pitchFamily="34" charset="-120"/>
              </a:rPr>
              <a:t>JMS / MQ Overview</a:t>
            </a:r>
            <a:endParaRPr lang="en-US" sz="2600" dirty="0"/>
          </a:p>
        </p:txBody>
      </p:sp>
      <p:sp>
        <p:nvSpPr>
          <p:cNvPr id="3" name="Text 1"/>
          <p:cNvSpPr/>
          <p:nvPr/>
        </p:nvSpPr>
        <p:spPr>
          <a:xfrm>
            <a:off x="521208" y="749808"/>
            <a:ext cx="10515600" cy="228600"/>
          </a:xfrm>
          <a:prstGeom prst="rect">
            <a:avLst/>
          </a:prstGeom>
          <a:noFill/>
          <a:ln/>
        </p:spPr>
        <p:txBody>
          <a:bodyPr wrap="square" lIns="0" tIns="0" rIns="0" bIns="0" rtlCol="0" anchor="ctr"/>
          <a:lstStyle/>
          <a:p>
            <a:pPr indent="0" marL="0">
              <a:buNone/>
            </a:pPr>
            <a:r>
              <a:rPr lang="en-US" sz="1050" dirty="0">
                <a:solidFill>
                  <a:srgbClr val="666666"/>
                </a:solidFill>
              </a:rPr>
              <a:t>What to confirm in the code/configuration</a:t>
            </a:r>
            <a:endParaRPr lang="en-US" sz="1050" dirty="0"/>
          </a:p>
        </p:txBody>
      </p:sp>
      <p:sp>
        <p:nvSpPr>
          <p:cNvPr id="4" name="Shape 2"/>
          <p:cNvSpPr/>
          <p:nvPr/>
        </p:nvSpPr>
        <p:spPr>
          <a:xfrm>
            <a:off x="457200" y="6355080"/>
            <a:ext cx="11274552" cy="0"/>
          </a:xfrm>
          <a:prstGeom prst="line">
            <a:avLst/>
          </a:prstGeom>
          <a:noFill/>
          <a:ln w="8890">
            <a:solidFill>
              <a:srgbClr val="D9DEE3"/>
            </a:solidFill>
            <a:prstDash val="solid"/>
          </a:ln>
        </p:spPr>
      </p:sp>
      <p:sp>
        <p:nvSpPr>
          <p:cNvPr id="5" name="Text 3"/>
          <p:cNvSpPr/>
          <p:nvPr/>
        </p:nvSpPr>
        <p:spPr>
          <a:xfrm>
            <a:off x="457200" y="6419088"/>
            <a:ext cx="7315200" cy="228600"/>
          </a:xfrm>
          <a:prstGeom prst="rect">
            <a:avLst/>
          </a:prstGeom>
          <a:noFill/>
          <a:ln/>
        </p:spPr>
        <p:txBody>
          <a:bodyPr wrap="square" rtlCol="0" anchor="ctr"/>
          <a:lstStyle/>
          <a:p>
            <a:pPr indent="0" marL="0">
              <a:buNone/>
            </a:pPr>
            <a:r>
              <a:rPr lang="en-US" sz="850" dirty="0">
                <a:solidFill>
                  <a:srgbClr val="666666"/>
                </a:solidFill>
                <a:latin typeface="Arial" pitchFamily="34" charset="0"/>
                <a:ea typeface="Arial" pitchFamily="34" charset="-122"/>
                <a:cs typeface="Arial" pitchFamily="34" charset="-120"/>
              </a:rPr>
              <a:t>ILMS Knowledge Transfer | Architecture Overview</a:t>
            </a:r>
            <a:endParaRPr lang="en-US" sz="850" dirty="0"/>
          </a:p>
        </p:txBody>
      </p:sp>
      <p:sp>
        <p:nvSpPr>
          <p:cNvPr id="6" name="Text 4"/>
          <p:cNvSpPr/>
          <p:nvPr/>
        </p:nvSpPr>
        <p:spPr>
          <a:xfrm>
            <a:off x="11292840" y="6419088"/>
            <a:ext cx="457200" cy="228600"/>
          </a:xfrm>
          <a:prstGeom prst="rect">
            <a:avLst/>
          </a:prstGeom>
          <a:noFill/>
          <a:ln/>
        </p:spPr>
        <p:txBody>
          <a:bodyPr wrap="square" rtlCol="0" anchor="ctr"/>
          <a:lstStyle/>
          <a:p>
            <a:pPr algn="r" indent="0" marL="0">
              <a:buNone/>
            </a:pPr>
            <a:r>
              <a:rPr lang="en-US" sz="850" dirty="0">
                <a:solidFill>
                  <a:srgbClr val="666666"/>
                </a:solidFill>
              </a:rPr>
              <a:t>19</a:t>
            </a:r>
            <a:endParaRPr lang="en-US" sz="850" dirty="0"/>
          </a:p>
        </p:txBody>
      </p:sp>
      <p:sp>
        <p:nvSpPr>
          <p:cNvPr id="7" name="Shape 5"/>
          <p:cNvSpPr/>
          <p:nvPr/>
        </p:nvSpPr>
        <p:spPr>
          <a:xfrm>
            <a:off x="640080" y="1051560"/>
            <a:ext cx="5074920" cy="4389120"/>
          </a:xfrm>
          <a:prstGeom prst="rect">
            <a:avLst/>
          </a:prstGeom>
          <a:solidFill>
            <a:srgbClr val="F4F6F8">
              <a:alpha val="92000"/>
            </a:srgbClr>
          </a:solidFill>
          <a:ln w="17780">
            <a:solidFill>
              <a:srgbClr val="9AA7B2"/>
            </a:solidFill>
            <a:prstDash val="solid"/>
          </a:ln>
        </p:spPr>
      </p:sp>
      <p:sp>
        <p:nvSpPr>
          <p:cNvPr id="8" name="Text 6"/>
          <p:cNvSpPr/>
          <p:nvPr/>
        </p:nvSpPr>
        <p:spPr>
          <a:xfrm>
            <a:off x="777240" y="3081528"/>
            <a:ext cx="4800600" cy="292608"/>
          </a:xfrm>
          <a:prstGeom prst="rect">
            <a:avLst/>
          </a:prstGeom>
          <a:noFill/>
          <a:ln/>
        </p:spPr>
        <p:txBody>
          <a:bodyPr wrap="square" lIns="0" tIns="0" rIns="0" bIns="0" rtlCol="0" anchor="ctr"/>
          <a:lstStyle/>
          <a:p>
            <a:pPr algn="ctr" indent="0" marL="0">
              <a:buNone/>
            </a:pPr>
            <a:r>
              <a:rPr lang="en-US" sz="1800" b="1" dirty="0">
                <a:solidFill>
                  <a:srgbClr val="697886"/>
                </a:solidFill>
              </a:rPr>
              <a:t>INSERT MQ / INTERFACE DIAGRAM OR QUEUE LIST</a:t>
            </a:r>
            <a:endParaRPr lang="en-US" sz="1800" dirty="0"/>
          </a:p>
        </p:txBody>
      </p:sp>
      <p:sp>
        <p:nvSpPr>
          <p:cNvPr id="9" name="Text 7"/>
          <p:cNvSpPr/>
          <p:nvPr/>
        </p:nvSpPr>
        <p:spPr>
          <a:xfrm>
            <a:off x="868680" y="5056632"/>
            <a:ext cx="4617720" cy="228600"/>
          </a:xfrm>
          <a:prstGeom prst="rect">
            <a:avLst/>
          </a:prstGeom>
          <a:noFill/>
          <a:ln/>
        </p:spPr>
        <p:txBody>
          <a:bodyPr wrap="square" lIns="0" tIns="0" rIns="0" bIns="0" rtlCol="0" anchor="ctr"/>
          <a:lstStyle/>
          <a:p>
            <a:pPr algn="ctr" indent="0" marL="0">
              <a:buNone/>
            </a:pPr>
            <a:r>
              <a:rPr lang="en-US" sz="850" dirty="0">
                <a:solidFill>
                  <a:srgbClr val="697886"/>
                </a:solidFill>
              </a:rPr>
              <a:t>Suggested: paste MQ section, config, or architecture diagram</a:t>
            </a:r>
            <a:endParaRPr lang="en-US" sz="850" dirty="0"/>
          </a:p>
        </p:txBody>
      </p:sp>
      <p:sp>
        <p:nvSpPr>
          <p:cNvPr id="10" name="Text 8"/>
          <p:cNvSpPr/>
          <p:nvPr/>
        </p:nvSpPr>
        <p:spPr>
          <a:xfrm>
            <a:off x="6035040" y="1143000"/>
            <a:ext cx="5394960" cy="2331720"/>
          </a:xfrm>
          <a:prstGeom prst="rect">
            <a:avLst/>
          </a:prstGeom>
          <a:noFill/>
          <a:ln/>
        </p:spPr>
        <p:txBody>
          <a:bodyPr wrap="square" lIns="1016" tIns="1016" rIns="1016" bIns="1016" rtlCol="0" anchor="t">
            <a:normAutofit/>
          </a:bodyPr>
          <a:lstStyle/>
          <a:p>
            <a:r>
              <a:rPr lang="en-US" sz="1400" dirty="0">
                <a:solidFill>
                  <a:srgbClr val="333333"/>
                </a:solidFill>
              </a:rPr>
              <a:t>Inbound messages from DMS / CDS integration paths.</a:t>
            </a:r>
            <a:endParaRPr lang="en-US" sz="1400" dirty="0"/>
          </a:p>
          <a:p>
            <a:r>
              <a:rPr lang="en-US" sz="1400" dirty="0">
                <a:solidFill>
                  <a:srgbClr val="333333"/>
                </a:solidFill>
              </a:rPr>
              <a:t>Reservation create / update / confirm / delete style interactions.</a:t>
            </a:r>
            <a:endParaRPr lang="en-US" sz="1400" dirty="0"/>
          </a:p>
          <a:p>
            <a:r>
              <a:rPr lang="en-US" sz="1400" dirty="0">
                <a:solidFill>
                  <a:srgbClr val="333333"/>
                </a:solidFill>
              </a:rPr>
              <a:t>Request authorisation / licence details interactions.</a:t>
            </a:r>
            <a:endParaRPr lang="en-US" sz="1400" dirty="0"/>
          </a:p>
          <a:p>
            <a:r>
              <a:rPr lang="en-US" sz="1400" dirty="0">
                <a:solidFill>
                  <a:srgbClr val="333333"/>
                </a:solidFill>
              </a:rPr>
              <a:t>Outbound response messages back to the calling component.</a:t>
            </a:r>
            <a:endParaRPr lang="en-US" sz="1400" dirty="0"/>
          </a:p>
          <a:p>
            <a:r>
              <a:rPr lang="en-US" sz="1400" dirty="0">
                <a:solidFill>
                  <a:srgbClr val="333333"/>
                </a:solidFill>
              </a:rPr>
              <a:t>Queue names, routing keys and error queues should be confirmed from config.</a:t>
            </a:r>
            <a:endParaRPr lang="en-US" sz="1400" dirty="0"/>
          </a:p>
        </p:txBody>
      </p:sp>
      <p:sp>
        <p:nvSpPr>
          <p:cNvPr id="11" name="Shape 9"/>
          <p:cNvSpPr/>
          <p:nvPr/>
        </p:nvSpPr>
        <p:spPr>
          <a:xfrm>
            <a:off x="6080760" y="4069080"/>
            <a:ext cx="5074920" cy="1051560"/>
          </a:xfrm>
          <a:prstGeom prst="roundRect">
            <a:avLst>
              <a:gd name="adj" fmla="val 5217"/>
            </a:avLst>
          </a:prstGeom>
          <a:solidFill>
            <a:srgbClr val="F3F8FC"/>
          </a:solidFill>
          <a:ln w="12700">
            <a:solidFill>
              <a:srgbClr val="1F5E99"/>
            </a:solidFill>
            <a:prstDash val="solid"/>
          </a:ln>
        </p:spPr>
      </p:sp>
      <p:sp>
        <p:nvSpPr>
          <p:cNvPr id="12" name="Text 10"/>
          <p:cNvSpPr/>
          <p:nvPr/>
        </p:nvSpPr>
        <p:spPr>
          <a:xfrm>
            <a:off x="6190488" y="4197096"/>
            <a:ext cx="4855464" cy="795528"/>
          </a:xfrm>
          <a:prstGeom prst="rect">
            <a:avLst/>
          </a:prstGeom>
          <a:noFill/>
          <a:ln/>
        </p:spPr>
        <p:txBody>
          <a:bodyPr wrap="square" lIns="0" tIns="0" rIns="0" bIns="0" rtlCol="0" anchor="ctr">
            <a:normAutofit/>
          </a:bodyPr>
          <a:lstStyle/>
          <a:p>
            <a:pPr algn="ctr" indent="0" marL="0">
              <a:buNone/>
            </a:pPr>
            <a:r>
              <a:rPr lang="en-US" sz="1300" b="1" dirty="0">
                <a:solidFill>
                  <a:srgbClr val="333333"/>
                </a:solidFill>
              </a:rPr>
              <a:t>For the code walkthrough</a:t>
            </a:r>
            <a:endParaRPr lang="en-US" sz="1300" dirty="0"/>
          </a:p>
          <a:p>
            <a:pPr algn="ctr" indent="0" marL="0">
              <a:buNone/>
            </a:pPr>
            <a:endParaRPr lang="en-US" sz="1300" dirty="0"/>
          </a:p>
          <a:p>
            <a:pPr algn="ctr" indent="0" marL="0">
              <a:buNone/>
            </a:pPr>
            <a:r>
              <a:rPr lang="en-US" sz="1300" b="1" dirty="0">
                <a:solidFill>
                  <a:srgbClr val="333333"/>
                </a:solidFill>
              </a:rPr>
              <a:t>Show listener classes, producer/sender classes, message models, queue configuration and error handling.</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0972800" cy="384048"/>
          </a:xfrm>
          <a:prstGeom prst="rect">
            <a:avLst/>
          </a:prstGeom>
          <a:noFill/>
          <a:ln/>
        </p:spPr>
        <p:txBody>
          <a:bodyPr wrap="square" lIns="0" tIns="0" rIns="0" bIns="0" rtlCol="0" anchor="ctr"/>
          <a:lstStyle/>
          <a:p>
            <a:pPr indent="0" marL="0">
              <a:buNone/>
            </a:pPr>
            <a:r>
              <a:rPr lang="en-US" sz="2600" b="1" dirty="0">
                <a:solidFill>
                  <a:srgbClr val="003366"/>
                </a:solidFill>
                <a:latin typeface="Arial" pitchFamily="34" charset="0"/>
                <a:ea typeface="Arial" pitchFamily="34" charset="-122"/>
                <a:cs typeface="Arial" pitchFamily="34" charset="-120"/>
              </a:rPr>
              <a:t>High-Level Code Structure</a:t>
            </a:r>
            <a:endParaRPr lang="en-US" sz="2600" dirty="0"/>
          </a:p>
        </p:txBody>
      </p:sp>
      <p:sp>
        <p:nvSpPr>
          <p:cNvPr id="3" name="Text 1"/>
          <p:cNvSpPr/>
          <p:nvPr/>
        </p:nvSpPr>
        <p:spPr>
          <a:xfrm>
            <a:off x="521208" y="749808"/>
            <a:ext cx="10515600" cy="228600"/>
          </a:xfrm>
          <a:prstGeom prst="rect">
            <a:avLst/>
          </a:prstGeom>
          <a:noFill/>
          <a:ln/>
        </p:spPr>
        <p:txBody>
          <a:bodyPr wrap="square" lIns="0" tIns="0" rIns="0" bIns="0" rtlCol="0" anchor="ctr"/>
          <a:lstStyle/>
          <a:p>
            <a:pPr indent="0" marL="0">
              <a:buNone/>
            </a:pPr>
            <a:r>
              <a:rPr lang="en-US" sz="1050" dirty="0">
                <a:solidFill>
                  <a:srgbClr val="666666"/>
                </a:solidFill>
              </a:rPr>
              <a:t>15-minute orientation, not a full implementation walkthrough</a:t>
            </a:r>
            <a:endParaRPr lang="en-US" sz="1050" dirty="0"/>
          </a:p>
        </p:txBody>
      </p:sp>
      <p:sp>
        <p:nvSpPr>
          <p:cNvPr id="4" name="Shape 2"/>
          <p:cNvSpPr/>
          <p:nvPr/>
        </p:nvSpPr>
        <p:spPr>
          <a:xfrm>
            <a:off x="457200" y="6355080"/>
            <a:ext cx="11274552" cy="0"/>
          </a:xfrm>
          <a:prstGeom prst="line">
            <a:avLst/>
          </a:prstGeom>
          <a:noFill/>
          <a:ln w="8890">
            <a:solidFill>
              <a:srgbClr val="D9DEE3"/>
            </a:solidFill>
            <a:prstDash val="solid"/>
          </a:ln>
        </p:spPr>
      </p:sp>
      <p:sp>
        <p:nvSpPr>
          <p:cNvPr id="5" name="Text 3"/>
          <p:cNvSpPr/>
          <p:nvPr/>
        </p:nvSpPr>
        <p:spPr>
          <a:xfrm>
            <a:off x="457200" y="6419088"/>
            <a:ext cx="7315200" cy="228600"/>
          </a:xfrm>
          <a:prstGeom prst="rect">
            <a:avLst/>
          </a:prstGeom>
          <a:noFill/>
          <a:ln/>
        </p:spPr>
        <p:txBody>
          <a:bodyPr wrap="square" rtlCol="0" anchor="ctr"/>
          <a:lstStyle/>
          <a:p>
            <a:pPr indent="0" marL="0">
              <a:buNone/>
            </a:pPr>
            <a:r>
              <a:rPr lang="en-US" sz="850" dirty="0">
                <a:solidFill>
                  <a:srgbClr val="666666"/>
                </a:solidFill>
                <a:latin typeface="Arial" pitchFamily="34" charset="0"/>
                <a:ea typeface="Arial" pitchFamily="34" charset="-122"/>
                <a:cs typeface="Arial" pitchFamily="34" charset="-120"/>
              </a:rPr>
              <a:t>ILMS Knowledge Transfer | Architecture Overview</a:t>
            </a:r>
            <a:endParaRPr lang="en-US" sz="850" dirty="0"/>
          </a:p>
        </p:txBody>
      </p:sp>
      <p:sp>
        <p:nvSpPr>
          <p:cNvPr id="6" name="Text 4"/>
          <p:cNvSpPr/>
          <p:nvPr/>
        </p:nvSpPr>
        <p:spPr>
          <a:xfrm>
            <a:off x="11292840" y="6419088"/>
            <a:ext cx="457200" cy="228600"/>
          </a:xfrm>
          <a:prstGeom prst="rect">
            <a:avLst/>
          </a:prstGeom>
          <a:noFill/>
          <a:ln/>
        </p:spPr>
        <p:txBody>
          <a:bodyPr wrap="square" rtlCol="0" anchor="ctr"/>
          <a:lstStyle/>
          <a:p>
            <a:pPr algn="r" indent="0" marL="0">
              <a:buNone/>
            </a:pPr>
            <a:r>
              <a:rPr lang="en-US" sz="850" dirty="0">
                <a:solidFill>
                  <a:srgbClr val="666666"/>
                </a:solidFill>
              </a:rPr>
              <a:t>20</a:t>
            </a:r>
            <a:endParaRPr lang="en-US" sz="850" dirty="0"/>
          </a:p>
        </p:txBody>
      </p:sp>
      <p:sp>
        <p:nvSpPr>
          <p:cNvPr id="7" name="Text 5"/>
          <p:cNvSpPr/>
          <p:nvPr/>
        </p:nvSpPr>
        <p:spPr>
          <a:xfrm>
            <a:off x="777240" y="1234440"/>
            <a:ext cx="4937760" cy="4206240"/>
          </a:xfrm>
          <a:prstGeom prst="rect">
            <a:avLst/>
          </a:prstGeom>
          <a:noFill/>
          <a:ln/>
        </p:spPr>
        <p:txBody>
          <a:bodyPr wrap="square" lIns="1270" tIns="1270" rIns="1270" bIns="1270" rtlCol="0" anchor="ctr">
            <a:normAutofit/>
          </a:bodyPr>
          <a:lstStyle/>
          <a:p>
            <a:pPr indent="0" marL="0">
              <a:buNone/>
            </a:pPr>
            <a:r>
              <a:rPr lang="en-US" sz="1700" dirty="0">
                <a:solidFill>
                  <a:srgbClr val="333333"/>
                </a:solidFill>
                <a:latin typeface="Courier New" pitchFamily="34" charset="0"/>
                <a:ea typeface="Courier New" pitchFamily="34" charset="-122"/>
                <a:cs typeface="Courier New" pitchFamily="34" charset="-120"/>
              </a:rPr>
              <a:t>src/main/java/…</a:t>
            </a:r>
            <a:endParaRPr lang="en-US" sz="1700" dirty="0"/>
          </a:p>
          <a:p>
            <a:pPr indent="0" marL="0">
              <a:buNone/>
            </a:pPr>
            <a:endParaRPr lang="en-US" sz="1700" dirty="0"/>
          </a:p>
          <a:p>
            <a:pPr indent="0" marL="0">
              <a:buNone/>
            </a:pPr>
            <a:r>
              <a:rPr lang="en-US" sz="1700" dirty="0">
                <a:solidFill>
                  <a:srgbClr val="333333"/>
                </a:solidFill>
                <a:latin typeface="Courier New" pitchFamily="34" charset="0"/>
                <a:ea typeface="Courier New" pitchFamily="34" charset="-122"/>
                <a:cs typeface="Courier New" pitchFamily="34" charset="-120"/>
              </a:rPr>
              <a:t>├── controller / endpoint</a:t>
            </a:r>
            <a:endParaRPr lang="en-US" sz="1700" dirty="0"/>
          </a:p>
          <a:p>
            <a:pPr indent="0" marL="0">
              <a:buNone/>
            </a:pPr>
            <a:r>
              <a:rPr lang="en-US" sz="1700" dirty="0">
                <a:solidFill>
                  <a:srgbClr val="333333"/>
                </a:solidFill>
                <a:latin typeface="Courier New" pitchFamily="34" charset="0"/>
                <a:ea typeface="Courier New" pitchFamily="34" charset="-122"/>
                <a:cs typeface="Courier New" pitchFamily="34" charset="-120"/>
              </a:rPr>
              <a:t>├── service / facade</a:t>
            </a:r>
            <a:endParaRPr lang="en-US" sz="1700" dirty="0"/>
          </a:p>
          <a:p>
            <a:pPr indent="0" marL="0">
              <a:buNone/>
            </a:pPr>
            <a:r>
              <a:rPr lang="en-US" sz="1700" dirty="0">
                <a:solidFill>
                  <a:srgbClr val="333333"/>
                </a:solidFill>
                <a:latin typeface="Courier New" pitchFamily="34" charset="0"/>
                <a:ea typeface="Courier New" pitchFamily="34" charset="-122"/>
                <a:cs typeface="Courier New" pitchFamily="34" charset="-120"/>
              </a:rPr>
              <a:t>├── validation</a:t>
            </a:r>
            <a:endParaRPr lang="en-US" sz="1700" dirty="0"/>
          </a:p>
          <a:p>
            <a:pPr indent="0" marL="0">
              <a:buNone/>
            </a:pPr>
            <a:r>
              <a:rPr lang="en-US" sz="1700" dirty="0">
                <a:solidFill>
                  <a:srgbClr val="333333"/>
                </a:solidFill>
                <a:latin typeface="Courier New" pitchFamily="34" charset="0"/>
                <a:ea typeface="Courier New" pitchFamily="34" charset="-122"/>
                <a:cs typeface="Courier New" pitchFamily="34" charset="-120"/>
              </a:rPr>
              <a:t>├── repository</a:t>
            </a:r>
            <a:endParaRPr lang="en-US" sz="1700" dirty="0"/>
          </a:p>
          <a:p>
            <a:pPr indent="0" marL="0">
              <a:buNone/>
            </a:pPr>
            <a:r>
              <a:rPr lang="en-US" sz="1700" dirty="0">
                <a:solidFill>
                  <a:srgbClr val="333333"/>
                </a:solidFill>
                <a:latin typeface="Courier New" pitchFamily="34" charset="0"/>
                <a:ea typeface="Courier New" pitchFamily="34" charset="-122"/>
                <a:cs typeface="Courier New" pitchFamily="34" charset="-120"/>
              </a:rPr>
              <a:t>├── integration / messaging</a:t>
            </a:r>
            <a:endParaRPr lang="en-US" sz="1700" dirty="0"/>
          </a:p>
          <a:p>
            <a:pPr indent="0" marL="0">
              <a:buNone/>
            </a:pPr>
            <a:r>
              <a:rPr lang="en-US" sz="1700" dirty="0">
                <a:solidFill>
                  <a:srgbClr val="333333"/>
                </a:solidFill>
                <a:latin typeface="Courier New" pitchFamily="34" charset="0"/>
                <a:ea typeface="Courier New" pitchFamily="34" charset="-122"/>
                <a:cs typeface="Courier New" pitchFamily="34" charset="-120"/>
              </a:rPr>
              <a:t>├── adapter / mapper</a:t>
            </a:r>
            <a:endParaRPr lang="en-US" sz="1700" dirty="0"/>
          </a:p>
          <a:p>
            <a:pPr indent="0" marL="0">
              <a:buNone/>
            </a:pPr>
            <a:r>
              <a:rPr lang="en-US" sz="1700" dirty="0">
                <a:solidFill>
                  <a:srgbClr val="333333"/>
                </a:solidFill>
                <a:latin typeface="Courier New" pitchFamily="34" charset="0"/>
                <a:ea typeface="Courier New" pitchFamily="34" charset="-122"/>
                <a:cs typeface="Courier New" pitchFamily="34" charset="-120"/>
              </a:rPr>
              <a:t>├── model / domain</a:t>
            </a:r>
            <a:endParaRPr lang="en-US" sz="1700" dirty="0"/>
          </a:p>
          <a:p>
            <a:pPr indent="0" marL="0">
              <a:buNone/>
            </a:pPr>
            <a:r>
              <a:rPr lang="en-US" sz="1700" dirty="0">
                <a:solidFill>
                  <a:srgbClr val="333333"/>
                </a:solidFill>
                <a:latin typeface="Courier New" pitchFamily="34" charset="0"/>
                <a:ea typeface="Courier New" pitchFamily="34" charset="-122"/>
                <a:cs typeface="Courier New" pitchFamily="34" charset="-120"/>
              </a:rPr>
              <a:t>└── config</a:t>
            </a:r>
            <a:endParaRPr lang="en-US" sz="1700" dirty="0"/>
          </a:p>
        </p:txBody>
      </p:sp>
      <p:sp>
        <p:nvSpPr>
          <p:cNvPr id="8" name="Text 6"/>
          <p:cNvSpPr/>
          <p:nvPr/>
        </p:nvSpPr>
        <p:spPr>
          <a:xfrm>
            <a:off x="6172200" y="1234440"/>
            <a:ext cx="5257800" cy="2377440"/>
          </a:xfrm>
          <a:prstGeom prst="rect">
            <a:avLst/>
          </a:prstGeom>
          <a:noFill/>
          <a:ln/>
        </p:spPr>
        <p:txBody>
          <a:bodyPr wrap="square" lIns="1016" tIns="1016" rIns="1016" bIns="1016" rtlCol="0" anchor="t">
            <a:normAutofit/>
          </a:bodyPr>
          <a:lstStyle/>
          <a:p>
            <a:r>
              <a:rPr lang="en-US" sz="1500" dirty="0">
                <a:solidFill>
                  <a:srgbClr val="333333"/>
                </a:solidFill>
              </a:rPr>
              <a:t>Start with entry points: controllers, endpoints or listeners.</a:t>
            </a:r>
            <a:endParaRPr lang="en-US" sz="1500" dirty="0"/>
          </a:p>
          <a:p>
            <a:r>
              <a:rPr lang="en-US" sz="1500" dirty="0">
                <a:solidFill>
                  <a:srgbClr val="333333"/>
                </a:solidFill>
              </a:rPr>
              <a:t>Move to service/facade layer for business orchestration.</a:t>
            </a:r>
            <a:endParaRPr lang="en-US" sz="1500" dirty="0"/>
          </a:p>
          <a:p>
            <a:r>
              <a:rPr lang="en-US" sz="1500" dirty="0">
                <a:solidFill>
                  <a:srgbClr val="333333"/>
                </a:solidFill>
              </a:rPr>
              <a:t>Show validation rules and shared validation interface.</a:t>
            </a:r>
            <a:endParaRPr lang="en-US" sz="1500" dirty="0"/>
          </a:p>
          <a:p>
            <a:r>
              <a:rPr lang="en-US" sz="1500" dirty="0">
                <a:solidFill>
                  <a:srgbClr val="333333"/>
                </a:solidFill>
              </a:rPr>
              <a:t>Show repositories and key persistence models.</a:t>
            </a:r>
            <a:endParaRPr lang="en-US" sz="1500" dirty="0"/>
          </a:p>
          <a:p>
            <a:r>
              <a:rPr lang="en-US" sz="1500" dirty="0">
                <a:solidFill>
                  <a:srgbClr val="333333"/>
                </a:solidFill>
              </a:rPr>
              <a:t>Finish with integration/configuration points.</a:t>
            </a:r>
            <a:endParaRPr lang="en-US" sz="1500" dirty="0"/>
          </a:p>
        </p:txBody>
      </p:sp>
      <p:sp>
        <p:nvSpPr>
          <p:cNvPr id="9" name="Shape 7"/>
          <p:cNvSpPr/>
          <p:nvPr/>
        </p:nvSpPr>
        <p:spPr>
          <a:xfrm>
            <a:off x="6263640" y="4160520"/>
            <a:ext cx="4937760" cy="1005840"/>
          </a:xfrm>
          <a:prstGeom prst="roundRect">
            <a:avLst>
              <a:gd name="adj" fmla="val 5455"/>
            </a:avLst>
          </a:prstGeom>
          <a:solidFill>
            <a:srgbClr val="FFF3CD"/>
          </a:solidFill>
          <a:ln w="12700">
            <a:solidFill>
              <a:srgbClr val="E0B000"/>
            </a:solidFill>
            <a:prstDash val="solid"/>
          </a:ln>
        </p:spPr>
      </p:sp>
      <p:sp>
        <p:nvSpPr>
          <p:cNvPr id="10" name="Text 8"/>
          <p:cNvSpPr/>
          <p:nvPr/>
        </p:nvSpPr>
        <p:spPr>
          <a:xfrm>
            <a:off x="6373368" y="4288536"/>
            <a:ext cx="4718304" cy="749808"/>
          </a:xfrm>
          <a:prstGeom prst="rect">
            <a:avLst/>
          </a:prstGeom>
          <a:noFill/>
          <a:ln/>
        </p:spPr>
        <p:txBody>
          <a:bodyPr wrap="square" lIns="0" tIns="0" rIns="0" bIns="0" rtlCol="0" anchor="ctr">
            <a:normAutofit/>
          </a:bodyPr>
          <a:lstStyle/>
          <a:p>
            <a:pPr algn="ctr" indent="0" marL="0">
              <a:buNone/>
            </a:pPr>
            <a:r>
              <a:rPr lang="en-US" sz="1200" b="1" dirty="0">
                <a:solidFill>
                  <a:srgbClr val="333333"/>
                </a:solidFill>
              </a:rPr>
              <a:t>Suggested opening line</a:t>
            </a:r>
            <a:endParaRPr lang="en-US" sz="1200" dirty="0"/>
          </a:p>
          <a:p>
            <a:pPr algn="ctr" indent="0" marL="0">
              <a:buNone/>
            </a:pPr>
            <a:endParaRPr lang="en-US" sz="1200" dirty="0"/>
          </a:p>
          <a:p>
            <a:pPr algn="ctr" indent="0" marL="0">
              <a:buNone/>
            </a:pPr>
            <a:r>
              <a:rPr lang="en-US" sz="1200" b="1" dirty="0">
                <a:solidFill>
                  <a:srgbClr val="333333"/>
                </a:solidFill>
              </a:rPr>
              <a:t>“I will not go line-by-line today. The aim is to show where responsibilities live, so the next session can go deeper.”</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0972800" cy="384048"/>
          </a:xfrm>
          <a:prstGeom prst="rect">
            <a:avLst/>
          </a:prstGeom>
          <a:noFill/>
          <a:ln/>
        </p:spPr>
        <p:txBody>
          <a:bodyPr wrap="square" lIns="0" tIns="0" rIns="0" bIns="0" rtlCol="0" anchor="ctr"/>
          <a:lstStyle/>
          <a:p>
            <a:pPr indent="0" marL="0">
              <a:buNone/>
            </a:pPr>
            <a:r>
              <a:rPr lang="en-US" sz="2600" b="1" dirty="0">
                <a:solidFill>
                  <a:srgbClr val="003366"/>
                </a:solidFill>
                <a:latin typeface="Arial" pitchFamily="34" charset="0"/>
                <a:ea typeface="Arial" pitchFamily="34" charset="-122"/>
                <a:cs typeface="Arial" pitchFamily="34" charset="-120"/>
              </a:rPr>
              <a:t>Typical Request Journey</a:t>
            </a:r>
            <a:endParaRPr lang="en-US" sz="2600" dirty="0"/>
          </a:p>
        </p:txBody>
      </p:sp>
      <p:sp>
        <p:nvSpPr>
          <p:cNvPr id="3" name="Text 1"/>
          <p:cNvSpPr/>
          <p:nvPr/>
        </p:nvSpPr>
        <p:spPr>
          <a:xfrm>
            <a:off x="521208" y="749808"/>
            <a:ext cx="10515600" cy="228600"/>
          </a:xfrm>
          <a:prstGeom prst="rect">
            <a:avLst/>
          </a:prstGeom>
          <a:noFill/>
          <a:ln/>
        </p:spPr>
        <p:txBody>
          <a:bodyPr wrap="square" lIns="0" tIns="0" rIns="0" bIns="0" rtlCol="0" anchor="ctr"/>
          <a:lstStyle/>
          <a:p>
            <a:pPr indent="0" marL="0">
              <a:buNone/>
            </a:pPr>
            <a:r>
              <a:rPr lang="en-US" sz="1050" dirty="0">
                <a:solidFill>
                  <a:srgbClr val="666666"/>
                </a:solidFill>
              </a:rPr>
              <a:t>How to trace a request through the code</a:t>
            </a:r>
            <a:endParaRPr lang="en-US" sz="1050" dirty="0"/>
          </a:p>
        </p:txBody>
      </p:sp>
      <p:sp>
        <p:nvSpPr>
          <p:cNvPr id="4" name="Shape 2"/>
          <p:cNvSpPr/>
          <p:nvPr/>
        </p:nvSpPr>
        <p:spPr>
          <a:xfrm>
            <a:off x="457200" y="6355080"/>
            <a:ext cx="11274552" cy="0"/>
          </a:xfrm>
          <a:prstGeom prst="line">
            <a:avLst/>
          </a:prstGeom>
          <a:noFill/>
          <a:ln w="8890">
            <a:solidFill>
              <a:srgbClr val="D9DEE3"/>
            </a:solidFill>
            <a:prstDash val="solid"/>
          </a:ln>
        </p:spPr>
      </p:sp>
      <p:sp>
        <p:nvSpPr>
          <p:cNvPr id="5" name="Text 3"/>
          <p:cNvSpPr/>
          <p:nvPr/>
        </p:nvSpPr>
        <p:spPr>
          <a:xfrm>
            <a:off x="457200" y="6419088"/>
            <a:ext cx="7315200" cy="228600"/>
          </a:xfrm>
          <a:prstGeom prst="rect">
            <a:avLst/>
          </a:prstGeom>
          <a:noFill/>
          <a:ln/>
        </p:spPr>
        <p:txBody>
          <a:bodyPr wrap="square" rtlCol="0" anchor="ctr"/>
          <a:lstStyle/>
          <a:p>
            <a:pPr indent="0" marL="0">
              <a:buNone/>
            </a:pPr>
            <a:r>
              <a:rPr lang="en-US" sz="850" dirty="0">
                <a:solidFill>
                  <a:srgbClr val="666666"/>
                </a:solidFill>
                <a:latin typeface="Arial" pitchFamily="34" charset="0"/>
                <a:ea typeface="Arial" pitchFamily="34" charset="-122"/>
                <a:cs typeface="Arial" pitchFamily="34" charset="-120"/>
              </a:rPr>
              <a:t>ILMS Knowledge Transfer | Architecture Overview</a:t>
            </a:r>
            <a:endParaRPr lang="en-US" sz="850" dirty="0"/>
          </a:p>
        </p:txBody>
      </p:sp>
      <p:sp>
        <p:nvSpPr>
          <p:cNvPr id="6" name="Text 4"/>
          <p:cNvSpPr/>
          <p:nvPr/>
        </p:nvSpPr>
        <p:spPr>
          <a:xfrm>
            <a:off x="11292840" y="6419088"/>
            <a:ext cx="457200" cy="228600"/>
          </a:xfrm>
          <a:prstGeom prst="rect">
            <a:avLst/>
          </a:prstGeom>
          <a:noFill/>
          <a:ln/>
        </p:spPr>
        <p:txBody>
          <a:bodyPr wrap="square" rtlCol="0" anchor="ctr"/>
          <a:lstStyle/>
          <a:p>
            <a:pPr algn="r" indent="0" marL="0">
              <a:buNone/>
            </a:pPr>
            <a:r>
              <a:rPr lang="en-US" sz="850" dirty="0">
                <a:solidFill>
                  <a:srgbClr val="666666"/>
                </a:solidFill>
              </a:rPr>
              <a:t>21</a:t>
            </a:r>
            <a:endParaRPr lang="en-US" sz="850" dirty="0"/>
          </a:p>
        </p:txBody>
      </p:sp>
      <p:sp>
        <p:nvSpPr>
          <p:cNvPr id="7" name="Shape 5"/>
          <p:cNvSpPr/>
          <p:nvPr/>
        </p:nvSpPr>
        <p:spPr>
          <a:xfrm>
            <a:off x="685800" y="2148840"/>
            <a:ext cx="1051560" cy="685800"/>
          </a:xfrm>
          <a:prstGeom prst="roundRect">
            <a:avLst>
              <a:gd name="adj" fmla="val 8000"/>
            </a:avLst>
          </a:prstGeom>
          <a:solidFill>
            <a:srgbClr val="E9F5EB"/>
          </a:solidFill>
          <a:ln w="12700">
            <a:solidFill>
              <a:srgbClr val="1F5E99"/>
            </a:solidFill>
            <a:prstDash val="solid"/>
          </a:ln>
        </p:spPr>
      </p:sp>
      <p:sp>
        <p:nvSpPr>
          <p:cNvPr id="8" name="Text 6"/>
          <p:cNvSpPr/>
          <p:nvPr/>
        </p:nvSpPr>
        <p:spPr>
          <a:xfrm>
            <a:off x="795528" y="2276856"/>
            <a:ext cx="832104" cy="429768"/>
          </a:xfrm>
          <a:prstGeom prst="rect">
            <a:avLst/>
          </a:prstGeom>
          <a:noFill/>
          <a:ln/>
        </p:spPr>
        <p:txBody>
          <a:bodyPr wrap="square" lIns="0" tIns="0" rIns="0" bIns="0" rtlCol="0" anchor="ctr">
            <a:normAutofit/>
          </a:bodyPr>
          <a:lstStyle/>
          <a:p>
            <a:pPr algn="ctr" indent="0" marL="0">
              <a:buNone/>
            </a:pPr>
            <a:r>
              <a:rPr lang="en-US" sz="950" b="1" dirty="0">
                <a:solidFill>
                  <a:srgbClr val="333333"/>
                </a:solidFill>
              </a:rPr>
              <a:t>Request</a:t>
            </a:r>
            <a:endParaRPr lang="en-US" sz="950" dirty="0"/>
          </a:p>
        </p:txBody>
      </p:sp>
      <p:sp>
        <p:nvSpPr>
          <p:cNvPr id="9" name="Shape 7"/>
          <p:cNvSpPr/>
          <p:nvPr/>
        </p:nvSpPr>
        <p:spPr>
          <a:xfrm>
            <a:off x="1737360" y="2487168"/>
            <a:ext cx="365760" cy="0"/>
          </a:xfrm>
          <a:prstGeom prst="line">
            <a:avLst/>
          </a:prstGeom>
          <a:noFill/>
          <a:ln w="22860">
            <a:solidFill>
              <a:srgbClr val="1F5E99"/>
            </a:solidFill>
            <a:prstDash val="solid"/>
            <a:headEnd type="none"/>
            <a:tailEnd type="triangle"/>
          </a:ln>
        </p:spPr>
      </p:sp>
      <p:sp>
        <p:nvSpPr>
          <p:cNvPr id="10" name="Shape 8"/>
          <p:cNvSpPr/>
          <p:nvPr/>
        </p:nvSpPr>
        <p:spPr>
          <a:xfrm>
            <a:off x="2103120" y="2148840"/>
            <a:ext cx="1051560" cy="685800"/>
          </a:xfrm>
          <a:prstGeom prst="roundRect">
            <a:avLst>
              <a:gd name="adj" fmla="val 8000"/>
            </a:avLst>
          </a:prstGeom>
          <a:solidFill>
            <a:srgbClr val="F3F8FC"/>
          </a:solidFill>
          <a:ln w="12700">
            <a:solidFill>
              <a:srgbClr val="1F5E99"/>
            </a:solidFill>
            <a:prstDash val="solid"/>
          </a:ln>
        </p:spPr>
      </p:sp>
      <p:sp>
        <p:nvSpPr>
          <p:cNvPr id="11" name="Text 9"/>
          <p:cNvSpPr/>
          <p:nvPr/>
        </p:nvSpPr>
        <p:spPr>
          <a:xfrm>
            <a:off x="2212848" y="2276856"/>
            <a:ext cx="832104" cy="429768"/>
          </a:xfrm>
          <a:prstGeom prst="rect">
            <a:avLst/>
          </a:prstGeom>
          <a:noFill/>
          <a:ln/>
        </p:spPr>
        <p:txBody>
          <a:bodyPr wrap="square" lIns="0" tIns="0" rIns="0" bIns="0" rtlCol="0" anchor="ctr">
            <a:normAutofit/>
          </a:bodyPr>
          <a:lstStyle/>
          <a:p>
            <a:pPr algn="ctr" indent="0" marL="0">
              <a:buNone/>
            </a:pPr>
            <a:r>
              <a:rPr lang="en-US" sz="950" b="1" dirty="0">
                <a:solidFill>
                  <a:srgbClr val="333333"/>
                </a:solidFill>
              </a:rPr>
              <a:t>Controller</a:t>
            </a:r>
            <a:endParaRPr lang="en-US" sz="950" dirty="0"/>
          </a:p>
          <a:p>
            <a:pPr algn="ctr" indent="0" marL="0">
              <a:buNone/>
            </a:pPr>
            <a:r>
              <a:rPr lang="en-US" sz="950" b="1" dirty="0">
                <a:solidFill>
                  <a:srgbClr val="333333"/>
                </a:solidFill>
              </a:rPr>
              <a:t>/ Listener</a:t>
            </a:r>
            <a:endParaRPr lang="en-US" sz="950" dirty="0"/>
          </a:p>
        </p:txBody>
      </p:sp>
      <p:sp>
        <p:nvSpPr>
          <p:cNvPr id="12" name="Shape 10"/>
          <p:cNvSpPr/>
          <p:nvPr/>
        </p:nvSpPr>
        <p:spPr>
          <a:xfrm>
            <a:off x="3154680" y="2487168"/>
            <a:ext cx="365760" cy="0"/>
          </a:xfrm>
          <a:prstGeom prst="line">
            <a:avLst/>
          </a:prstGeom>
          <a:noFill/>
          <a:ln w="22860">
            <a:solidFill>
              <a:srgbClr val="1F5E99"/>
            </a:solidFill>
            <a:prstDash val="solid"/>
            <a:headEnd type="none"/>
            <a:tailEnd type="triangle"/>
          </a:ln>
        </p:spPr>
      </p:sp>
      <p:sp>
        <p:nvSpPr>
          <p:cNvPr id="13" name="Shape 11"/>
          <p:cNvSpPr/>
          <p:nvPr/>
        </p:nvSpPr>
        <p:spPr>
          <a:xfrm>
            <a:off x="3520440" y="2148840"/>
            <a:ext cx="1051560" cy="685800"/>
          </a:xfrm>
          <a:prstGeom prst="roundRect">
            <a:avLst>
              <a:gd name="adj" fmla="val 8000"/>
            </a:avLst>
          </a:prstGeom>
          <a:solidFill>
            <a:srgbClr val="F3F8FC"/>
          </a:solidFill>
          <a:ln w="12700">
            <a:solidFill>
              <a:srgbClr val="1F5E99"/>
            </a:solidFill>
            <a:prstDash val="solid"/>
          </a:ln>
        </p:spPr>
      </p:sp>
      <p:sp>
        <p:nvSpPr>
          <p:cNvPr id="14" name="Text 12"/>
          <p:cNvSpPr/>
          <p:nvPr/>
        </p:nvSpPr>
        <p:spPr>
          <a:xfrm>
            <a:off x="3630168" y="2276856"/>
            <a:ext cx="832104" cy="429768"/>
          </a:xfrm>
          <a:prstGeom prst="rect">
            <a:avLst/>
          </a:prstGeom>
          <a:noFill/>
          <a:ln/>
        </p:spPr>
        <p:txBody>
          <a:bodyPr wrap="square" lIns="0" tIns="0" rIns="0" bIns="0" rtlCol="0" anchor="ctr">
            <a:normAutofit/>
          </a:bodyPr>
          <a:lstStyle/>
          <a:p>
            <a:pPr algn="ctr" indent="0" marL="0">
              <a:buNone/>
            </a:pPr>
            <a:r>
              <a:rPr lang="en-US" sz="950" b="1" dirty="0">
                <a:solidFill>
                  <a:srgbClr val="333333"/>
                </a:solidFill>
              </a:rPr>
              <a:t>Service</a:t>
            </a:r>
            <a:endParaRPr lang="en-US" sz="950" dirty="0"/>
          </a:p>
        </p:txBody>
      </p:sp>
      <p:sp>
        <p:nvSpPr>
          <p:cNvPr id="15" name="Shape 13"/>
          <p:cNvSpPr/>
          <p:nvPr/>
        </p:nvSpPr>
        <p:spPr>
          <a:xfrm>
            <a:off x="4572000" y="2487168"/>
            <a:ext cx="365760" cy="0"/>
          </a:xfrm>
          <a:prstGeom prst="line">
            <a:avLst/>
          </a:prstGeom>
          <a:noFill/>
          <a:ln w="22860">
            <a:solidFill>
              <a:srgbClr val="1F5E99"/>
            </a:solidFill>
            <a:prstDash val="solid"/>
            <a:headEnd type="none"/>
            <a:tailEnd type="triangle"/>
          </a:ln>
        </p:spPr>
      </p:sp>
      <p:sp>
        <p:nvSpPr>
          <p:cNvPr id="16" name="Shape 14"/>
          <p:cNvSpPr/>
          <p:nvPr/>
        </p:nvSpPr>
        <p:spPr>
          <a:xfrm>
            <a:off x="4937760" y="2148840"/>
            <a:ext cx="1051560" cy="685800"/>
          </a:xfrm>
          <a:prstGeom prst="roundRect">
            <a:avLst>
              <a:gd name="adj" fmla="val 8000"/>
            </a:avLst>
          </a:prstGeom>
          <a:solidFill>
            <a:srgbClr val="F3F8FC"/>
          </a:solidFill>
          <a:ln w="12700">
            <a:solidFill>
              <a:srgbClr val="1F5E99"/>
            </a:solidFill>
            <a:prstDash val="solid"/>
          </a:ln>
        </p:spPr>
      </p:sp>
      <p:sp>
        <p:nvSpPr>
          <p:cNvPr id="17" name="Text 15"/>
          <p:cNvSpPr/>
          <p:nvPr/>
        </p:nvSpPr>
        <p:spPr>
          <a:xfrm>
            <a:off x="5047488" y="2276856"/>
            <a:ext cx="832104" cy="429768"/>
          </a:xfrm>
          <a:prstGeom prst="rect">
            <a:avLst/>
          </a:prstGeom>
          <a:noFill/>
          <a:ln/>
        </p:spPr>
        <p:txBody>
          <a:bodyPr wrap="square" lIns="0" tIns="0" rIns="0" bIns="0" rtlCol="0" anchor="ctr">
            <a:normAutofit/>
          </a:bodyPr>
          <a:lstStyle/>
          <a:p>
            <a:pPr algn="ctr" indent="0" marL="0">
              <a:buNone/>
            </a:pPr>
            <a:r>
              <a:rPr lang="en-US" sz="950" b="1" dirty="0">
                <a:solidFill>
                  <a:srgbClr val="333333"/>
                </a:solidFill>
              </a:rPr>
              <a:t>Validation</a:t>
            </a:r>
            <a:endParaRPr lang="en-US" sz="950" dirty="0"/>
          </a:p>
        </p:txBody>
      </p:sp>
      <p:sp>
        <p:nvSpPr>
          <p:cNvPr id="18" name="Shape 16"/>
          <p:cNvSpPr/>
          <p:nvPr/>
        </p:nvSpPr>
        <p:spPr>
          <a:xfrm>
            <a:off x="5989320" y="2487168"/>
            <a:ext cx="365760" cy="0"/>
          </a:xfrm>
          <a:prstGeom prst="line">
            <a:avLst/>
          </a:prstGeom>
          <a:noFill/>
          <a:ln w="22860">
            <a:solidFill>
              <a:srgbClr val="1F5E99"/>
            </a:solidFill>
            <a:prstDash val="solid"/>
            <a:headEnd type="none"/>
            <a:tailEnd type="triangle"/>
          </a:ln>
        </p:spPr>
      </p:sp>
      <p:sp>
        <p:nvSpPr>
          <p:cNvPr id="19" name="Shape 17"/>
          <p:cNvSpPr/>
          <p:nvPr/>
        </p:nvSpPr>
        <p:spPr>
          <a:xfrm>
            <a:off x="6355080" y="2148840"/>
            <a:ext cx="1051560" cy="685800"/>
          </a:xfrm>
          <a:prstGeom prst="roundRect">
            <a:avLst>
              <a:gd name="adj" fmla="val 8000"/>
            </a:avLst>
          </a:prstGeom>
          <a:solidFill>
            <a:srgbClr val="F3F8FC"/>
          </a:solidFill>
          <a:ln w="12700">
            <a:solidFill>
              <a:srgbClr val="1F5E99"/>
            </a:solidFill>
            <a:prstDash val="solid"/>
          </a:ln>
        </p:spPr>
      </p:sp>
      <p:sp>
        <p:nvSpPr>
          <p:cNvPr id="20" name="Text 18"/>
          <p:cNvSpPr/>
          <p:nvPr/>
        </p:nvSpPr>
        <p:spPr>
          <a:xfrm>
            <a:off x="6464808" y="2276856"/>
            <a:ext cx="832104" cy="429768"/>
          </a:xfrm>
          <a:prstGeom prst="rect">
            <a:avLst/>
          </a:prstGeom>
          <a:noFill/>
          <a:ln/>
        </p:spPr>
        <p:txBody>
          <a:bodyPr wrap="square" lIns="0" tIns="0" rIns="0" bIns="0" rtlCol="0" anchor="ctr">
            <a:normAutofit/>
          </a:bodyPr>
          <a:lstStyle/>
          <a:p>
            <a:pPr algn="ctr" indent="0" marL="0">
              <a:buNone/>
            </a:pPr>
            <a:r>
              <a:rPr lang="en-US" sz="950" b="1" dirty="0">
                <a:solidFill>
                  <a:srgbClr val="333333"/>
                </a:solidFill>
              </a:rPr>
              <a:t>Repository</a:t>
            </a:r>
            <a:endParaRPr lang="en-US" sz="950" dirty="0"/>
          </a:p>
        </p:txBody>
      </p:sp>
      <p:sp>
        <p:nvSpPr>
          <p:cNvPr id="21" name="Shape 19"/>
          <p:cNvSpPr/>
          <p:nvPr/>
        </p:nvSpPr>
        <p:spPr>
          <a:xfrm>
            <a:off x="7406640" y="2487168"/>
            <a:ext cx="365760" cy="0"/>
          </a:xfrm>
          <a:prstGeom prst="line">
            <a:avLst/>
          </a:prstGeom>
          <a:noFill/>
          <a:ln w="22860">
            <a:solidFill>
              <a:srgbClr val="1F5E99"/>
            </a:solidFill>
            <a:prstDash val="solid"/>
            <a:headEnd type="none"/>
            <a:tailEnd type="triangle"/>
          </a:ln>
        </p:spPr>
      </p:sp>
      <p:sp>
        <p:nvSpPr>
          <p:cNvPr id="22" name="Shape 20"/>
          <p:cNvSpPr/>
          <p:nvPr/>
        </p:nvSpPr>
        <p:spPr>
          <a:xfrm>
            <a:off x="7772400" y="2148840"/>
            <a:ext cx="1051560" cy="685800"/>
          </a:xfrm>
          <a:prstGeom prst="roundRect">
            <a:avLst>
              <a:gd name="adj" fmla="val 8000"/>
            </a:avLst>
          </a:prstGeom>
          <a:solidFill>
            <a:srgbClr val="F3F8FC"/>
          </a:solidFill>
          <a:ln w="12700">
            <a:solidFill>
              <a:srgbClr val="1F5E99"/>
            </a:solidFill>
            <a:prstDash val="solid"/>
          </a:ln>
        </p:spPr>
      </p:sp>
      <p:sp>
        <p:nvSpPr>
          <p:cNvPr id="23" name="Text 21"/>
          <p:cNvSpPr/>
          <p:nvPr/>
        </p:nvSpPr>
        <p:spPr>
          <a:xfrm>
            <a:off x="7882128" y="2276856"/>
            <a:ext cx="832104" cy="429768"/>
          </a:xfrm>
          <a:prstGeom prst="rect">
            <a:avLst/>
          </a:prstGeom>
          <a:noFill/>
          <a:ln/>
        </p:spPr>
        <p:txBody>
          <a:bodyPr wrap="square" lIns="0" tIns="0" rIns="0" bIns="0" rtlCol="0" anchor="ctr">
            <a:normAutofit/>
          </a:bodyPr>
          <a:lstStyle/>
          <a:p>
            <a:pPr algn="ctr" indent="0" marL="0">
              <a:buNone/>
            </a:pPr>
            <a:r>
              <a:rPr lang="en-US" sz="950" b="1" dirty="0">
                <a:solidFill>
                  <a:srgbClr val="333333"/>
                </a:solidFill>
              </a:rPr>
              <a:t>Database</a:t>
            </a:r>
            <a:endParaRPr lang="en-US" sz="950" dirty="0"/>
          </a:p>
        </p:txBody>
      </p:sp>
      <p:sp>
        <p:nvSpPr>
          <p:cNvPr id="24" name="Shape 22"/>
          <p:cNvSpPr/>
          <p:nvPr/>
        </p:nvSpPr>
        <p:spPr>
          <a:xfrm>
            <a:off x="8823960" y="2487168"/>
            <a:ext cx="365760" cy="0"/>
          </a:xfrm>
          <a:prstGeom prst="line">
            <a:avLst/>
          </a:prstGeom>
          <a:noFill/>
          <a:ln w="22860">
            <a:solidFill>
              <a:srgbClr val="1F5E99"/>
            </a:solidFill>
            <a:prstDash val="solid"/>
            <a:headEnd type="none"/>
            <a:tailEnd type="triangle"/>
          </a:ln>
        </p:spPr>
      </p:sp>
      <p:sp>
        <p:nvSpPr>
          <p:cNvPr id="25" name="Shape 23"/>
          <p:cNvSpPr/>
          <p:nvPr/>
        </p:nvSpPr>
        <p:spPr>
          <a:xfrm>
            <a:off x="9189720" y="2148840"/>
            <a:ext cx="1051560" cy="685800"/>
          </a:xfrm>
          <a:prstGeom prst="roundRect">
            <a:avLst>
              <a:gd name="adj" fmla="val 8000"/>
            </a:avLst>
          </a:prstGeom>
          <a:solidFill>
            <a:srgbClr val="F3F8FC"/>
          </a:solidFill>
          <a:ln w="12700">
            <a:solidFill>
              <a:srgbClr val="1F5E99"/>
            </a:solidFill>
            <a:prstDash val="solid"/>
          </a:ln>
        </p:spPr>
      </p:sp>
      <p:sp>
        <p:nvSpPr>
          <p:cNvPr id="26" name="Text 24"/>
          <p:cNvSpPr/>
          <p:nvPr/>
        </p:nvSpPr>
        <p:spPr>
          <a:xfrm>
            <a:off x="9299448" y="2276856"/>
            <a:ext cx="832104" cy="429768"/>
          </a:xfrm>
          <a:prstGeom prst="rect">
            <a:avLst/>
          </a:prstGeom>
          <a:noFill/>
          <a:ln/>
        </p:spPr>
        <p:txBody>
          <a:bodyPr wrap="square" lIns="0" tIns="0" rIns="0" bIns="0" rtlCol="0" anchor="ctr">
            <a:normAutofit/>
          </a:bodyPr>
          <a:lstStyle/>
          <a:p>
            <a:pPr algn="ctr" indent="0" marL="0">
              <a:buNone/>
            </a:pPr>
            <a:r>
              <a:rPr lang="en-US" sz="950" b="1" dirty="0">
                <a:solidFill>
                  <a:srgbClr val="333333"/>
                </a:solidFill>
              </a:rPr>
              <a:t>Mapper</a:t>
            </a:r>
            <a:endParaRPr lang="en-US" sz="950" dirty="0"/>
          </a:p>
        </p:txBody>
      </p:sp>
      <p:sp>
        <p:nvSpPr>
          <p:cNvPr id="27" name="Shape 25"/>
          <p:cNvSpPr/>
          <p:nvPr/>
        </p:nvSpPr>
        <p:spPr>
          <a:xfrm>
            <a:off x="10241280" y="2487168"/>
            <a:ext cx="365760" cy="0"/>
          </a:xfrm>
          <a:prstGeom prst="line">
            <a:avLst/>
          </a:prstGeom>
          <a:noFill/>
          <a:ln w="22860">
            <a:solidFill>
              <a:srgbClr val="1F5E99"/>
            </a:solidFill>
            <a:prstDash val="solid"/>
            <a:headEnd type="none"/>
            <a:tailEnd type="triangle"/>
          </a:ln>
        </p:spPr>
      </p:sp>
      <p:sp>
        <p:nvSpPr>
          <p:cNvPr id="28" name="Shape 26"/>
          <p:cNvSpPr/>
          <p:nvPr/>
        </p:nvSpPr>
        <p:spPr>
          <a:xfrm>
            <a:off x="10607040" y="2148840"/>
            <a:ext cx="1051560" cy="685800"/>
          </a:xfrm>
          <a:prstGeom prst="roundRect">
            <a:avLst>
              <a:gd name="adj" fmla="val 8000"/>
            </a:avLst>
          </a:prstGeom>
          <a:solidFill>
            <a:srgbClr val="E9F5EB"/>
          </a:solidFill>
          <a:ln w="12700">
            <a:solidFill>
              <a:srgbClr val="1F5E99"/>
            </a:solidFill>
            <a:prstDash val="solid"/>
          </a:ln>
        </p:spPr>
      </p:sp>
      <p:sp>
        <p:nvSpPr>
          <p:cNvPr id="29" name="Text 27"/>
          <p:cNvSpPr/>
          <p:nvPr/>
        </p:nvSpPr>
        <p:spPr>
          <a:xfrm>
            <a:off x="10716768" y="2276856"/>
            <a:ext cx="832104" cy="429768"/>
          </a:xfrm>
          <a:prstGeom prst="rect">
            <a:avLst/>
          </a:prstGeom>
          <a:noFill/>
          <a:ln/>
        </p:spPr>
        <p:txBody>
          <a:bodyPr wrap="square" lIns="0" tIns="0" rIns="0" bIns="0" rtlCol="0" anchor="ctr">
            <a:normAutofit/>
          </a:bodyPr>
          <a:lstStyle/>
          <a:p>
            <a:pPr algn="ctr" indent="0" marL="0">
              <a:buNone/>
            </a:pPr>
            <a:r>
              <a:rPr lang="en-US" sz="950" b="1" dirty="0">
                <a:solidFill>
                  <a:srgbClr val="333333"/>
                </a:solidFill>
              </a:rPr>
              <a:t>Response</a:t>
            </a:r>
            <a:endParaRPr lang="en-US" sz="950" dirty="0"/>
          </a:p>
        </p:txBody>
      </p:sp>
      <p:sp>
        <p:nvSpPr>
          <p:cNvPr id="30" name="Text 28"/>
          <p:cNvSpPr/>
          <p:nvPr/>
        </p:nvSpPr>
        <p:spPr>
          <a:xfrm>
            <a:off x="960120" y="3794760"/>
            <a:ext cx="10149840" cy="1143000"/>
          </a:xfrm>
          <a:prstGeom prst="rect">
            <a:avLst/>
          </a:prstGeom>
          <a:noFill/>
          <a:ln/>
        </p:spPr>
        <p:txBody>
          <a:bodyPr wrap="square" lIns="1016" tIns="1016" rIns="1016" bIns="1016" rtlCol="0" anchor="t">
            <a:normAutofit/>
          </a:bodyPr>
          <a:lstStyle/>
          <a:p>
            <a:r>
              <a:rPr lang="en-US" sz="1600" dirty="0">
                <a:solidFill>
                  <a:srgbClr val="333333"/>
                </a:solidFill>
              </a:rPr>
              <a:t>Use this path when explaining either REST or MQ processing.</a:t>
            </a:r>
            <a:endParaRPr lang="en-US" sz="1600" dirty="0"/>
          </a:p>
          <a:p>
            <a:r>
              <a:rPr lang="en-US" sz="1600" dirty="0">
                <a:solidFill>
                  <a:srgbClr val="333333"/>
                </a:solidFill>
              </a:rPr>
              <a:t>Identify the request object and response object first.</a:t>
            </a:r>
            <a:endParaRPr lang="en-US" sz="1600" dirty="0"/>
          </a:p>
          <a:p>
            <a:r>
              <a:rPr lang="en-US" sz="1600" dirty="0">
                <a:solidFill>
                  <a:srgbClr val="333333"/>
                </a:solidFill>
              </a:rPr>
              <a:t>Then locate validation and persistence behaviour.</a:t>
            </a:r>
            <a:endParaRPr lang="en-US" sz="1600" dirty="0"/>
          </a:p>
          <a:p>
            <a:r>
              <a:rPr lang="en-US" sz="1600" dirty="0">
                <a:solidFill>
                  <a:srgbClr val="333333"/>
                </a:solidFill>
              </a:rPr>
              <a:t>Finally check integration and error handling paths.</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0972800" cy="384048"/>
          </a:xfrm>
          <a:prstGeom prst="rect">
            <a:avLst/>
          </a:prstGeom>
          <a:noFill/>
          <a:ln/>
        </p:spPr>
        <p:txBody>
          <a:bodyPr wrap="square" lIns="0" tIns="0" rIns="0" bIns="0" rtlCol="0" anchor="ctr"/>
          <a:lstStyle/>
          <a:p>
            <a:pPr indent="0" marL="0">
              <a:buNone/>
            </a:pPr>
            <a:r>
              <a:rPr lang="en-US" sz="2600" b="1" dirty="0">
                <a:solidFill>
                  <a:srgbClr val="003366"/>
                </a:solidFill>
                <a:latin typeface="Arial" pitchFamily="34" charset="0"/>
                <a:ea typeface="Arial" pitchFamily="34" charset="-122"/>
                <a:cs typeface="Arial" pitchFamily="34" charset="-120"/>
              </a:rPr>
              <a:t>Support and Debugging Checklist</a:t>
            </a:r>
            <a:endParaRPr lang="en-US" sz="2600" dirty="0"/>
          </a:p>
        </p:txBody>
      </p:sp>
      <p:sp>
        <p:nvSpPr>
          <p:cNvPr id="3" name="Text 1"/>
          <p:cNvSpPr/>
          <p:nvPr/>
        </p:nvSpPr>
        <p:spPr>
          <a:xfrm>
            <a:off x="521208" y="749808"/>
            <a:ext cx="10515600" cy="228600"/>
          </a:xfrm>
          <a:prstGeom prst="rect">
            <a:avLst/>
          </a:prstGeom>
          <a:noFill/>
          <a:ln/>
        </p:spPr>
        <p:txBody>
          <a:bodyPr wrap="square" lIns="0" tIns="0" rIns="0" bIns="0" rtlCol="0" anchor="ctr"/>
          <a:lstStyle/>
          <a:p>
            <a:pPr indent="0" marL="0">
              <a:buNone/>
            </a:pPr>
            <a:r>
              <a:rPr lang="en-US" sz="1050" dirty="0">
                <a:solidFill>
                  <a:srgbClr val="666666"/>
                </a:solidFill>
              </a:rPr>
              <a:t>Where to start when something goes wrong</a:t>
            </a:r>
            <a:endParaRPr lang="en-US" sz="1050" dirty="0"/>
          </a:p>
        </p:txBody>
      </p:sp>
      <p:sp>
        <p:nvSpPr>
          <p:cNvPr id="4" name="Shape 2"/>
          <p:cNvSpPr/>
          <p:nvPr/>
        </p:nvSpPr>
        <p:spPr>
          <a:xfrm>
            <a:off x="457200" y="6355080"/>
            <a:ext cx="11274552" cy="0"/>
          </a:xfrm>
          <a:prstGeom prst="line">
            <a:avLst/>
          </a:prstGeom>
          <a:noFill/>
          <a:ln w="8890">
            <a:solidFill>
              <a:srgbClr val="D9DEE3"/>
            </a:solidFill>
            <a:prstDash val="solid"/>
          </a:ln>
        </p:spPr>
      </p:sp>
      <p:sp>
        <p:nvSpPr>
          <p:cNvPr id="5" name="Text 3"/>
          <p:cNvSpPr/>
          <p:nvPr/>
        </p:nvSpPr>
        <p:spPr>
          <a:xfrm>
            <a:off x="457200" y="6419088"/>
            <a:ext cx="7315200" cy="228600"/>
          </a:xfrm>
          <a:prstGeom prst="rect">
            <a:avLst/>
          </a:prstGeom>
          <a:noFill/>
          <a:ln/>
        </p:spPr>
        <p:txBody>
          <a:bodyPr wrap="square" rtlCol="0" anchor="ctr"/>
          <a:lstStyle/>
          <a:p>
            <a:pPr indent="0" marL="0">
              <a:buNone/>
            </a:pPr>
            <a:r>
              <a:rPr lang="en-US" sz="850" dirty="0">
                <a:solidFill>
                  <a:srgbClr val="666666"/>
                </a:solidFill>
                <a:latin typeface="Arial" pitchFamily="34" charset="0"/>
                <a:ea typeface="Arial" pitchFamily="34" charset="-122"/>
                <a:cs typeface="Arial" pitchFamily="34" charset="-120"/>
              </a:rPr>
              <a:t>ILMS Knowledge Transfer | Architecture Overview</a:t>
            </a:r>
            <a:endParaRPr lang="en-US" sz="850" dirty="0"/>
          </a:p>
        </p:txBody>
      </p:sp>
      <p:sp>
        <p:nvSpPr>
          <p:cNvPr id="6" name="Text 4"/>
          <p:cNvSpPr/>
          <p:nvPr/>
        </p:nvSpPr>
        <p:spPr>
          <a:xfrm>
            <a:off x="11292840" y="6419088"/>
            <a:ext cx="457200" cy="228600"/>
          </a:xfrm>
          <a:prstGeom prst="rect">
            <a:avLst/>
          </a:prstGeom>
          <a:noFill/>
          <a:ln/>
        </p:spPr>
        <p:txBody>
          <a:bodyPr wrap="square" rtlCol="0" anchor="ctr"/>
          <a:lstStyle/>
          <a:p>
            <a:pPr algn="r" indent="0" marL="0">
              <a:buNone/>
            </a:pPr>
            <a:r>
              <a:rPr lang="en-US" sz="850" dirty="0">
                <a:solidFill>
                  <a:srgbClr val="666666"/>
                </a:solidFill>
              </a:rPr>
              <a:t>22</a:t>
            </a:r>
            <a:endParaRPr lang="en-US" sz="850" dirty="0"/>
          </a:p>
        </p:txBody>
      </p:sp>
      <p:sp>
        <p:nvSpPr>
          <p:cNvPr id="7" name="Shape 5"/>
          <p:cNvSpPr/>
          <p:nvPr/>
        </p:nvSpPr>
        <p:spPr>
          <a:xfrm>
            <a:off x="777240" y="1097280"/>
            <a:ext cx="2377440" cy="548640"/>
          </a:xfrm>
          <a:prstGeom prst="roundRect">
            <a:avLst>
              <a:gd name="adj" fmla="val 10000"/>
            </a:avLst>
          </a:prstGeom>
          <a:solidFill>
            <a:srgbClr val="F3F8FC"/>
          </a:solidFill>
          <a:ln w="12700">
            <a:solidFill>
              <a:srgbClr val="D9DEE3"/>
            </a:solidFill>
            <a:prstDash val="solid"/>
          </a:ln>
        </p:spPr>
      </p:sp>
      <p:sp>
        <p:nvSpPr>
          <p:cNvPr id="8" name="Text 6"/>
          <p:cNvSpPr/>
          <p:nvPr/>
        </p:nvSpPr>
        <p:spPr>
          <a:xfrm>
            <a:off x="886968" y="1225296"/>
            <a:ext cx="2157984" cy="292608"/>
          </a:xfrm>
          <a:prstGeom prst="rect">
            <a:avLst/>
          </a:prstGeom>
          <a:noFill/>
          <a:ln/>
        </p:spPr>
        <p:txBody>
          <a:bodyPr wrap="square" lIns="0" tIns="0" rIns="0" bIns="0" rtlCol="0" anchor="ctr">
            <a:normAutofit/>
          </a:bodyPr>
          <a:lstStyle/>
          <a:p>
            <a:pPr algn="ctr" indent="0" marL="0">
              <a:buNone/>
            </a:pPr>
            <a:r>
              <a:rPr lang="en-US" sz="1100" b="1" dirty="0">
                <a:solidFill>
                  <a:srgbClr val="333333"/>
                </a:solidFill>
              </a:rPr>
              <a:t>Validation failure</a:t>
            </a:r>
            <a:endParaRPr lang="en-US" sz="1100" dirty="0"/>
          </a:p>
        </p:txBody>
      </p:sp>
      <p:sp>
        <p:nvSpPr>
          <p:cNvPr id="9" name="Text 7"/>
          <p:cNvSpPr/>
          <p:nvPr/>
        </p:nvSpPr>
        <p:spPr>
          <a:xfrm>
            <a:off x="3429000" y="1207008"/>
            <a:ext cx="7863840" cy="274320"/>
          </a:xfrm>
          <a:prstGeom prst="rect">
            <a:avLst/>
          </a:prstGeom>
          <a:noFill/>
          <a:ln/>
        </p:spPr>
        <p:txBody>
          <a:bodyPr wrap="square" lIns="0" tIns="0" rIns="0" bIns="0" rtlCol="0" anchor="ctr"/>
          <a:lstStyle/>
          <a:p>
            <a:pPr indent="0" marL="0">
              <a:buNone/>
            </a:pPr>
            <a:r>
              <a:rPr lang="en-US" sz="1250" dirty="0">
                <a:solidFill>
                  <a:srgbClr val="333333"/>
                </a:solidFill>
              </a:rPr>
              <a:t>Check request payload, validation rule, error response and business rule.</a:t>
            </a:r>
            <a:endParaRPr lang="en-US" sz="1250" dirty="0"/>
          </a:p>
        </p:txBody>
      </p:sp>
      <p:sp>
        <p:nvSpPr>
          <p:cNvPr id="10" name="Shape 8"/>
          <p:cNvSpPr/>
          <p:nvPr/>
        </p:nvSpPr>
        <p:spPr>
          <a:xfrm>
            <a:off x="777240" y="1810512"/>
            <a:ext cx="2377440" cy="548640"/>
          </a:xfrm>
          <a:prstGeom prst="roundRect">
            <a:avLst>
              <a:gd name="adj" fmla="val 10000"/>
            </a:avLst>
          </a:prstGeom>
          <a:solidFill>
            <a:srgbClr val="FFFFFF"/>
          </a:solidFill>
          <a:ln w="12700">
            <a:solidFill>
              <a:srgbClr val="D9DEE3"/>
            </a:solidFill>
            <a:prstDash val="solid"/>
          </a:ln>
        </p:spPr>
      </p:sp>
      <p:sp>
        <p:nvSpPr>
          <p:cNvPr id="11" name="Text 9"/>
          <p:cNvSpPr/>
          <p:nvPr/>
        </p:nvSpPr>
        <p:spPr>
          <a:xfrm>
            <a:off x="886968" y="1938528"/>
            <a:ext cx="2157984" cy="292608"/>
          </a:xfrm>
          <a:prstGeom prst="rect">
            <a:avLst/>
          </a:prstGeom>
          <a:noFill/>
          <a:ln/>
        </p:spPr>
        <p:txBody>
          <a:bodyPr wrap="square" lIns="0" tIns="0" rIns="0" bIns="0" rtlCol="0" anchor="ctr">
            <a:normAutofit/>
          </a:bodyPr>
          <a:lstStyle/>
          <a:p>
            <a:pPr algn="ctr" indent="0" marL="0">
              <a:buNone/>
            </a:pPr>
            <a:r>
              <a:rPr lang="en-US" sz="1100" b="1" dirty="0">
                <a:solidFill>
                  <a:srgbClr val="333333"/>
                </a:solidFill>
              </a:rPr>
              <a:t>Licence not found</a:t>
            </a:r>
            <a:endParaRPr lang="en-US" sz="1100" dirty="0"/>
          </a:p>
        </p:txBody>
      </p:sp>
      <p:sp>
        <p:nvSpPr>
          <p:cNvPr id="12" name="Text 10"/>
          <p:cNvSpPr/>
          <p:nvPr/>
        </p:nvSpPr>
        <p:spPr>
          <a:xfrm>
            <a:off x="3429000" y="1920240"/>
            <a:ext cx="7863840" cy="274320"/>
          </a:xfrm>
          <a:prstGeom prst="rect">
            <a:avLst/>
          </a:prstGeom>
          <a:noFill/>
          <a:ln/>
        </p:spPr>
        <p:txBody>
          <a:bodyPr wrap="square" lIns="0" tIns="0" rIns="0" bIns="0" rtlCol="0" anchor="ctr"/>
          <a:lstStyle/>
          <a:p>
            <a:pPr indent="0" marL="0">
              <a:buNone/>
            </a:pPr>
            <a:r>
              <a:rPr lang="en-US" sz="1250" dirty="0">
                <a:solidFill>
                  <a:srgbClr val="333333"/>
                </a:solidFill>
              </a:rPr>
              <a:t>Check licence reference, dates, status, permitted trader and repository query.</a:t>
            </a:r>
            <a:endParaRPr lang="en-US" sz="1250" dirty="0"/>
          </a:p>
        </p:txBody>
      </p:sp>
      <p:sp>
        <p:nvSpPr>
          <p:cNvPr id="13" name="Shape 11"/>
          <p:cNvSpPr/>
          <p:nvPr/>
        </p:nvSpPr>
        <p:spPr>
          <a:xfrm>
            <a:off x="777240" y="2523744"/>
            <a:ext cx="2377440" cy="548640"/>
          </a:xfrm>
          <a:prstGeom prst="roundRect">
            <a:avLst>
              <a:gd name="adj" fmla="val 10000"/>
            </a:avLst>
          </a:prstGeom>
          <a:solidFill>
            <a:srgbClr val="F3F8FC"/>
          </a:solidFill>
          <a:ln w="12700">
            <a:solidFill>
              <a:srgbClr val="D9DEE3"/>
            </a:solidFill>
            <a:prstDash val="solid"/>
          </a:ln>
        </p:spPr>
      </p:sp>
      <p:sp>
        <p:nvSpPr>
          <p:cNvPr id="14" name="Text 12"/>
          <p:cNvSpPr/>
          <p:nvPr/>
        </p:nvSpPr>
        <p:spPr>
          <a:xfrm>
            <a:off x="886968" y="2651760"/>
            <a:ext cx="2157984" cy="292608"/>
          </a:xfrm>
          <a:prstGeom prst="rect">
            <a:avLst/>
          </a:prstGeom>
          <a:noFill/>
          <a:ln/>
        </p:spPr>
        <p:txBody>
          <a:bodyPr wrap="square" lIns="0" tIns="0" rIns="0" bIns="0" rtlCol="0" anchor="ctr">
            <a:normAutofit/>
          </a:bodyPr>
          <a:lstStyle/>
          <a:p>
            <a:pPr algn="ctr" indent="0" marL="0">
              <a:buNone/>
            </a:pPr>
            <a:r>
              <a:rPr lang="en-US" sz="1100" b="1" dirty="0">
                <a:solidFill>
                  <a:srgbClr val="333333"/>
                </a:solidFill>
              </a:rPr>
              <a:t>Usage not sent</a:t>
            </a:r>
            <a:endParaRPr lang="en-US" sz="1100" dirty="0"/>
          </a:p>
        </p:txBody>
      </p:sp>
      <p:sp>
        <p:nvSpPr>
          <p:cNvPr id="15" name="Text 13"/>
          <p:cNvSpPr/>
          <p:nvPr/>
        </p:nvSpPr>
        <p:spPr>
          <a:xfrm>
            <a:off x="3429000" y="2633472"/>
            <a:ext cx="7863840" cy="274320"/>
          </a:xfrm>
          <a:prstGeom prst="rect">
            <a:avLst/>
          </a:prstGeom>
          <a:noFill/>
          <a:ln/>
        </p:spPr>
        <p:txBody>
          <a:bodyPr wrap="square" lIns="0" tIns="0" rIns="0" bIns="0" rtlCol="0" anchor="ctr"/>
          <a:lstStyle/>
          <a:p>
            <a:pPr indent="0" marL="0">
              <a:buNone/>
            </a:pPr>
            <a:r>
              <a:rPr lang="en-US" sz="1250" dirty="0">
                <a:solidFill>
                  <a:srgbClr val="333333"/>
                </a:solidFill>
              </a:rPr>
              <a:t>Check trigger event, pending usage state, outbound integration and authority response.</a:t>
            </a:r>
            <a:endParaRPr lang="en-US" sz="1250" dirty="0"/>
          </a:p>
        </p:txBody>
      </p:sp>
      <p:sp>
        <p:nvSpPr>
          <p:cNvPr id="16" name="Shape 14"/>
          <p:cNvSpPr/>
          <p:nvPr/>
        </p:nvSpPr>
        <p:spPr>
          <a:xfrm>
            <a:off x="777240" y="3236976"/>
            <a:ext cx="2377440" cy="548640"/>
          </a:xfrm>
          <a:prstGeom prst="roundRect">
            <a:avLst>
              <a:gd name="adj" fmla="val 10000"/>
            </a:avLst>
          </a:prstGeom>
          <a:solidFill>
            <a:srgbClr val="FFFFFF"/>
          </a:solidFill>
          <a:ln w="12700">
            <a:solidFill>
              <a:srgbClr val="D9DEE3"/>
            </a:solidFill>
            <a:prstDash val="solid"/>
          </a:ln>
        </p:spPr>
      </p:sp>
      <p:sp>
        <p:nvSpPr>
          <p:cNvPr id="17" name="Text 15"/>
          <p:cNvSpPr/>
          <p:nvPr/>
        </p:nvSpPr>
        <p:spPr>
          <a:xfrm>
            <a:off x="886968" y="3364992"/>
            <a:ext cx="2157984" cy="292608"/>
          </a:xfrm>
          <a:prstGeom prst="rect">
            <a:avLst/>
          </a:prstGeom>
          <a:noFill/>
          <a:ln/>
        </p:spPr>
        <p:txBody>
          <a:bodyPr wrap="square" lIns="0" tIns="0" rIns="0" bIns="0" rtlCol="0" anchor="ctr">
            <a:normAutofit/>
          </a:bodyPr>
          <a:lstStyle/>
          <a:p>
            <a:pPr algn="ctr" indent="0" marL="0">
              <a:buNone/>
            </a:pPr>
            <a:r>
              <a:rPr lang="en-US" sz="1100" b="1" dirty="0">
                <a:solidFill>
                  <a:srgbClr val="333333"/>
                </a:solidFill>
              </a:rPr>
              <a:t>MQ issue</a:t>
            </a:r>
            <a:endParaRPr lang="en-US" sz="1100" dirty="0"/>
          </a:p>
        </p:txBody>
      </p:sp>
      <p:sp>
        <p:nvSpPr>
          <p:cNvPr id="18" name="Text 16"/>
          <p:cNvSpPr/>
          <p:nvPr/>
        </p:nvSpPr>
        <p:spPr>
          <a:xfrm>
            <a:off x="3429000" y="3346704"/>
            <a:ext cx="7863840" cy="274320"/>
          </a:xfrm>
          <a:prstGeom prst="rect">
            <a:avLst/>
          </a:prstGeom>
          <a:noFill/>
          <a:ln/>
        </p:spPr>
        <p:txBody>
          <a:bodyPr wrap="square" lIns="0" tIns="0" rIns="0" bIns="0" rtlCol="0" anchor="ctr"/>
          <a:lstStyle/>
          <a:p>
            <a:pPr indent="0" marL="0">
              <a:buNone/>
            </a:pPr>
            <a:r>
              <a:rPr lang="en-US" sz="1250" dirty="0">
                <a:solidFill>
                  <a:srgbClr val="333333"/>
                </a:solidFill>
              </a:rPr>
              <a:t>Check listener, sender, queue configuration, DLQ/error queue and logs.</a:t>
            </a:r>
            <a:endParaRPr lang="en-US" sz="1250" dirty="0"/>
          </a:p>
        </p:txBody>
      </p:sp>
      <p:sp>
        <p:nvSpPr>
          <p:cNvPr id="19" name="Shape 17"/>
          <p:cNvSpPr/>
          <p:nvPr/>
        </p:nvSpPr>
        <p:spPr>
          <a:xfrm>
            <a:off x="777240" y="3950208"/>
            <a:ext cx="2377440" cy="548640"/>
          </a:xfrm>
          <a:prstGeom prst="roundRect">
            <a:avLst>
              <a:gd name="adj" fmla="val 10000"/>
            </a:avLst>
          </a:prstGeom>
          <a:solidFill>
            <a:srgbClr val="F3F8FC"/>
          </a:solidFill>
          <a:ln w="12700">
            <a:solidFill>
              <a:srgbClr val="D9DEE3"/>
            </a:solidFill>
            <a:prstDash val="solid"/>
          </a:ln>
        </p:spPr>
      </p:sp>
      <p:sp>
        <p:nvSpPr>
          <p:cNvPr id="20" name="Text 18"/>
          <p:cNvSpPr/>
          <p:nvPr/>
        </p:nvSpPr>
        <p:spPr>
          <a:xfrm>
            <a:off x="886968" y="4078224"/>
            <a:ext cx="2157984" cy="292608"/>
          </a:xfrm>
          <a:prstGeom prst="rect">
            <a:avLst/>
          </a:prstGeom>
          <a:noFill/>
          <a:ln/>
        </p:spPr>
        <p:txBody>
          <a:bodyPr wrap="square" lIns="0" tIns="0" rIns="0" bIns="0" rtlCol="0" anchor="ctr">
            <a:normAutofit/>
          </a:bodyPr>
          <a:lstStyle/>
          <a:p>
            <a:pPr algn="ctr" indent="0" marL="0">
              <a:buNone/>
            </a:pPr>
            <a:r>
              <a:rPr lang="en-US" sz="1100" b="1" dirty="0">
                <a:solidFill>
                  <a:srgbClr val="333333"/>
                </a:solidFill>
              </a:rPr>
              <a:t>Unexpected data</a:t>
            </a:r>
            <a:endParaRPr lang="en-US" sz="1100" dirty="0"/>
          </a:p>
        </p:txBody>
      </p:sp>
      <p:sp>
        <p:nvSpPr>
          <p:cNvPr id="21" name="Text 19"/>
          <p:cNvSpPr/>
          <p:nvPr/>
        </p:nvSpPr>
        <p:spPr>
          <a:xfrm>
            <a:off x="3429000" y="4059936"/>
            <a:ext cx="7863840" cy="274320"/>
          </a:xfrm>
          <a:prstGeom prst="rect">
            <a:avLst/>
          </a:prstGeom>
          <a:noFill/>
          <a:ln/>
        </p:spPr>
        <p:txBody>
          <a:bodyPr wrap="square" lIns="0" tIns="0" rIns="0" bIns="0" rtlCol="0" anchor="ctr"/>
          <a:lstStyle/>
          <a:p>
            <a:pPr indent="0" marL="0">
              <a:buNone/>
            </a:pPr>
            <a:r>
              <a:rPr lang="en-US" sz="1250" dirty="0">
                <a:solidFill>
                  <a:srgbClr val="333333"/>
                </a:solidFill>
              </a:rPr>
              <a:t>Check migration, reference data, RPTID/EORI mapping and upstream payload.</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0972800" cy="384048"/>
          </a:xfrm>
          <a:prstGeom prst="rect">
            <a:avLst/>
          </a:prstGeom>
          <a:noFill/>
          <a:ln/>
        </p:spPr>
        <p:txBody>
          <a:bodyPr wrap="square" lIns="0" tIns="0" rIns="0" bIns="0" rtlCol="0" anchor="ctr"/>
          <a:lstStyle/>
          <a:p>
            <a:pPr indent="0" marL="0">
              <a:buNone/>
            </a:pPr>
            <a:r>
              <a:rPr lang="en-US" sz="2600" b="1" dirty="0">
                <a:solidFill>
                  <a:srgbClr val="003366"/>
                </a:solidFill>
                <a:latin typeface="Arial" pitchFamily="34" charset="0"/>
                <a:ea typeface="Arial" pitchFamily="34" charset="-122"/>
                <a:cs typeface="Arial" pitchFamily="34" charset="-120"/>
              </a:rPr>
              <a:t>Useful Documentation</a:t>
            </a:r>
            <a:endParaRPr lang="en-US" sz="2600" dirty="0"/>
          </a:p>
        </p:txBody>
      </p:sp>
      <p:sp>
        <p:nvSpPr>
          <p:cNvPr id="3" name="Text 1"/>
          <p:cNvSpPr/>
          <p:nvPr/>
        </p:nvSpPr>
        <p:spPr>
          <a:xfrm>
            <a:off x="521208" y="749808"/>
            <a:ext cx="10515600" cy="228600"/>
          </a:xfrm>
          <a:prstGeom prst="rect">
            <a:avLst/>
          </a:prstGeom>
          <a:noFill/>
          <a:ln/>
        </p:spPr>
        <p:txBody>
          <a:bodyPr wrap="square" lIns="0" tIns="0" rIns="0" bIns="0" rtlCol="0" anchor="ctr"/>
          <a:lstStyle/>
          <a:p>
            <a:pPr indent="0" marL="0">
              <a:buNone/>
            </a:pPr>
            <a:r>
              <a:rPr lang="en-US" sz="1050" dirty="0">
                <a:solidFill>
                  <a:srgbClr val="666666"/>
                </a:solidFill>
              </a:rPr>
              <a:t>Where IBM should look after the session</a:t>
            </a:r>
            <a:endParaRPr lang="en-US" sz="1050" dirty="0"/>
          </a:p>
        </p:txBody>
      </p:sp>
      <p:sp>
        <p:nvSpPr>
          <p:cNvPr id="4" name="Shape 2"/>
          <p:cNvSpPr/>
          <p:nvPr/>
        </p:nvSpPr>
        <p:spPr>
          <a:xfrm>
            <a:off x="457200" y="6355080"/>
            <a:ext cx="11274552" cy="0"/>
          </a:xfrm>
          <a:prstGeom prst="line">
            <a:avLst/>
          </a:prstGeom>
          <a:noFill/>
          <a:ln w="8890">
            <a:solidFill>
              <a:srgbClr val="D9DEE3"/>
            </a:solidFill>
            <a:prstDash val="solid"/>
          </a:ln>
        </p:spPr>
      </p:sp>
      <p:sp>
        <p:nvSpPr>
          <p:cNvPr id="5" name="Text 3"/>
          <p:cNvSpPr/>
          <p:nvPr/>
        </p:nvSpPr>
        <p:spPr>
          <a:xfrm>
            <a:off x="457200" y="6419088"/>
            <a:ext cx="7315200" cy="228600"/>
          </a:xfrm>
          <a:prstGeom prst="rect">
            <a:avLst/>
          </a:prstGeom>
          <a:noFill/>
          <a:ln/>
        </p:spPr>
        <p:txBody>
          <a:bodyPr wrap="square" rtlCol="0" anchor="ctr"/>
          <a:lstStyle/>
          <a:p>
            <a:pPr indent="0" marL="0">
              <a:buNone/>
            </a:pPr>
            <a:r>
              <a:rPr lang="en-US" sz="850" dirty="0">
                <a:solidFill>
                  <a:srgbClr val="666666"/>
                </a:solidFill>
                <a:latin typeface="Arial" pitchFamily="34" charset="0"/>
                <a:ea typeface="Arial" pitchFamily="34" charset="-122"/>
                <a:cs typeface="Arial" pitchFamily="34" charset="-120"/>
              </a:rPr>
              <a:t>ILMS Knowledge Transfer | Architecture Overview</a:t>
            </a:r>
            <a:endParaRPr lang="en-US" sz="850" dirty="0"/>
          </a:p>
        </p:txBody>
      </p:sp>
      <p:sp>
        <p:nvSpPr>
          <p:cNvPr id="6" name="Text 4"/>
          <p:cNvSpPr/>
          <p:nvPr/>
        </p:nvSpPr>
        <p:spPr>
          <a:xfrm>
            <a:off x="11292840" y="6419088"/>
            <a:ext cx="457200" cy="228600"/>
          </a:xfrm>
          <a:prstGeom prst="rect">
            <a:avLst/>
          </a:prstGeom>
          <a:noFill/>
          <a:ln/>
        </p:spPr>
        <p:txBody>
          <a:bodyPr wrap="square" rtlCol="0" anchor="ctr"/>
          <a:lstStyle/>
          <a:p>
            <a:pPr algn="r" indent="0" marL="0">
              <a:buNone/>
            </a:pPr>
            <a:r>
              <a:rPr lang="en-US" sz="850" dirty="0">
                <a:solidFill>
                  <a:srgbClr val="666666"/>
                </a:solidFill>
              </a:rPr>
              <a:t>23</a:t>
            </a:r>
            <a:endParaRPr lang="en-US" sz="850" dirty="0"/>
          </a:p>
        </p:txBody>
      </p:sp>
      <p:sp>
        <p:nvSpPr>
          <p:cNvPr id="7" name="Shape 5"/>
          <p:cNvSpPr/>
          <p:nvPr/>
        </p:nvSpPr>
        <p:spPr>
          <a:xfrm>
            <a:off x="822960" y="1051560"/>
            <a:ext cx="2377440" cy="475488"/>
          </a:xfrm>
          <a:prstGeom prst="roundRect">
            <a:avLst>
              <a:gd name="adj" fmla="val 11538"/>
            </a:avLst>
          </a:prstGeom>
          <a:solidFill>
            <a:srgbClr val="F4F6F8"/>
          </a:solidFill>
          <a:ln w="12700">
            <a:solidFill>
              <a:srgbClr val="D9DEE3"/>
            </a:solidFill>
            <a:prstDash val="solid"/>
          </a:ln>
        </p:spPr>
      </p:sp>
      <p:sp>
        <p:nvSpPr>
          <p:cNvPr id="8" name="Text 6"/>
          <p:cNvSpPr/>
          <p:nvPr/>
        </p:nvSpPr>
        <p:spPr>
          <a:xfrm>
            <a:off x="932688" y="1179576"/>
            <a:ext cx="2157984" cy="219456"/>
          </a:xfrm>
          <a:prstGeom prst="rect">
            <a:avLst/>
          </a:prstGeom>
          <a:noFill/>
          <a:ln/>
        </p:spPr>
        <p:txBody>
          <a:bodyPr wrap="square" lIns="0" tIns="0" rIns="0" bIns="0" rtlCol="0" anchor="ctr">
            <a:normAutofit/>
          </a:bodyPr>
          <a:lstStyle/>
          <a:p>
            <a:pPr algn="ctr" indent="0" marL="0">
              <a:buNone/>
            </a:pPr>
            <a:r>
              <a:rPr lang="en-US" sz="1100" b="1" dirty="0">
                <a:solidFill>
                  <a:srgbClr val="333333"/>
                </a:solidFill>
              </a:rPr>
              <a:t>Runbook</a:t>
            </a:r>
            <a:endParaRPr lang="en-US" sz="1100" dirty="0"/>
          </a:p>
        </p:txBody>
      </p:sp>
      <p:sp>
        <p:nvSpPr>
          <p:cNvPr id="9" name="Text 7"/>
          <p:cNvSpPr/>
          <p:nvPr/>
        </p:nvSpPr>
        <p:spPr>
          <a:xfrm>
            <a:off x="3429000" y="1161288"/>
            <a:ext cx="7863840" cy="228600"/>
          </a:xfrm>
          <a:prstGeom prst="rect">
            <a:avLst/>
          </a:prstGeom>
          <a:noFill/>
          <a:ln/>
        </p:spPr>
        <p:txBody>
          <a:bodyPr wrap="square" lIns="0" tIns="0" rIns="0" bIns="0" rtlCol="0" anchor="ctr"/>
          <a:lstStyle/>
          <a:p>
            <a:pPr indent="0" marL="0">
              <a:buNone/>
            </a:pPr>
            <a:r>
              <a:rPr lang="en-US" sz="1300" dirty="0">
                <a:solidFill>
                  <a:srgbClr val="333333"/>
                </a:solidFill>
              </a:rPr>
              <a:t>Operational support, common processes and links.</a:t>
            </a:r>
            <a:endParaRPr lang="en-US" sz="1300" dirty="0"/>
          </a:p>
        </p:txBody>
      </p:sp>
      <p:sp>
        <p:nvSpPr>
          <p:cNvPr id="10" name="Shape 8"/>
          <p:cNvSpPr/>
          <p:nvPr/>
        </p:nvSpPr>
        <p:spPr>
          <a:xfrm>
            <a:off x="822960" y="1691640"/>
            <a:ext cx="2377440" cy="475488"/>
          </a:xfrm>
          <a:prstGeom prst="roundRect">
            <a:avLst>
              <a:gd name="adj" fmla="val 11538"/>
            </a:avLst>
          </a:prstGeom>
          <a:solidFill>
            <a:srgbClr val="FFFFFF"/>
          </a:solidFill>
          <a:ln w="12700">
            <a:solidFill>
              <a:srgbClr val="D9DEE3"/>
            </a:solidFill>
            <a:prstDash val="solid"/>
          </a:ln>
        </p:spPr>
      </p:sp>
      <p:sp>
        <p:nvSpPr>
          <p:cNvPr id="11" name="Text 9"/>
          <p:cNvSpPr/>
          <p:nvPr/>
        </p:nvSpPr>
        <p:spPr>
          <a:xfrm>
            <a:off x="932688" y="1819656"/>
            <a:ext cx="2157984" cy="219456"/>
          </a:xfrm>
          <a:prstGeom prst="rect">
            <a:avLst/>
          </a:prstGeom>
          <a:noFill/>
          <a:ln/>
        </p:spPr>
        <p:txBody>
          <a:bodyPr wrap="square" lIns="0" tIns="0" rIns="0" bIns="0" rtlCol="0" anchor="ctr">
            <a:normAutofit/>
          </a:bodyPr>
          <a:lstStyle/>
          <a:p>
            <a:pPr algn="ctr" indent="0" marL="0">
              <a:buNone/>
            </a:pPr>
            <a:r>
              <a:rPr lang="en-US" sz="1100" b="1" dirty="0">
                <a:solidFill>
                  <a:srgbClr val="333333"/>
                </a:solidFill>
              </a:rPr>
              <a:t>Service Design</a:t>
            </a:r>
            <a:endParaRPr lang="en-US" sz="1100" dirty="0"/>
          </a:p>
        </p:txBody>
      </p:sp>
      <p:sp>
        <p:nvSpPr>
          <p:cNvPr id="12" name="Text 10"/>
          <p:cNvSpPr/>
          <p:nvPr/>
        </p:nvSpPr>
        <p:spPr>
          <a:xfrm>
            <a:off x="3429000" y="1801368"/>
            <a:ext cx="7863840" cy="228600"/>
          </a:xfrm>
          <a:prstGeom prst="rect">
            <a:avLst/>
          </a:prstGeom>
          <a:noFill/>
          <a:ln/>
        </p:spPr>
        <p:txBody>
          <a:bodyPr wrap="square" lIns="0" tIns="0" rIns="0" bIns="0" rtlCol="0" anchor="ctr"/>
          <a:lstStyle/>
          <a:p>
            <a:pPr indent="0" marL="0">
              <a:buNone/>
            </a:pPr>
            <a:r>
              <a:rPr lang="en-US" sz="1300" dirty="0">
                <a:solidFill>
                  <a:srgbClr val="333333"/>
                </a:solidFill>
              </a:rPr>
              <a:t>Architecture, component responsibilities and system context.</a:t>
            </a:r>
            <a:endParaRPr lang="en-US" sz="1300" dirty="0"/>
          </a:p>
        </p:txBody>
      </p:sp>
      <p:sp>
        <p:nvSpPr>
          <p:cNvPr id="13" name="Shape 11"/>
          <p:cNvSpPr/>
          <p:nvPr/>
        </p:nvSpPr>
        <p:spPr>
          <a:xfrm>
            <a:off x="822960" y="2331720"/>
            <a:ext cx="2377440" cy="475488"/>
          </a:xfrm>
          <a:prstGeom prst="roundRect">
            <a:avLst>
              <a:gd name="adj" fmla="val 11538"/>
            </a:avLst>
          </a:prstGeom>
          <a:solidFill>
            <a:srgbClr val="F4F6F8"/>
          </a:solidFill>
          <a:ln w="12700">
            <a:solidFill>
              <a:srgbClr val="D9DEE3"/>
            </a:solidFill>
            <a:prstDash val="solid"/>
          </a:ln>
        </p:spPr>
      </p:sp>
      <p:sp>
        <p:nvSpPr>
          <p:cNvPr id="14" name="Text 12"/>
          <p:cNvSpPr/>
          <p:nvPr/>
        </p:nvSpPr>
        <p:spPr>
          <a:xfrm>
            <a:off x="932688" y="2459736"/>
            <a:ext cx="2157984" cy="219456"/>
          </a:xfrm>
          <a:prstGeom prst="rect">
            <a:avLst/>
          </a:prstGeom>
          <a:noFill/>
          <a:ln/>
        </p:spPr>
        <p:txBody>
          <a:bodyPr wrap="square" lIns="0" tIns="0" rIns="0" bIns="0" rtlCol="0" anchor="ctr">
            <a:normAutofit/>
          </a:bodyPr>
          <a:lstStyle/>
          <a:p>
            <a:pPr algn="ctr" indent="0" marL="0">
              <a:buNone/>
            </a:pPr>
            <a:r>
              <a:rPr lang="en-US" sz="1100" b="1" dirty="0">
                <a:solidFill>
                  <a:srgbClr val="333333"/>
                </a:solidFill>
              </a:rPr>
              <a:t>CDSP-2129</a:t>
            </a:r>
            <a:endParaRPr lang="en-US" sz="1100" dirty="0"/>
          </a:p>
        </p:txBody>
      </p:sp>
      <p:sp>
        <p:nvSpPr>
          <p:cNvPr id="15" name="Text 13"/>
          <p:cNvSpPr/>
          <p:nvPr/>
        </p:nvSpPr>
        <p:spPr>
          <a:xfrm>
            <a:off x="3429000" y="2441448"/>
            <a:ext cx="7863840" cy="228600"/>
          </a:xfrm>
          <a:prstGeom prst="rect">
            <a:avLst/>
          </a:prstGeom>
          <a:noFill/>
          <a:ln/>
        </p:spPr>
        <p:txBody>
          <a:bodyPr wrap="square" lIns="0" tIns="0" rIns="0" bIns="0" rtlCol="0" anchor="ctr"/>
          <a:lstStyle/>
          <a:p>
            <a:pPr indent="0" marL="0">
              <a:buNone/>
            </a:pPr>
            <a:r>
              <a:rPr lang="en-US" sz="1300" dirty="0">
                <a:solidFill>
                  <a:srgbClr val="333333"/>
                </a:solidFill>
              </a:rPr>
              <a:t>REST API design for licence update and usage.</a:t>
            </a:r>
            <a:endParaRPr lang="en-US" sz="1300" dirty="0"/>
          </a:p>
        </p:txBody>
      </p:sp>
      <p:sp>
        <p:nvSpPr>
          <p:cNvPr id="16" name="Shape 14"/>
          <p:cNvSpPr/>
          <p:nvPr/>
        </p:nvSpPr>
        <p:spPr>
          <a:xfrm>
            <a:off x="822960" y="2971800"/>
            <a:ext cx="2377440" cy="475488"/>
          </a:xfrm>
          <a:prstGeom prst="roundRect">
            <a:avLst>
              <a:gd name="adj" fmla="val 11538"/>
            </a:avLst>
          </a:prstGeom>
          <a:solidFill>
            <a:srgbClr val="FFFFFF"/>
          </a:solidFill>
          <a:ln w="12700">
            <a:solidFill>
              <a:srgbClr val="D9DEE3"/>
            </a:solidFill>
            <a:prstDash val="solid"/>
          </a:ln>
        </p:spPr>
      </p:sp>
      <p:sp>
        <p:nvSpPr>
          <p:cNvPr id="17" name="Text 15"/>
          <p:cNvSpPr/>
          <p:nvPr/>
        </p:nvSpPr>
        <p:spPr>
          <a:xfrm>
            <a:off x="932688" y="3099816"/>
            <a:ext cx="2157984" cy="219456"/>
          </a:xfrm>
          <a:prstGeom prst="rect">
            <a:avLst/>
          </a:prstGeom>
          <a:noFill/>
          <a:ln/>
        </p:spPr>
        <p:txBody>
          <a:bodyPr wrap="square" lIns="0" tIns="0" rIns="0" bIns="0" rtlCol="0" anchor="ctr">
            <a:normAutofit/>
          </a:bodyPr>
          <a:lstStyle/>
          <a:p>
            <a:pPr algn="ctr" indent="0" marL="0">
              <a:buNone/>
            </a:pPr>
            <a:r>
              <a:rPr lang="en-US" sz="1100" b="1" dirty="0">
                <a:solidFill>
                  <a:srgbClr val="333333"/>
                </a:solidFill>
              </a:rPr>
              <a:t>CDSP-10889</a:t>
            </a:r>
            <a:endParaRPr lang="en-US" sz="1100" dirty="0"/>
          </a:p>
        </p:txBody>
      </p:sp>
      <p:sp>
        <p:nvSpPr>
          <p:cNvPr id="18" name="Text 16"/>
          <p:cNvSpPr/>
          <p:nvPr/>
        </p:nvSpPr>
        <p:spPr>
          <a:xfrm>
            <a:off x="3429000" y="3081528"/>
            <a:ext cx="7863840" cy="228600"/>
          </a:xfrm>
          <a:prstGeom prst="rect">
            <a:avLst/>
          </a:prstGeom>
          <a:noFill/>
          <a:ln/>
        </p:spPr>
        <p:txBody>
          <a:bodyPr wrap="square" lIns="0" tIns="0" rIns="0" bIns="0" rtlCol="0" anchor="ctr"/>
          <a:lstStyle/>
          <a:p>
            <a:pPr indent="0" marL="0">
              <a:buNone/>
            </a:pPr>
            <a:r>
              <a:rPr lang="en-US" sz="1300" dirty="0">
                <a:solidFill>
                  <a:srgbClr val="333333"/>
                </a:solidFill>
              </a:rPr>
              <a:t>CHIEF decommissioning / removal of dual-running behaviour.</a:t>
            </a:r>
            <a:endParaRPr lang="en-US" sz="1300" dirty="0"/>
          </a:p>
        </p:txBody>
      </p:sp>
      <p:sp>
        <p:nvSpPr>
          <p:cNvPr id="19" name="Shape 17"/>
          <p:cNvSpPr/>
          <p:nvPr/>
        </p:nvSpPr>
        <p:spPr>
          <a:xfrm>
            <a:off x="822960" y="3611880"/>
            <a:ext cx="2377440" cy="475488"/>
          </a:xfrm>
          <a:prstGeom prst="roundRect">
            <a:avLst>
              <a:gd name="adj" fmla="val 11538"/>
            </a:avLst>
          </a:prstGeom>
          <a:solidFill>
            <a:srgbClr val="F4F6F8"/>
          </a:solidFill>
          <a:ln w="12700">
            <a:solidFill>
              <a:srgbClr val="D9DEE3"/>
            </a:solidFill>
            <a:prstDash val="solid"/>
          </a:ln>
        </p:spPr>
      </p:sp>
      <p:sp>
        <p:nvSpPr>
          <p:cNvPr id="20" name="Text 18"/>
          <p:cNvSpPr/>
          <p:nvPr/>
        </p:nvSpPr>
        <p:spPr>
          <a:xfrm>
            <a:off x="932688" y="3739896"/>
            <a:ext cx="2157984" cy="219456"/>
          </a:xfrm>
          <a:prstGeom prst="rect">
            <a:avLst/>
          </a:prstGeom>
          <a:noFill/>
          <a:ln/>
        </p:spPr>
        <p:txBody>
          <a:bodyPr wrap="square" lIns="0" tIns="0" rIns="0" bIns="0" rtlCol="0" anchor="ctr">
            <a:normAutofit/>
          </a:bodyPr>
          <a:lstStyle/>
          <a:p>
            <a:pPr algn="ctr" indent="0" marL="0">
              <a:buNone/>
            </a:pPr>
            <a:r>
              <a:rPr lang="en-US" sz="1100" b="1" dirty="0">
                <a:solidFill>
                  <a:srgbClr val="333333"/>
                </a:solidFill>
              </a:rPr>
              <a:t>Jira Stories</a:t>
            </a:r>
            <a:endParaRPr lang="en-US" sz="1100" dirty="0"/>
          </a:p>
        </p:txBody>
      </p:sp>
      <p:sp>
        <p:nvSpPr>
          <p:cNvPr id="21" name="Text 19"/>
          <p:cNvSpPr/>
          <p:nvPr/>
        </p:nvSpPr>
        <p:spPr>
          <a:xfrm>
            <a:off x="3429000" y="3721608"/>
            <a:ext cx="7863840" cy="228600"/>
          </a:xfrm>
          <a:prstGeom prst="rect">
            <a:avLst/>
          </a:prstGeom>
          <a:noFill/>
          <a:ln/>
        </p:spPr>
        <p:txBody>
          <a:bodyPr wrap="square" lIns="0" tIns="0" rIns="0" bIns="0" rtlCol="0" anchor="ctr"/>
          <a:lstStyle/>
          <a:p>
            <a:pPr indent="0" marL="0">
              <a:buNone/>
            </a:pPr>
            <a:r>
              <a:rPr lang="en-US" sz="1300" dirty="0">
                <a:solidFill>
                  <a:srgbClr val="333333"/>
                </a:solidFill>
              </a:rPr>
              <a:t>Acceptance criteria and business rationale.</a:t>
            </a:r>
            <a:endParaRPr lang="en-US" sz="1300" dirty="0"/>
          </a:p>
        </p:txBody>
      </p:sp>
      <p:sp>
        <p:nvSpPr>
          <p:cNvPr id="22" name="Shape 20"/>
          <p:cNvSpPr/>
          <p:nvPr/>
        </p:nvSpPr>
        <p:spPr>
          <a:xfrm>
            <a:off x="822960" y="4251960"/>
            <a:ext cx="2377440" cy="475488"/>
          </a:xfrm>
          <a:prstGeom prst="roundRect">
            <a:avLst>
              <a:gd name="adj" fmla="val 11538"/>
            </a:avLst>
          </a:prstGeom>
          <a:solidFill>
            <a:srgbClr val="FFFFFF"/>
          </a:solidFill>
          <a:ln w="12700">
            <a:solidFill>
              <a:srgbClr val="D9DEE3"/>
            </a:solidFill>
            <a:prstDash val="solid"/>
          </a:ln>
        </p:spPr>
      </p:sp>
      <p:sp>
        <p:nvSpPr>
          <p:cNvPr id="23" name="Text 21"/>
          <p:cNvSpPr/>
          <p:nvPr/>
        </p:nvSpPr>
        <p:spPr>
          <a:xfrm>
            <a:off x="932688" y="4379976"/>
            <a:ext cx="2157984" cy="219456"/>
          </a:xfrm>
          <a:prstGeom prst="rect">
            <a:avLst/>
          </a:prstGeom>
          <a:noFill/>
          <a:ln/>
        </p:spPr>
        <p:txBody>
          <a:bodyPr wrap="square" lIns="0" tIns="0" rIns="0" bIns="0" rtlCol="0" anchor="ctr">
            <a:normAutofit/>
          </a:bodyPr>
          <a:lstStyle/>
          <a:p>
            <a:pPr algn="ctr" indent="0" marL="0">
              <a:buNone/>
            </a:pPr>
            <a:r>
              <a:rPr lang="en-US" sz="1100" b="1" dirty="0">
                <a:solidFill>
                  <a:srgbClr val="333333"/>
                </a:solidFill>
              </a:rPr>
              <a:t>Code / Config</a:t>
            </a:r>
            <a:endParaRPr lang="en-US" sz="1100" dirty="0"/>
          </a:p>
        </p:txBody>
      </p:sp>
      <p:sp>
        <p:nvSpPr>
          <p:cNvPr id="24" name="Text 22"/>
          <p:cNvSpPr/>
          <p:nvPr/>
        </p:nvSpPr>
        <p:spPr>
          <a:xfrm>
            <a:off x="3429000" y="4361688"/>
            <a:ext cx="7863840" cy="228600"/>
          </a:xfrm>
          <a:prstGeom prst="rect">
            <a:avLst/>
          </a:prstGeom>
          <a:noFill/>
          <a:ln/>
        </p:spPr>
        <p:txBody>
          <a:bodyPr wrap="square" lIns="0" tIns="0" rIns="0" bIns="0" rtlCol="0" anchor="ctr"/>
          <a:lstStyle/>
          <a:p>
            <a:pPr indent="0" marL="0">
              <a:buNone/>
            </a:pPr>
            <a:r>
              <a:rPr lang="en-US" sz="1300" dirty="0">
                <a:solidFill>
                  <a:srgbClr val="333333"/>
                </a:solidFill>
              </a:rPr>
              <a:t>Source of truth for queue names, endpoints and implementation details.</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0972800" cy="384048"/>
          </a:xfrm>
          <a:prstGeom prst="rect">
            <a:avLst/>
          </a:prstGeom>
          <a:noFill/>
          <a:ln/>
        </p:spPr>
        <p:txBody>
          <a:bodyPr wrap="square" lIns="0" tIns="0" rIns="0" bIns="0" rtlCol="0" anchor="ctr"/>
          <a:lstStyle/>
          <a:p>
            <a:pPr indent="0" marL="0">
              <a:buNone/>
            </a:pPr>
            <a:r>
              <a:rPr lang="en-US" sz="2600" b="1" dirty="0">
                <a:solidFill>
                  <a:srgbClr val="003366"/>
                </a:solidFill>
                <a:latin typeface="Arial" pitchFamily="34" charset="0"/>
                <a:ea typeface="Arial" pitchFamily="34" charset="-122"/>
                <a:cs typeface="Arial" pitchFamily="34" charset="-120"/>
              </a:rPr>
              <a:t>Next Sessions</a:t>
            </a:r>
            <a:endParaRPr lang="en-US" sz="2600" dirty="0"/>
          </a:p>
        </p:txBody>
      </p:sp>
      <p:sp>
        <p:nvSpPr>
          <p:cNvPr id="3" name="Text 1"/>
          <p:cNvSpPr/>
          <p:nvPr/>
        </p:nvSpPr>
        <p:spPr>
          <a:xfrm>
            <a:off x="521208" y="749808"/>
            <a:ext cx="10515600" cy="228600"/>
          </a:xfrm>
          <a:prstGeom prst="rect">
            <a:avLst/>
          </a:prstGeom>
          <a:noFill/>
          <a:ln/>
        </p:spPr>
        <p:txBody>
          <a:bodyPr wrap="square" lIns="0" tIns="0" rIns="0" bIns="0" rtlCol="0" anchor="ctr"/>
          <a:lstStyle/>
          <a:p>
            <a:pPr indent="0" marL="0">
              <a:buNone/>
            </a:pPr>
            <a:r>
              <a:rPr lang="en-US" sz="1050" dirty="0">
                <a:solidFill>
                  <a:srgbClr val="666666"/>
                </a:solidFill>
              </a:rPr>
              <a:t>What we will cover after today</a:t>
            </a:r>
            <a:endParaRPr lang="en-US" sz="1050" dirty="0"/>
          </a:p>
        </p:txBody>
      </p:sp>
      <p:sp>
        <p:nvSpPr>
          <p:cNvPr id="4" name="Shape 2"/>
          <p:cNvSpPr/>
          <p:nvPr/>
        </p:nvSpPr>
        <p:spPr>
          <a:xfrm>
            <a:off x="457200" y="6355080"/>
            <a:ext cx="11274552" cy="0"/>
          </a:xfrm>
          <a:prstGeom prst="line">
            <a:avLst/>
          </a:prstGeom>
          <a:noFill/>
          <a:ln w="8890">
            <a:solidFill>
              <a:srgbClr val="D9DEE3"/>
            </a:solidFill>
            <a:prstDash val="solid"/>
          </a:ln>
        </p:spPr>
      </p:sp>
      <p:sp>
        <p:nvSpPr>
          <p:cNvPr id="5" name="Text 3"/>
          <p:cNvSpPr/>
          <p:nvPr/>
        </p:nvSpPr>
        <p:spPr>
          <a:xfrm>
            <a:off x="457200" y="6419088"/>
            <a:ext cx="7315200" cy="228600"/>
          </a:xfrm>
          <a:prstGeom prst="rect">
            <a:avLst/>
          </a:prstGeom>
          <a:noFill/>
          <a:ln/>
        </p:spPr>
        <p:txBody>
          <a:bodyPr wrap="square" rtlCol="0" anchor="ctr"/>
          <a:lstStyle/>
          <a:p>
            <a:pPr indent="0" marL="0">
              <a:buNone/>
            </a:pPr>
            <a:r>
              <a:rPr lang="en-US" sz="850" dirty="0">
                <a:solidFill>
                  <a:srgbClr val="666666"/>
                </a:solidFill>
                <a:latin typeface="Arial" pitchFamily="34" charset="0"/>
                <a:ea typeface="Arial" pitchFamily="34" charset="-122"/>
                <a:cs typeface="Arial" pitchFamily="34" charset="-120"/>
              </a:rPr>
              <a:t>ILMS Knowledge Transfer | Architecture Overview</a:t>
            </a:r>
            <a:endParaRPr lang="en-US" sz="850" dirty="0"/>
          </a:p>
        </p:txBody>
      </p:sp>
      <p:sp>
        <p:nvSpPr>
          <p:cNvPr id="6" name="Text 4"/>
          <p:cNvSpPr/>
          <p:nvPr/>
        </p:nvSpPr>
        <p:spPr>
          <a:xfrm>
            <a:off x="11292840" y="6419088"/>
            <a:ext cx="457200" cy="228600"/>
          </a:xfrm>
          <a:prstGeom prst="rect">
            <a:avLst/>
          </a:prstGeom>
          <a:noFill/>
          <a:ln/>
        </p:spPr>
        <p:txBody>
          <a:bodyPr wrap="square" rtlCol="0" anchor="ctr"/>
          <a:lstStyle/>
          <a:p>
            <a:pPr algn="r" indent="0" marL="0">
              <a:buNone/>
            </a:pPr>
            <a:r>
              <a:rPr lang="en-US" sz="850" dirty="0">
                <a:solidFill>
                  <a:srgbClr val="666666"/>
                </a:solidFill>
              </a:rPr>
              <a:t>24</a:t>
            </a:r>
            <a:endParaRPr lang="en-US" sz="850" dirty="0"/>
          </a:p>
        </p:txBody>
      </p:sp>
      <p:sp>
        <p:nvSpPr>
          <p:cNvPr id="7" name="Shape 5"/>
          <p:cNvSpPr/>
          <p:nvPr/>
        </p:nvSpPr>
        <p:spPr>
          <a:xfrm>
            <a:off x="960120" y="1371600"/>
            <a:ext cx="4709160" cy="3383280"/>
          </a:xfrm>
          <a:prstGeom prst="roundRect">
            <a:avLst>
              <a:gd name="adj" fmla="val 1622"/>
            </a:avLst>
          </a:prstGeom>
          <a:solidFill>
            <a:srgbClr val="F3F8FC"/>
          </a:solidFill>
          <a:ln w="12700">
            <a:solidFill>
              <a:srgbClr val="1F5E99"/>
            </a:solidFill>
            <a:prstDash val="solid"/>
          </a:ln>
        </p:spPr>
      </p:sp>
      <p:sp>
        <p:nvSpPr>
          <p:cNvPr id="8" name="Text 6"/>
          <p:cNvSpPr/>
          <p:nvPr/>
        </p:nvSpPr>
        <p:spPr>
          <a:xfrm>
            <a:off x="1069848" y="1499616"/>
            <a:ext cx="4489704" cy="3127248"/>
          </a:xfrm>
          <a:prstGeom prst="rect">
            <a:avLst/>
          </a:prstGeom>
          <a:noFill/>
          <a:ln/>
        </p:spPr>
        <p:txBody>
          <a:bodyPr wrap="square" lIns="0" tIns="0" rIns="0" bIns="0" rtlCol="0" anchor="ctr">
            <a:normAutofit/>
          </a:bodyPr>
          <a:lstStyle/>
          <a:p>
            <a:pPr algn="ctr" indent="0" marL="0">
              <a:buNone/>
            </a:pPr>
            <a:r>
              <a:rPr lang="en-US" sz="1300" b="1" dirty="0">
                <a:solidFill>
                  <a:srgbClr val="333333"/>
                </a:solidFill>
              </a:rPr>
              <a:t>Session 2</a:t>
            </a:r>
            <a:endParaRPr lang="en-US" sz="1300" dirty="0"/>
          </a:p>
          <a:p>
            <a:pPr algn="ctr" indent="0" marL="0">
              <a:buNone/>
            </a:pPr>
            <a:endParaRPr lang="en-US" sz="1300" dirty="0"/>
          </a:p>
          <a:p>
            <a:pPr algn="ctr" indent="0" marL="0">
              <a:buNone/>
            </a:pPr>
            <a:r>
              <a:rPr lang="en-US" sz="1300" b="1" dirty="0">
                <a:solidFill>
                  <a:srgbClr val="333333"/>
                </a:solidFill>
              </a:rPr>
              <a:t>Detailed implementation of Component 2</a:t>
            </a:r>
            <a:endParaRPr lang="en-US" sz="1300" dirty="0"/>
          </a:p>
          <a:p>
            <a:pPr algn="ctr" indent="0" marL="0">
              <a:buNone/>
            </a:pPr>
            <a:endParaRPr lang="en-US" sz="1300" dirty="0"/>
          </a:p>
          <a:p>
            <a:pPr algn="ctr" indent="0" marL="0">
              <a:buNone/>
            </a:pPr>
            <a:r>
              <a:rPr lang="en-US" sz="1300" b="1" dirty="0">
                <a:solidFill>
                  <a:srgbClr val="333333"/>
                </a:solidFill>
              </a:rPr>
              <a:t>• End-to-end request</a:t>
            </a:r>
            <a:endParaRPr lang="en-US" sz="1300" dirty="0"/>
          </a:p>
          <a:p>
            <a:pPr algn="ctr" indent="0" marL="0">
              <a:buNone/>
            </a:pPr>
            <a:r>
              <a:rPr lang="en-US" sz="1300" b="1" dirty="0">
                <a:solidFill>
                  <a:srgbClr val="333333"/>
                </a:solidFill>
              </a:rPr>
              <a:t>• Main classes</a:t>
            </a:r>
            <a:endParaRPr lang="en-US" sz="1300" dirty="0"/>
          </a:p>
          <a:p>
            <a:pPr algn="ctr" indent="0" marL="0">
              <a:buNone/>
            </a:pPr>
            <a:r>
              <a:rPr lang="en-US" sz="1300" b="1" dirty="0">
                <a:solidFill>
                  <a:srgbClr val="333333"/>
                </a:solidFill>
              </a:rPr>
              <a:t>• Validation</a:t>
            </a:r>
            <a:endParaRPr lang="en-US" sz="1300" dirty="0"/>
          </a:p>
          <a:p>
            <a:pPr algn="ctr" indent="0" marL="0">
              <a:buNone/>
            </a:pPr>
            <a:r>
              <a:rPr lang="en-US" sz="1300" b="1" dirty="0">
                <a:solidFill>
                  <a:srgbClr val="333333"/>
                </a:solidFill>
              </a:rPr>
              <a:t>• Tests</a:t>
            </a:r>
            <a:endParaRPr lang="en-US" sz="1300" dirty="0"/>
          </a:p>
          <a:p>
            <a:pPr algn="ctr" indent="0" marL="0">
              <a:buNone/>
            </a:pPr>
            <a:r>
              <a:rPr lang="en-US" sz="1300" b="1" dirty="0">
                <a:solidFill>
                  <a:srgbClr val="333333"/>
                </a:solidFill>
              </a:rPr>
              <a:t>• Debugging</a:t>
            </a:r>
            <a:endParaRPr lang="en-US" sz="1300" dirty="0"/>
          </a:p>
        </p:txBody>
      </p:sp>
      <p:sp>
        <p:nvSpPr>
          <p:cNvPr id="9" name="Shape 7"/>
          <p:cNvSpPr/>
          <p:nvPr/>
        </p:nvSpPr>
        <p:spPr>
          <a:xfrm>
            <a:off x="6446520" y="1371600"/>
            <a:ext cx="4709160" cy="3383280"/>
          </a:xfrm>
          <a:prstGeom prst="roundRect">
            <a:avLst>
              <a:gd name="adj" fmla="val 1622"/>
            </a:avLst>
          </a:prstGeom>
          <a:solidFill>
            <a:srgbClr val="F4F6F8"/>
          </a:solidFill>
          <a:ln w="12700">
            <a:solidFill>
              <a:srgbClr val="D9DEE3"/>
            </a:solidFill>
            <a:prstDash val="solid"/>
          </a:ln>
        </p:spPr>
      </p:sp>
      <p:sp>
        <p:nvSpPr>
          <p:cNvPr id="10" name="Text 8"/>
          <p:cNvSpPr/>
          <p:nvPr/>
        </p:nvSpPr>
        <p:spPr>
          <a:xfrm>
            <a:off x="6556248" y="1499616"/>
            <a:ext cx="4489704" cy="3127248"/>
          </a:xfrm>
          <a:prstGeom prst="rect">
            <a:avLst/>
          </a:prstGeom>
          <a:noFill/>
          <a:ln/>
        </p:spPr>
        <p:txBody>
          <a:bodyPr wrap="square" lIns="0" tIns="0" rIns="0" bIns="0" rtlCol="0" anchor="ctr">
            <a:normAutofit/>
          </a:bodyPr>
          <a:lstStyle/>
          <a:p>
            <a:pPr algn="ctr" indent="0" marL="0">
              <a:buNone/>
            </a:pPr>
            <a:r>
              <a:rPr lang="en-US" sz="1300" b="1" dirty="0">
                <a:solidFill>
                  <a:srgbClr val="333333"/>
                </a:solidFill>
              </a:rPr>
              <a:t>Session 3</a:t>
            </a:r>
            <a:endParaRPr lang="en-US" sz="1300" dirty="0"/>
          </a:p>
          <a:p>
            <a:pPr algn="ctr" indent="0" marL="0">
              <a:buNone/>
            </a:pPr>
            <a:endParaRPr lang="en-US" sz="1300" dirty="0"/>
          </a:p>
          <a:p>
            <a:pPr algn="ctr" indent="0" marL="0">
              <a:buNone/>
            </a:pPr>
            <a:r>
              <a:rPr lang="en-US" sz="1300" b="1" dirty="0">
                <a:solidFill>
                  <a:srgbClr val="333333"/>
                </a:solidFill>
              </a:rPr>
              <a:t>Smaller functional component</a:t>
            </a:r>
            <a:endParaRPr lang="en-US" sz="1300" dirty="0"/>
          </a:p>
          <a:p>
            <a:pPr algn="ctr" indent="0" marL="0">
              <a:buNone/>
            </a:pPr>
            <a:endParaRPr lang="en-US" sz="1300" dirty="0"/>
          </a:p>
          <a:p>
            <a:pPr algn="ctr" indent="0" marL="0">
              <a:buNone/>
            </a:pPr>
            <a:r>
              <a:rPr lang="en-US" sz="1300" b="1" dirty="0">
                <a:solidFill>
                  <a:srgbClr val="333333"/>
                </a:solidFill>
              </a:rPr>
              <a:t>• Purpose</a:t>
            </a:r>
            <a:endParaRPr lang="en-US" sz="1300" dirty="0"/>
          </a:p>
          <a:p>
            <a:pPr algn="ctr" indent="0" marL="0">
              <a:buNone/>
            </a:pPr>
            <a:r>
              <a:rPr lang="en-US" sz="1300" b="1" dirty="0">
                <a:solidFill>
                  <a:srgbClr val="333333"/>
                </a:solidFill>
              </a:rPr>
              <a:t>• Interfaces</a:t>
            </a:r>
            <a:endParaRPr lang="en-US" sz="1300" dirty="0"/>
          </a:p>
          <a:p>
            <a:pPr algn="ctr" indent="0" marL="0">
              <a:buNone/>
            </a:pPr>
            <a:r>
              <a:rPr lang="en-US" sz="1300" b="1" dirty="0">
                <a:solidFill>
                  <a:srgbClr val="333333"/>
                </a:solidFill>
              </a:rPr>
              <a:t>• Operational behaviour</a:t>
            </a:r>
            <a:endParaRPr lang="en-US" sz="1300" dirty="0"/>
          </a:p>
          <a:p>
            <a:pPr algn="ctr" indent="0" marL="0">
              <a:buNone/>
            </a:pPr>
            <a:r>
              <a:rPr lang="en-US" sz="1300" b="1" dirty="0">
                <a:solidFill>
                  <a:srgbClr val="333333"/>
                </a:solidFill>
              </a:rPr>
              <a:t>• Support notes</a:t>
            </a:r>
            <a:endParaRPr lang="en-US" sz="1300" dirty="0"/>
          </a:p>
          <a:p>
            <a:pPr algn="ctr" indent="0" marL="0">
              <a:buNone/>
            </a:pPr>
            <a:r>
              <a:rPr lang="en-US" sz="1300" b="1" dirty="0">
                <a:solidFill>
                  <a:srgbClr val="333333"/>
                </a:solidFill>
              </a:rPr>
              <a:t>• Q&amp;A</a:t>
            </a:r>
            <a:endParaRPr lang="en-US" sz="1300" dirty="0"/>
          </a:p>
        </p:txBody>
      </p:sp>
      <p:sp>
        <p:nvSpPr>
          <p:cNvPr id="11" name="Text 9"/>
          <p:cNvSpPr/>
          <p:nvPr/>
        </p:nvSpPr>
        <p:spPr>
          <a:xfrm>
            <a:off x="1188720" y="5257800"/>
            <a:ext cx="9784080" cy="320040"/>
          </a:xfrm>
          <a:prstGeom prst="rect">
            <a:avLst/>
          </a:prstGeom>
          <a:noFill/>
          <a:ln/>
        </p:spPr>
        <p:txBody>
          <a:bodyPr wrap="square" lIns="0" tIns="0" rIns="0" bIns="0" rtlCol="0" anchor="ctr"/>
          <a:lstStyle/>
          <a:p>
            <a:pPr algn="ctr" indent="0" marL="0">
              <a:buNone/>
            </a:pPr>
            <a:r>
              <a:rPr lang="en-US" sz="1700" b="1" dirty="0">
                <a:solidFill>
                  <a:srgbClr val="003366"/>
                </a:solidFill>
              </a:rPr>
              <a:t>Today gives the architectural map. The next sessions go deeper into implementation.</a:t>
            </a:r>
            <a:endParaRPr lang="en-US" sz="1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0972800" cy="384048"/>
          </a:xfrm>
          <a:prstGeom prst="rect">
            <a:avLst/>
          </a:prstGeom>
          <a:noFill/>
          <a:ln/>
        </p:spPr>
        <p:txBody>
          <a:bodyPr wrap="square" lIns="0" tIns="0" rIns="0" bIns="0" rtlCol="0" anchor="ctr"/>
          <a:lstStyle/>
          <a:p>
            <a:pPr indent="0" marL="0">
              <a:buNone/>
            </a:pPr>
            <a:r>
              <a:rPr lang="en-US" sz="2600" b="1" dirty="0">
                <a:solidFill>
                  <a:srgbClr val="003366"/>
                </a:solidFill>
                <a:latin typeface="Arial" pitchFamily="34" charset="0"/>
                <a:ea typeface="Arial" pitchFamily="34" charset="-122"/>
                <a:cs typeface="Arial" pitchFamily="34" charset="-120"/>
              </a:rPr>
              <a:t>Questions</a:t>
            </a:r>
            <a:endParaRPr lang="en-US" sz="2600" dirty="0"/>
          </a:p>
        </p:txBody>
      </p:sp>
      <p:sp>
        <p:nvSpPr>
          <p:cNvPr id="3" name="Text 1"/>
          <p:cNvSpPr/>
          <p:nvPr/>
        </p:nvSpPr>
        <p:spPr>
          <a:xfrm>
            <a:off x="521208" y="749808"/>
            <a:ext cx="10515600" cy="228600"/>
          </a:xfrm>
          <a:prstGeom prst="rect">
            <a:avLst/>
          </a:prstGeom>
          <a:noFill/>
          <a:ln/>
        </p:spPr>
        <p:txBody>
          <a:bodyPr wrap="square" lIns="0" tIns="0" rIns="0" bIns="0" rtlCol="0" anchor="ctr"/>
          <a:lstStyle/>
          <a:p>
            <a:pPr indent="0" marL="0">
              <a:buNone/>
            </a:pPr>
            <a:r>
              <a:rPr lang="en-US" sz="1050" dirty="0">
                <a:solidFill>
                  <a:srgbClr val="666666"/>
                </a:solidFill>
              </a:rPr>
              <a:t>Architecture overview completed</a:t>
            </a:r>
            <a:endParaRPr lang="en-US" sz="1050" dirty="0"/>
          </a:p>
        </p:txBody>
      </p:sp>
      <p:sp>
        <p:nvSpPr>
          <p:cNvPr id="4" name="Shape 2"/>
          <p:cNvSpPr/>
          <p:nvPr/>
        </p:nvSpPr>
        <p:spPr>
          <a:xfrm>
            <a:off x="457200" y="6355080"/>
            <a:ext cx="11274552" cy="0"/>
          </a:xfrm>
          <a:prstGeom prst="line">
            <a:avLst/>
          </a:prstGeom>
          <a:noFill/>
          <a:ln w="8890">
            <a:solidFill>
              <a:srgbClr val="D9DEE3"/>
            </a:solidFill>
            <a:prstDash val="solid"/>
          </a:ln>
        </p:spPr>
      </p:sp>
      <p:sp>
        <p:nvSpPr>
          <p:cNvPr id="5" name="Text 3"/>
          <p:cNvSpPr/>
          <p:nvPr/>
        </p:nvSpPr>
        <p:spPr>
          <a:xfrm>
            <a:off x="457200" y="6419088"/>
            <a:ext cx="7315200" cy="228600"/>
          </a:xfrm>
          <a:prstGeom prst="rect">
            <a:avLst/>
          </a:prstGeom>
          <a:noFill/>
          <a:ln/>
        </p:spPr>
        <p:txBody>
          <a:bodyPr wrap="square" rtlCol="0" anchor="ctr"/>
          <a:lstStyle/>
          <a:p>
            <a:pPr indent="0" marL="0">
              <a:buNone/>
            </a:pPr>
            <a:r>
              <a:rPr lang="en-US" sz="850" dirty="0">
                <a:solidFill>
                  <a:srgbClr val="666666"/>
                </a:solidFill>
                <a:latin typeface="Arial" pitchFamily="34" charset="0"/>
                <a:ea typeface="Arial" pitchFamily="34" charset="-122"/>
                <a:cs typeface="Arial" pitchFamily="34" charset="-120"/>
              </a:rPr>
              <a:t>ILMS Knowledge Transfer | Architecture Overview</a:t>
            </a:r>
            <a:endParaRPr lang="en-US" sz="850" dirty="0"/>
          </a:p>
        </p:txBody>
      </p:sp>
      <p:sp>
        <p:nvSpPr>
          <p:cNvPr id="6" name="Text 4"/>
          <p:cNvSpPr/>
          <p:nvPr/>
        </p:nvSpPr>
        <p:spPr>
          <a:xfrm>
            <a:off x="11292840" y="6419088"/>
            <a:ext cx="457200" cy="228600"/>
          </a:xfrm>
          <a:prstGeom prst="rect">
            <a:avLst/>
          </a:prstGeom>
          <a:noFill/>
          <a:ln/>
        </p:spPr>
        <p:txBody>
          <a:bodyPr wrap="square" rtlCol="0" anchor="ctr"/>
          <a:lstStyle/>
          <a:p>
            <a:pPr algn="r" indent="0" marL="0">
              <a:buNone/>
            </a:pPr>
            <a:r>
              <a:rPr lang="en-US" sz="850" dirty="0">
                <a:solidFill>
                  <a:srgbClr val="666666"/>
                </a:solidFill>
              </a:rPr>
              <a:t>25</a:t>
            </a:r>
            <a:endParaRPr lang="en-US" sz="850" dirty="0"/>
          </a:p>
        </p:txBody>
      </p:sp>
      <p:sp>
        <p:nvSpPr>
          <p:cNvPr id="7" name="Text 5"/>
          <p:cNvSpPr/>
          <p:nvPr/>
        </p:nvSpPr>
        <p:spPr>
          <a:xfrm>
            <a:off x="1005840" y="1325880"/>
            <a:ext cx="10058400" cy="320040"/>
          </a:xfrm>
          <a:prstGeom prst="rect">
            <a:avLst/>
          </a:prstGeom>
          <a:noFill/>
          <a:ln/>
        </p:spPr>
        <p:txBody>
          <a:bodyPr wrap="square" lIns="0" tIns="0" rIns="0" bIns="0" rtlCol="0" anchor="ctr"/>
          <a:lstStyle/>
          <a:p>
            <a:pPr indent="0" marL="0">
              <a:buNone/>
            </a:pPr>
            <a:r>
              <a:rPr lang="en-US" sz="2100" b="1" dirty="0">
                <a:solidFill>
                  <a:srgbClr val="003366"/>
                </a:solidFill>
              </a:rPr>
              <a:t>After today, the aim is that you understand:</a:t>
            </a:r>
            <a:endParaRPr lang="en-US" sz="2100" dirty="0"/>
          </a:p>
        </p:txBody>
      </p:sp>
      <p:sp>
        <p:nvSpPr>
          <p:cNvPr id="8" name="Text 6"/>
          <p:cNvSpPr/>
          <p:nvPr/>
        </p:nvSpPr>
        <p:spPr>
          <a:xfrm>
            <a:off x="1280160" y="1965960"/>
            <a:ext cx="9875520" cy="2011680"/>
          </a:xfrm>
          <a:prstGeom prst="rect">
            <a:avLst/>
          </a:prstGeom>
          <a:noFill/>
          <a:ln/>
        </p:spPr>
        <p:txBody>
          <a:bodyPr wrap="square" lIns="1016" tIns="1016" rIns="1016" bIns="1016" rtlCol="0" anchor="t">
            <a:normAutofit/>
          </a:bodyPr>
          <a:lstStyle/>
          <a:p>
            <a:r>
              <a:rPr lang="en-US" sz="1800" dirty="0">
                <a:solidFill>
                  <a:srgbClr val="333333"/>
                </a:solidFill>
              </a:rPr>
              <a:t>Why ILMS exists.</a:t>
            </a:r>
            <a:endParaRPr lang="en-US" sz="1800" dirty="0"/>
          </a:p>
          <a:p>
            <a:r>
              <a:rPr lang="en-US" sz="1800" dirty="0">
                <a:solidFill>
                  <a:srgbClr val="333333"/>
                </a:solidFill>
              </a:rPr>
              <a:t>How the solution evolved from batch processing to real-time APIs.</a:t>
            </a:r>
            <a:endParaRPr lang="en-US" sz="1800" dirty="0"/>
          </a:p>
          <a:p>
            <a:r>
              <a:rPr lang="en-US" sz="1800" dirty="0">
                <a:solidFill>
                  <a:srgbClr val="333333"/>
                </a:solidFill>
              </a:rPr>
              <a:t>Where ILMS sits in the CDS architecture.</a:t>
            </a:r>
            <a:endParaRPr lang="en-US" sz="1800" dirty="0"/>
          </a:p>
          <a:p>
            <a:r>
              <a:rPr lang="en-US" sz="1800" dirty="0">
                <a:solidFill>
                  <a:srgbClr val="333333"/>
                </a:solidFill>
              </a:rPr>
              <a:t>The three core business flows: update, usage and reservation.</a:t>
            </a:r>
            <a:endParaRPr lang="en-US" sz="1800" dirty="0"/>
          </a:p>
          <a:p>
            <a:r>
              <a:rPr lang="en-US" sz="1800" dirty="0">
                <a:solidFill>
                  <a:srgbClr val="333333"/>
                </a:solidFill>
              </a:rPr>
              <a:t>Where to start when reading the code.</a:t>
            </a:r>
            <a:endParaRPr lang="en-US" sz="1800" dirty="0"/>
          </a:p>
        </p:txBody>
      </p:sp>
      <p:sp>
        <p:nvSpPr>
          <p:cNvPr id="9" name="Text 7"/>
          <p:cNvSpPr/>
          <p:nvPr/>
        </p:nvSpPr>
        <p:spPr>
          <a:xfrm>
            <a:off x="1097280" y="5074920"/>
            <a:ext cx="9966960" cy="365760"/>
          </a:xfrm>
          <a:prstGeom prst="rect">
            <a:avLst/>
          </a:prstGeom>
          <a:noFill/>
          <a:ln/>
        </p:spPr>
        <p:txBody>
          <a:bodyPr wrap="square" lIns="0" tIns="0" rIns="0" bIns="0" rtlCol="0" anchor="ctr"/>
          <a:lstStyle/>
          <a:p>
            <a:pPr algn="ctr" indent="0" marL="0">
              <a:buNone/>
            </a:pPr>
            <a:r>
              <a:rPr lang="en-US" sz="2200" b="1" dirty="0">
                <a:solidFill>
                  <a:srgbClr val="1F5E99"/>
                </a:solidFill>
              </a:rPr>
              <a:t>Any questions before we move to the code orientation?</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HMRC / CDS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ILMS Knowledge Transfer Pack</dc:title>
  <dc:subject>ILMS Knowledge Transfer</dc:subject>
  <dc:creator>Bobby Kapur</dc:creator>
  <cp:lastModifiedBy>Bobby Kapur</cp:lastModifiedBy>
  <cp:revision>1</cp:revision>
  <dcterms:created xsi:type="dcterms:W3CDTF">2026-07-05T20:20:20Z</dcterms:created>
  <dcterms:modified xsi:type="dcterms:W3CDTF">2026-07-05T20:20:20Z</dcterms:modified>
</cp:coreProperties>
</file>